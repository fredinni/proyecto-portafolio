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RESPONSABILIDADES: Bruno Urrea Ortiz; Freddy Vásquez Cortés; Cristóbal Quezada; Kevin Retamales. Los responsables compartidos se conservan según la Gantt; el porcentaje no se atribuye a una persona sin respaldo.</a:t>
            </a:r>
          </a:p>
          <a:p>
            <a:r>
              <a:t>DETALLE DE TAREAS: [{"id": "A1.1", "task": "pfSense WAN/LAN", "owner": "Freddy", "planned": "17–30 ago", "start": "2026-08-17", "end": "2026-08-30", "percent": 100, "state": "Completada", "evidence": "WAN/LAN activas; reboot OK"}, {"id": "A1.2", "task": "Kernel / offloading", "owner": "Bruno", "planned": "17–30 ago", "start": "2026-08-17", "end": "2026-08-30", "percent": 100, "state": "Completada", "evidence": "9 PASS; auditoría PARTIAL", "detail": "Base funcional adaptada a CE2.9/FreeBSD16. El verificador conserva PARTIAL: 9 PASS, 0 FAIL, 3 UNSUPPORTED; no se declara PASS de esos OID retirados. Inspección Netmap funcional probada en A3."}, {"id": "A2", "task": "4 VLAN + DHCP + aislamiento", "owner": "Freddy", "planned": "31 ago–13 sep", "start": "2026-08-31", "end": "2026-09-13", "percent": 100, "state": "Completada", "evidence": "16 pruebas PASS tras reboot", "detail": "Configuración cerrada y verificada el01/10; posterior a fecha Gantt. Bloqueos muestreados TCP22 con controles positivos; no prueba de todos los protocolos."}, {"id": "A3.1", "task": "Suricata WAN Inline IPS", "owner": "Bruno", "planned": "14–27 sep", "start": "2026-09-14", "end": "2026-09-27", "percent": 100, "state": "Completada", "evidence": "3/3 DROP + EVE correlacionado", "detail": "Alcance WAN Ethernet/vtnet0. La inspección del HTTP interno tras terminar TLS corresponde al diseño posterior A5; no se afirma inspección del payload HTTPS cifrado."}, {"id": "A3.2", "task": "Firmas ET + dropsid.conf", "owner": "Kevin", "planned": "14–27 sep", "start": "2026-09-14", "end": "2026-09-27", "percent": 100, "state": "Completada", "evidence": "22.142 reglas; 0 inválidas", "detail": "ET Open malware/exploit/web_server y reglas internas. Motor oficial8.0.5/paquete7.0.9; conversión automática selectiva SID2008327, no todas las firmas en DROP. Advertencia de flowbit et.http.PK registrada: dos firmas dependientes no acreditadas."}, {"id": "A3.3", "task": "IPS interno / HTTP DMZ", "owner": "Bruno", "planned": "14–27 sep", "start": "2026-09-14", "end": "2026-09-27", "percent": 0, "state": "Atrasada", "evidence": "Inspección interna pendiente", "detail": "La Gantt incluye WAN/LAN. Solo se validó Inline WAN; el sensor interno no está desplegado. Vinculado al tramo HTTP después de terminar TLS en A5. No se declara A3 integral completada."}, {"id": "A4", "task": "Reputación + GeoIP WAN", "owner": "Kevin", "planned": "28 sep–11 oct", "start": "2026-09-28", "end": "2026-10-11", "percent": 100, "state": "Completada", "evidence": "Spamhaus; RU/KP: 3+3 DROP", "detail": "MaxMind autenticado descargado/procesado. Bloqueo RU y KP autorizado por usuario, exclusivo WAN. FireHOL alias no aplicable al bloqueo WAN sin excluir bogons. Prueba local aislada, no tráfico real desde esos países ni ataque a hosts externos."}, {"id": "A5", "task": "HTTPS HAProxy → DVWA", "owner": "Cristóbal", "planned": "12–25 oct", "start": "2026-10-12", "end": "2026-10-25", "percent": 0, "state": "A tiempo", "evidence": "DVWA base; frontend pendiente", "detail": "DVWA existente en DMZ responde HTTP200/login; ese provisioning no equivale a HAProxy/TLS/rate-limits configurados. HTTP público terminó en timeout esperado; A5 no validada."}, {"id": "A6", "task": "Motor KRONOS / pfctl", "owner": "Bruno", "planned": "26 oct–08 nov", "start": "2026-10-26", "end": "2026-11-08", "percent": 0, "state": "A tiempo", "evidence": "Integración aún no probada"}, {"id": "A7", "task": "Asterisk PJSIP + AMI", "owner": "Freddy", "planned": "09–22 nov", "start": "2026-11-09", "end": "2026-11-22", "percent": 0, "state": "A tiempo", "evidence": "Host preparado; AMI pendiente", "detail": "Contenedor base en VM103 running; ninguna llamada AMI/PJSIP end-to-end probada."}, {"id": "A8", "task": "Gemini Live / voz", "owner": "Bruno", "planned": "16–29 nov", "start": "2026-11-16", "end": "2026-11-29", "percent": 0, "state": "A tiempo", "evidence": "Diálogo end-to-end pendiente"}, {"id": "A9", "task": "VPN equipo / softphones", "owner": "Freddy", "planned": "23–29 nov", "start": "2026-11-23", "end": "2026-11-29", "percent": 60, "state": "A tiempo", "evidence": "SSH OK; llamada remota falta", "detail": "Estimación por hitos: configuración tailnet separada50%, conectividad administrativa10%; ACL de Admin y softphone/VoIP40% pendientes. Tailscale termina en MGMT, no en pfSense, sin acceso del equipo a Proxmox."}, {"id": "A10", "task": "QA integral / defensa", "owner": "Kevin", "planned": "30 nov–20 dic", "start": "2026-11-30", "end": "2026-12-20", "percent": 0, "state": "A tiempo", "evidence": "SQLi / rendimiento pendientes", "detail": "Kevin coordina QA; participación de todo el equipo según Gantt. Pruebas funcionales de red ejecutadas no sustituyen QA integral SOAR, SQLi y rendimiento."}]</a:t>
            </a:r>
          </a:p>
          <a:p>
            <a:r>
              <a:t>DESVIACIONES COMPLETAS: [{"id": "A1", "cause": "kernel actualizado retiró 3 OID", "action": "tuning compatible y auditoría explícita, sin PASS ficticio"}, {"id": "A2", "cause": "DHCP no estaba activo en el despliegue", "action": "4 pools configurados y 16 pruebas cerradas el01/10"}, {"id": "A3", "cause": "IPS desplegado tarde; sensor interno falta", "action": "WAN probado el01/10; HTTP interno coordinado con A5"}]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ENTREGABLES Y AJUSTES: {"deliverables": [{"name": "Firewall y 4 redes aisladas", "tasks": "A1 + A2", "criterion": "4 ACK DHCP; 3 bloqueos SSH; offloading desactivado", "date": "13 sep"}, {"name": "IPS WAN con firmas actuales", "tasks": "A3", "criterion": "3/3 marcadores descartados; 0 reglas inválidas", "date": "27 sep"}, {"name": "Reputación IP y GeoIP", "tasks": "A4", "criterion": "Feeds no vacíos; RU/KP: 3/3 descartes por país", "date": "11 oct"}, {"name": "HTTPS y respuesta SOAR", "tasks": "A5 + A6", "criterion": "HTTPS200; bloqueo &lt;100ms; ruido reducido &gt;50%", "date": "08 nov"}, {"name": "Llamada y diálogo con IA", "tasks": "A7 + A8", "criterion": "1 llamada AMI y diálogo; respuesta total &lt;1,5s", "date": "29 nov"}, {"name": "Acceso y QA integral", "tasks": "A9 + A10", "criterion": "SSH solo al lab; llamada remota y 3 casos SQLi", "date": "20 dic"}], "adjustments": ["AWS transporta; pfSense y Suricata quedan en Proxmox, para inspeccionar una WAN Ethernet normal.", "Tailnet separada vía MGMT: el equipo administra las VMs del laboratorio sin entrar a Proxmox.", "CE2.9: tuning adaptado al kernel actual; FireHOL sin bloqueo WAN para proteger el tránsito privado."]}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PRUEBAS Y ALCANCE: {"tests": [{"name": "A2 · Freddy · Redes aisladas", "expected": "4 DHCP ACK; 3 bloqueos", "obtained": "16 PASS; SSH MGMT OK", "image": "docs/Fase_2_Desarrollo_Proyecto_APT/EA2_Evidencias_2026-10-01/pruebas/ppt-a2.png"}, {"name": "A3 · Bruno / Kevin · IPS", "expected": "DROP y normal permitido", "obtained": "3/3 DROP + EVE; normal 3/3", "image": "docs/Fase_2_Desarrollo_Proyecto_APT/EA2_Evidencias_2026-10-01/pruebas/ppt-a3.png"}, {"name": "A4 · Kevin · GeoIP WAN", "expected": "bloquear fuentes RU/KP", "obtained": "RU/KP: 3 DROP por país", "image": "docs/Fase_2_Desarrollo_Proyecto_APT/EA2_Evidencias_2026-10-01/pruebas/ppt-a4.png"}], "pending": "HTTPS/HAProxy, SOAR, llamadas/IA y rendimiento final. Las pruebas actuales son funcionales, sin carga.", "sources": ["docs/Fase_2_Desarrollo_Proyecto_APT/Informacion_EA2/Plan_Trabajo_Carta_Gantt.md", "docs/Fase_2_Desarrollo_Proyecto_APT/AVANCE_SEMANA7_2026-10-01.md", "docs/Fase_2_Desarrollo_Proyecto_APT/EA2_Evidencias_2026-10-01/configuraciones/capturas-observaciones.json", "Los nombres indican responsabilidad académica, no que cada persona ejecutó presencialmente los comandos. Automatización y verificación realizadas en esta sesión el01/10/2026; sin retrofechar pruebas.", "Porcentajes100 corresponden al alcance base aceptado/documentado; A1 mantiene audit PARTIAL por OID retirados y A3 mantiene advertencia flowbit. Criterios SOAR/IA/rendimiento en slide2 son futuros, no resultados obtenidos."]}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0500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01 / EJECUCIÓN Y RESPONSABLES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2440"/>
            <a:ext cx="113538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80" b="1">
                <a:solidFill>
                  <a:srgbClr val="EDF4FA"/>
                </a:solidFill>
                <a:latin typeface="Segoe UI"/>
              </a:defRPr>
            </a:pPr>
            <a:r>
              <a:t>Avance verificable y plan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06780"/>
            <a:ext cx="11353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Semana 7 · Responsables de la Gantt oficial · Porcentajes sustentados en evidencia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07480"/>
            <a:ext cx="1136904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17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80" b="0">
                <a:solidFill>
                  <a:srgbClr val="ACBDCF"/>
                </a:solidFill>
                <a:latin typeface="Segoe UI"/>
              </a:defRPr>
            </a:pPr>
            <a:r>
              <a:t>KRONOS SENTINEL  ·  Evaluación 2 / APT122  ·  Corte: 01 octubre 2026  ·  Presentación: 06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320" y="6598920"/>
            <a:ext cx="5334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1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49680"/>
            <a:ext cx="313944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" y="1318260"/>
            <a:ext cx="300228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Tarea técnica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249680"/>
            <a:ext cx="156972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360" y="1318260"/>
            <a:ext cx="143256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Responsable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1120" y="1249680"/>
            <a:ext cx="137160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7320" y="1318260"/>
            <a:ext cx="12344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Plan Gantt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249680"/>
            <a:ext cx="7467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4160" y="1318260"/>
            <a:ext cx="6096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Avance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9960" y="1249680"/>
            <a:ext cx="126492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6160" y="1318260"/>
            <a:ext cx="112776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Estado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80120" y="1249680"/>
            <a:ext cx="31851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6320" y="1318260"/>
            <a:ext cx="3048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Evidencia asociada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58496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80" y="159258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A1.1 · pfSense WAN/LAN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58496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2360" y="159258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1120" y="158496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7320" y="159258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17–30 ago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158496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4160" y="159258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9960" y="158496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6160" y="159258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0120" y="158496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6320" y="159258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WAN/LAN activas; reboot 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182118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80" y="182880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A1.2 · Kernel / offloading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182118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42360" y="182880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51120" y="182118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27320" y="182880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17–30 ago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182118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4160" y="182880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9960" y="182118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6160" y="182880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80120" y="182118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6320" y="182880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9 PASS; auditoría 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05740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680" y="206502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A2 · 4 VLAN + DHCP + aislamiento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205740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42360" y="206502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51120" y="205740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7320" y="206502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31 ago–13 sep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205740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4160" y="206502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9960" y="205740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6160" y="206502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80120" y="205740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6320" y="206502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16 pruebas PASS tras reboot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29362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80" y="230124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A3.1 · Suricata WAN Inline IPS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229362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42360" y="230124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51120" y="229362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7320" y="230124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14–27 sep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229362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14160" y="230124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99960" y="229362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76160" y="230124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80120" y="229362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56320" y="230124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3/3 DROP + EVE correlacionado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252984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7680" y="253746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A3.2 · Firmas ET + dropsid.conf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66160" y="252984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42360" y="253746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Kevin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51120" y="252984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27320" y="253746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14–27 sep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52984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14160" y="253746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99960" y="252984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76160" y="253746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80120" y="252984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56320" y="253746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22.142 reglas; 0 inválidas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" y="276606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7680" y="277368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A3.3 · IPS interno / HTTP DMZ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276606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42360" y="277368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51120" y="276606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27320" y="277368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14–27 sep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276606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14160" y="277368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99960" y="276606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76160" y="277368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FFC66D"/>
                </a:solidFill>
                <a:latin typeface="Segoe UI"/>
              </a:defRPr>
            </a:pPr>
            <a:r>
              <a:t>Atrasada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80120" y="276606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56320" y="277368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Inspección interna pendiente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300228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7680" y="300990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A4 · Reputación + GeoIP WAN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300228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42360" y="300990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Kevin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51120" y="300228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27320" y="300990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28 sep–11 oct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37960" y="300228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14160" y="300990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99960" y="300228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76160" y="300990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Completada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80120" y="300228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56320" y="300990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Spamhaus; RU/KP: 3+3 DROP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1480" y="323850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7680" y="324612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A5 · HTTPS HAProxy → DVWA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66160" y="323850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42360" y="324612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Cristóbal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51120" y="323850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27320" y="324612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12–25 oct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37960" y="323850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14160" y="324612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99960" y="323850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76160" y="324612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80120" y="323850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56320" y="324612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DVWA base; frontend pendiente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1480" y="347472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7680" y="348234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A6 · Motor KRONOS / pfctl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347472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42360" y="348234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51120" y="347472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27320" y="348234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26 oct–08 nov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37960" y="347472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14160" y="348234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299960" y="347472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376160" y="348234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580120" y="347472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56320" y="348234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Integración aún no probada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1480" y="371094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87680" y="371856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A7 · Asterisk PJSIP + AMI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566160" y="371094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42360" y="371856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51120" y="371094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27320" y="371856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09–22 nov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37960" y="371094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14160" y="371856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299960" y="371094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376160" y="371856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580120" y="371094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656320" y="371856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Host preparado; AMI pendiente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1480" y="394716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87680" y="395478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A8 · Gemini Live / voz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566160" y="394716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42360" y="395478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51120" y="394716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227320" y="395478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16–29 nov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37960" y="394716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614160" y="395478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299960" y="394716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376160" y="395478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80120" y="394716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656320" y="395478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Diálogo end-to-end pendiente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11480" y="4183380"/>
            <a:ext cx="313944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87680" y="4190999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A9 · VPN equipo / softphones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566160" y="4183380"/>
            <a:ext cx="15697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42360" y="4190999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151120" y="4183380"/>
            <a:ext cx="137160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227320" y="4190999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23–29 nov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37960" y="4183380"/>
            <a:ext cx="7467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614160" y="4190999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60%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299960" y="4183380"/>
            <a:ext cx="126492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376160" y="4190999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80120" y="4183380"/>
            <a:ext cx="3185160" cy="22098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656320" y="4190999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SSH OK; llamada remota falta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1480" y="4419600"/>
            <a:ext cx="313944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87680" y="4427220"/>
            <a:ext cx="300228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A10 · QA integral / defensa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566160" y="4419600"/>
            <a:ext cx="15697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42360" y="4427220"/>
            <a:ext cx="14325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Kevin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151120" y="4419600"/>
            <a:ext cx="137160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227320" y="4427220"/>
            <a:ext cx="123444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30 nov–20 dic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537960" y="4419600"/>
            <a:ext cx="7467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614160" y="4427220"/>
            <a:ext cx="6096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299960" y="4419600"/>
            <a:ext cx="126492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376160" y="4427220"/>
            <a:ext cx="112776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 tiempo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580120" y="4419600"/>
            <a:ext cx="3185160" cy="2209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656320" y="4427220"/>
            <a:ext cx="3048000" cy="220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SQLi / rendimiento pendientes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11480" y="4762500"/>
            <a:ext cx="15240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GANTT REDUCIDA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133600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AGO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67455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SEP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535167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OCT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878470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NOV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146182" y="4762500"/>
            <a:ext cx="7239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ACBDCF"/>
                </a:solidFill>
                <a:latin typeface="Segoe UI"/>
              </a:defRPr>
            </a:pPr>
            <a:r>
              <a:t>DIC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133600" y="503682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186940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91865" y="531114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45205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250131" y="503682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303471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A3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308396" y="5311140"/>
            <a:ext cx="1035405" cy="228600"/>
          </a:xfrm>
          <a:prstGeom prst="rect">
            <a:avLst/>
          </a:prstGeom>
          <a:solidFill>
            <a:srgbClr val="235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361736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366662" y="503682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420002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A5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24928" y="531114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478268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483193" y="503682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536533" y="505968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A7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012326" y="5311140"/>
            <a:ext cx="1035405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65666" y="5334000"/>
            <a:ext cx="966825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A8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541459" y="5036820"/>
            <a:ext cx="506272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594799" y="5059680"/>
            <a:ext cx="437692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A9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70591" y="5311140"/>
            <a:ext cx="1564538" cy="228600"/>
          </a:xfrm>
          <a:prstGeom prst="rect">
            <a:avLst/>
          </a:prstGeom>
          <a:solidFill>
            <a:srgbClr val="26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123931" y="5334000"/>
            <a:ext cx="1495958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EDF4FA"/>
                </a:solidFill>
                <a:latin typeface="Segoe UI"/>
              </a:defRPr>
            </a:pPr>
            <a:r>
              <a:t>A10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535167" y="4747260"/>
            <a:ext cx="22860" cy="88392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588508" y="55702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40" b="1">
                <a:solidFill>
                  <a:srgbClr val="FFC66D"/>
                </a:solidFill>
                <a:latin typeface="Segoe UI"/>
              </a:defRPr>
            </a:pPr>
            <a:r>
              <a:t>HOY · 01 OCT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11480" y="5890260"/>
            <a:ext cx="11353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FC66D"/>
                </a:solidFill>
                <a:latin typeface="Segoe UI"/>
              </a:defRPr>
            </a:pPr>
            <a:r>
              <a:t>A1: kernel actualizado retiró 3 OID → tuning compatible y auditoría explícita, sin PASS ficticio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11480" y="6073140"/>
            <a:ext cx="11353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FC66D"/>
                </a:solidFill>
                <a:latin typeface="Segoe UI"/>
              </a:defRPr>
            </a:pPr>
            <a:r>
              <a:t>A2: DHCP no estaba activo en el despliegue → 4 pools configurados y 16 pruebas cerradas el01/10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1480" y="6256020"/>
            <a:ext cx="11353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FC66D"/>
                </a:solidFill>
                <a:latin typeface="Segoe UI"/>
              </a:defRPr>
            </a:pPr>
            <a:r>
              <a:t>A3: IPS desplegado tarde; sensor interno falta → WAN probado el01/10; HTTP interno coordinado con A5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0500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02 / ENTREGABLES Y CRITERIOS DE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2440"/>
            <a:ext cx="113538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80" b="1">
                <a:solidFill>
                  <a:srgbClr val="EDF4FA"/>
                </a:solidFill>
                <a:latin typeface="Segoe UI"/>
              </a:defRPr>
            </a:pPr>
            <a:r>
              <a:t>Qué entregamos y cómo comprobamos el éxito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06780"/>
            <a:ext cx="11353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Cada entrega tiene tareas vinculadas, una fecha y una condición medible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07480"/>
            <a:ext cx="1136904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17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80" b="0">
                <a:solidFill>
                  <a:srgbClr val="ACBDCF"/>
                </a:solidFill>
                <a:latin typeface="Segoe UI"/>
              </a:defRPr>
            </a:pPr>
            <a:r>
              <a:t>KRONOS SENTINEL  ·  Evaluación 2 / APT122  ·  Corte: 01 octubre 2026  ·  Presentación: 06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320" y="6598920"/>
            <a:ext cx="5334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2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56360"/>
            <a:ext cx="28041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" y="1424940"/>
            <a:ext cx="2667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Entregable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880" y="1356360"/>
            <a:ext cx="128016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1424940"/>
            <a:ext cx="1143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Tareas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356360"/>
            <a:ext cx="574548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424940"/>
            <a:ext cx="56083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Criterio de aceptación medible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0" y="1356360"/>
            <a:ext cx="1478280" cy="335280"/>
          </a:xfrm>
          <a:prstGeom prst="rect">
            <a:avLst/>
          </a:prstGeom>
          <a:solidFill>
            <a:srgbClr val="21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3200" y="1424940"/>
            <a:ext cx="134112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35D4C5"/>
                </a:solidFill>
                <a:latin typeface="Segoe UI"/>
              </a:defRPr>
            </a:pPr>
            <a:r>
              <a:t>Compromiso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691640"/>
            <a:ext cx="2804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80" y="17449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Firewall y 4 redes aisladas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0880" y="1691640"/>
            <a:ext cx="1280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07080" y="17449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A1 + 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691640"/>
            <a:ext cx="57454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2480" y="17449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4 ACK DHCP; 3 bloqueos SSH; offloading desactivado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1691640"/>
            <a:ext cx="14782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3200" y="17449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13 sep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186940"/>
            <a:ext cx="2804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80" y="22402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IPS WAN con firmas actuales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0880" y="2186940"/>
            <a:ext cx="1280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7080" y="22402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186940"/>
            <a:ext cx="57454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2480" y="22402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3/3 marcadores descartados; 0 reglas inválidas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87000" y="2186940"/>
            <a:ext cx="14782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3200" y="22402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27 sep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82240"/>
            <a:ext cx="2804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80" y="27355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Reputación IP y GeoIP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30880" y="2682240"/>
            <a:ext cx="1280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07080" y="27355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2682240"/>
            <a:ext cx="57454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2480" y="27355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Feeds no vacíos; RU/KP: 3/3 descartes por país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2682240"/>
            <a:ext cx="14782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3200" y="27355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11 oct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177540"/>
            <a:ext cx="2804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7680" y="32308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HTTPS y respuesta SOAR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880" y="3177540"/>
            <a:ext cx="1280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07080" y="32308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A5 + A6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3177540"/>
            <a:ext cx="57454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2480" y="32308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HTTPS200; bloqueo &lt;100ms; ruido reducido &gt;50%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87000" y="3177540"/>
            <a:ext cx="14782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63200" y="32308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08 nov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672840"/>
            <a:ext cx="2804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37261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Llamada y diálogo con 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30880" y="3672840"/>
            <a:ext cx="128016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07080" y="37261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A7 + A8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3672840"/>
            <a:ext cx="57454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2480" y="37261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1 llamada AMI y diálogo; respuesta total &lt;1,5s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87000" y="3672840"/>
            <a:ext cx="1478280" cy="48006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63200" y="37261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29 nov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168140"/>
            <a:ext cx="2804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80" y="4221480"/>
            <a:ext cx="2667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Acceso y QA integral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30880" y="4168140"/>
            <a:ext cx="128016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07080" y="4221480"/>
            <a:ext cx="11430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A9 + A10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4168140"/>
            <a:ext cx="57454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02480" y="4221480"/>
            <a:ext cx="56083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SSH solo al lab; llamada remota y 3 casos SQLi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87000" y="4168140"/>
            <a:ext cx="1478280" cy="48006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63200" y="4221480"/>
            <a:ext cx="134112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EDF4FA"/>
                </a:solidFill>
                <a:latin typeface="Segoe UI"/>
              </a:defRPr>
            </a:pPr>
            <a:r>
              <a:t>20 dic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4846320"/>
            <a:ext cx="11353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80" b="1">
                <a:solidFill>
                  <a:srgbClr val="35D4C5"/>
                </a:solidFill>
                <a:latin typeface="Segoe UI"/>
              </a:defRPr>
            </a:pPr>
            <a:r>
              <a:t>AJUSTES DESDE FASE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181600"/>
            <a:ext cx="11369040" cy="35814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3400" y="5250180"/>
            <a:ext cx="1112520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AWS transporta; pfSense y Suricata quedan en Proxmox, para inspeccionar una WAN Ethernet normal.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585460"/>
            <a:ext cx="11369040" cy="35814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400" y="5654040"/>
            <a:ext cx="1112520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Tailnet separada vía MGMT: el equipo administra las VMs del laboratorio sin entrar a Proxmox.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989320"/>
            <a:ext cx="11369040" cy="35814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3400" y="6057900"/>
            <a:ext cx="1112520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CE2.9: tuning adaptado al kernel actual; FireHOL sin bloqueo WAN para proteger el tránsito privado.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0500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03 / LABORATORIO Y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2440"/>
            <a:ext cx="11353800" cy="426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80" b="1">
                <a:solidFill>
                  <a:srgbClr val="EDF4FA"/>
                </a:solidFill>
                <a:latin typeface="Segoe UI"/>
              </a:defRPr>
            </a:pPr>
            <a:r>
              <a:t>De la topología a las pruebas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06780"/>
            <a:ext cx="11353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Herramientas: Proxmox VE · AWS EC2 · pfSense CE · WireGuard · Tailscale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07480"/>
            <a:ext cx="1136904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17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80" b="0">
                <a:solidFill>
                  <a:srgbClr val="ACBDCF"/>
                </a:solidFill>
                <a:latin typeface="Segoe UI"/>
              </a:defRPr>
            </a:pPr>
            <a:r>
              <a:t>KRONOS SENTINEL  ·  Evaluación 2 / APT122  ·  Corte: 01 octubre 2026  ·  Presentación: 06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320" y="6598920"/>
            <a:ext cx="533400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60" b="1">
                <a:solidFill>
                  <a:srgbClr val="35D4C5"/>
                </a:solidFill>
                <a:latin typeface="Segoe UI"/>
              </a:defRPr>
            </a:pPr>
            <a:r>
              <a:t>3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133350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" y="1501140"/>
            <a:ext cx="11049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Internet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2640" y="1371600"/>
            <a:ext cx="173736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6940" y="15011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AWS Edge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Transporte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7660" y="1371600"/>
            <a:ext cx="173736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5011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Ubuntu Edge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WireGuard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2680" y="1371600"/>
            <a:ext cx="173736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6980" y="15011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pfSense CE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IPS WAN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7699" y="1371600"/>
            <a:ext cx="3512820" cy="71628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999" y="1501140"/>
            <a:ext cx="32842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VLAN protegidas</a:t>
            </a:r>
          </a:p>
          <a:p>
            <a:pPr>
              <a:spcAft>
                <a:spcPts val="0"/>
              </a:spcAft>
              <a:defRPr sz="1560" b="1">
                <a:solidFill>
                  <a:srgbClr val="EDF4FA"/>
                </a:solidFill>
                <a:latin typeface="Segoe UI"/>
              </a:defRPr>
            </a:pPr>
            <a:r>
              <a:t>10 · 20 · 30 · 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594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096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598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6002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186940"/>
            <a:ext cx="113538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ACBDCF"/>
                </a:solidFill>
                <a:latin typeface="Segoe UI"/>
              </a:defRPr>
            </a:pPr>
            <a:r>
              <a:t>Recursos reales: Edge100 → pfSense101 → CORP104 / DMZ102 / VOIP103 / MGMT105 · Túnel AWS activo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537460"/>
            <a:ext cx="11369040" cy="381000"/>
          </a:xfrm>
          <a:prstGeom prst="rect">
            <a:avLst/>
          </a:prstGeom>
          <a:solidFill>
            <a:srgbClr val="193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2621280"/>
            <a:ext cx="111252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35D4C5"/>
                </a:solidFill>
                <a:latin typeface="Segoe UI"/>
              </a:defRPr>
            </a:pPr>
            <a:r>
              <a:t>Administración: tailnet del equipo → MGMT → pfSense / SSH de VMs · Sin acceso a Proxmox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86100"/>
            <a:ext cx="3657600" cy="28651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3185160"/>
            <a:ext cx="3413760" cy="373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A2 · Freddy · Redes aisladas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596640"/>
            <a:ext cx="341376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Esperado: 4 DHCP ACK; 3 bloqueos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3924300"/>
            <a:ext cx="341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EDF4FA"/>
                </a:solidFill>
                <a:latin typeface="Segoe UI"/>
              </a:defRPr>
            </a:pPr>
            <a:r>
              <a:t>Obtenido: 16 PASS; SSH MGMT OK</a:t>
            </a:r>
          </a:p>
        </p:txBody>
      </p:sp>
      <p:pic>
        <p:nvPicPr>
          <p:cNvPr id="30" name="Picture 29" descr="A2 · Freddy · Redes aisladas. Esperado: 4 DHCP ACK; 3 bloqueos. Obtenido: 16 PASS; SSH MGMT 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9" y="4404360"/>
            <a:ext cx="3114260" cy="143256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267200" y="3086100"/>
            <a:ext cx="3657600" cy="28651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185160"/>
            <a:ext cx="3413760" cy="373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A3 · Bruno / Kevin · 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596640"/>
            <a:ext cx="341376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Esperado: DROP y normal permitido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924300"/>
            <a:ext cx="341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EDF4FA"/>
                </a:solidFill>
                <a:latin typeface="Segoe UI"/>
              </a:defRPr>
            </a:pPr>
            <a:r>
              <a:t>Obtenido: 3/3 DROP + EVE; normal 3/3</a:t>
            </a:r>
          </a:p>
        </p:txBody>
      </p:sp>
      <p:pic>
        <p:nvPicPr>
          <p:cNvPr id="35" name="Picture 34" descr="A3 · Bruno / Kevin · IPS. Esperado: DROP y normal permitido. Obtenido: 3/3 DROP + EVE; normal 3/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869" y="4404360"/>
            <a:ext cx="3114260" cy="143256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122920" y="3086100"/>
            <a:ext cx="3657600" cy="28651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4840" y="3185160"/>
            <a:ext cx="3413760" cy="373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A4 · Kevin · GeoIP WAN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4840" y="3596640"/>
            <a:ext cx="3413760" cy="28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Esperado: bloquear fuentes RU/KP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4840" y="3924300"/>
            <a:ext cx="3413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39" b="1">
                <a:solidFill>
                  <a:srgbClr val="EDF4FA"/>
                </a:solidFill>
                <a:latin typeface="Segoe UI"/>
              </a:defRPr>
            </a:pPr>
            <a:r>
              <a:t>Obtenido: RU/KP: 3 DROP por país</a:t>
            </a:r>
          </a:p>
        </p:txBody>
      </p:sp>
      <p:pic>
        <p:nvPicPr>
          <p:cNvPr id="40" name="Picture 39" descr="A4 · Kevin · GeoIP WAN. Esperado: bloquear fuentes RU/KP. Obtenido: RU/KP: 3 DROP por paí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589" y="4404360"/>
            <a:ext cx="3114260" cy="14325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11480" y="6088380"/>
            <a:ext cx="11369040" cy="358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FFC66D"/>
                </a:solidFill>
                <a:latin typeface="Segoe UI"/>
              </a:defRPr>
            </a:pPr>
            <a:r>
              <a:t>Falta validar: HTTPS/HAProxy, SOAR, llamadas/IA y rendimiento final. Las pruebas actuales son funcionales, sin carga.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