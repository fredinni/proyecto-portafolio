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Carta Gantt oficial A1/A2; capturas reales 27-09-2026. A1 completado según cronograma histórico; compatibilidad tuning actual parcial. A2 reportada lista por Freddy según usuario; su evidencia no fue revisada en esta entrega.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Carta Gantt oficial A1 Bruno/Freddy, A2 Freddy; última aclaración usuario: Freddy reporta A2 lista y tiene evidencia propia. No fue revisada ni implementada en esta entrega.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01-pfsense-dashboard.png; sesión WebGUI real del 27-09-2026. Netgate Device ID oculto. Interfaces observadas, no certificación de A2. pfSense VM101:2vCPU/4GiB/20GiB.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03-pfsense-offloading.png y offloading-observaciones.json: tres checkbox true; pfSense-observaciones.txt: nmbclusters1000000, intr_queue1000, states_hash262144, fastforwarding OID ausente, /dev/netmap existe. No Suricata Inline ejecutado.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Edge-observaciones.txt y 05-edge.png: wg0 10.255.255.2/30, transit10.254.254.1/30, forwarding1, policy100tabla51820, handshake reciente,ping AWS2/2 y pfSense2/2. AWS es transporte; Tailscale es administración.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Última instrucción del usuario: A2 lista según Freddy, quien dispone de evidencia propia. No adjunta aún; no se declara verificada por el autor de esta PPT. Reemplazar recuadros por capturas reales.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Y ALCANCE: TEAM_LAB_ACCESS.md, PROXMOX_ONPREM_DEPLOYMENT.md, Tailscale-observaciones.txt; PrimaryRoutes solo4VLAN y Edge/32. No cambios A2 durante preparación PPT. Cuenta SSH por VM; secretos fuera de PPT/Git.</a:t>
            </a:r>
          </a:p>
          <a:p>
            <a:r>
              <a:t>Capturas en hora local Chile 27-09-2026; el dashboard muestra UTC28-09. Evidencia histórica identificada expresamente.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AVANCE CON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A1: base del firewall y laboratorio disponible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Bruno Urrea · Freddy Vásquez · espacio reservado para la evidencia de A2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01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133600"/>
            <a:ext cx="5448300" cy="21336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299" y="2133600"/>
            <a:ext cx="38100" cy="2133600"/>
          </a:xfrm>
          <a:prstGeom prst="rect">
            <a:avLst/>
          </a:prstGeom>
          <a:solidFill>
            <a:srgbClr val="35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420" y="2301240"/>
            <a:ext cx="50673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A1 / Bruno + Freddy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" y="2918460"/>
            <a:ext cx="5052060" cy="1120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pfSense instalado y accesible.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WAN y transporte comprobados.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420" y="3848099"/>
            <a:ext cx="5052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35D4C5"/>
                </a:solidFill>
                <a:latin typeface="Segoe UI"/>
              </a:defRPr>
            </a:pPr>
            <a:r>
              <a:t>Base operativa comprobada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133600"/>
            <a:ext cx="5448300" cy="21336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8400" y="2133600"/>
            <a:ext cx="38100" cy="213360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01240"/>
            <a:ext cx="50673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A2 / Freddy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18460"/>
            <a:ext cx="5052060" cy="1120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Freddy la reporta lista y con evidencia.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Se reserva espacio para incorporarla.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48099"/>
            <a:ext cx="5052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FFC66D"/>
                </a:solidFill>
                <a:latin typeface="Segoe UI"/>
              </a:defRPr>
            </a:pPr>
            <a:r>
              <a:t>Evidencia de Freddy pendiente de integrar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99" y="4648200"/>
            <a:ext cx="11201400" cy="1104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39" b="0">
                <a:solidFill>
                  <a:srgbClr val="EDF4FA"/>
                </a:solidFill>
                <a:latin typeface="Segoe UI"/>
              </a:defRPr>
            </a:pPr>
            <a:r>
              <a:t>Objetivo de esta entrega: demostrar lo que existe y responde,</a:t>
            </a:r>
          </a:p>
          <a:p>
            <a:pPr>
              <a:spcAft>
                <a:spcPts val="400"/>
              </a:spcAft>
              <a:defRPr sz="2039" b="0">
                <a:solidFill>
                  <a:srgbClr val="EDF4FA"/>
                </a:solidFill>
                <a:latin typeface="Segoe UI"/>
              </a:defRPr>
            </a:pPr>
            <a:r>
              <a:t>sin convertir infraestructura provisionada en actividades terminadas.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01 / ALCANCE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A1 corresponde a Bruno y Freddy; A2, a Freddy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La PPT reúne evidencia de A1 y reserva la sección de A2 para su responsable.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02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057400"/>
            <a:ext cx="5448300" cy="33909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299" y="2057400"/>
            <a:ext cx="38100" cy="339090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420" y="2225040"/>
            <a:ext cx="50673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Bruno Urrea / 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" y="2842260"/>
            <a:ext cx="50520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Hardening de pfSense y kernel.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Offloading y requisitos Netmap.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Auditoría de la plataforma real.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A1: completado en cronograma.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Revalidación CE 2.9: parcial.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420" y="5029200"/>
            <a:ext cx="5052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FFC66D"/>
                </a:solidFill>
                <a:latin typeface="Segoe UI"/>
              </a:defRPr>
            </a:pPr>
            <a:r>
              <a:t>Tuning actual: compatibilidad pendiente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057400"/>
            <a:ext cx="5448300" cy="33909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8400" y="2057400"/>
            <a:ext cx="38100" cy="339090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25040"/>
            <a:ext cx="50673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Freddy Vásquez / A1 + 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42260"/>
            <a:ext cx="50520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Virtualización de pfSense.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Asignación de WAN y LAN.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Conectividad de la base.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A2 reportada lista por Freddy.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Su evidencia se incorpora en la diapositiva 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029200"/>
            <a:ext cx="5052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FFC66D"/>
                </a:solidFill>
                <a:latin typeface="Segoe UI"/>
              </a:defRPr>
            </a:pPr>
            <a:r>
              <a:t>Sin cambios de A2 en esta 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99" y="5745480"/>
            <a:ext cx="11201400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0">
                <a:solidFill>
                  <a:srgbClr val="ACBDCF"/>
                </a:solidFill>
                <a:latin typeface="Segoe UI"/>
              </a:defRPr>
            </a:pPr>
            <a:r>
              <a:t>Fuente: Carta Gantt oficial · A1 (S1–S2), A2 (S3–S4) + reporte de Freddy vía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02 / A1 · VIRTUALIZACIÓN Y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pfSense CE 2.9 funciona en el laboratorio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Captura real de Status &gt; Dashboard, después de iniciar sesión mediante Tailscale.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03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299" y="195072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20" b="1">
                <a:solidFill>
                  <a:srgbClr val="35D4C5"/>
                </a:solidFill>
                <a:latin typeface="Segoe UI"/>
              </a:defRPr>
            </a:pPr>
            <a:r>
              <a:t>VM101 · 2 vCPU · 4 GiB RAM · 20 GiB disco · WAN VirtIO vtnet0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99" y="253746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CBDCF"/>
                </a:solidFill>
                <a:latin typeface="Segoe UI"/>
              </a:defRPr>
            </a:pPr>
            <a:r>
              <a:t>Versión instalada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0" y="2537460"/>
            <a:ext cx="58674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CBDCF"/>
                </a:solidFill>
                <a:latin typeface="Segoe UI"/>
              </a:defRPr>
            </a:pPr>
            <a:r>
              <a:t>Interfaces activas del laboratorio</a:t>
            </a:r>
          </a:p>
        </p:txBody>
      </p:sp>
      <p:pic>
        <p:nvPicPr>
          <p:cNvPr id="12" name="Picture 11" descr="01b-pfsense-vers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299" y="3683918"/>
            <a:ext cx="4876800" cy="1014162"/>
          </a:xfrm>
          <a:prstGeom prst="rect">
            <a:avLst/>
          </a:prstGeom>
        </p:spPr>
      </p:pic>
      <p:pic>
        <p:nvPicPr>
          <p:cNvPr id="13" name="Picture 12" descr="01c-pfsense-interfac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29300" y="3327239"/>
            <a:ext cx="5867400" cy="1803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5299" y="6042660"/>
            <a:ext cx="11201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0">
                <a:solidFill>
                  <a:srgbClr val="FFC66D"/>
                </a:solidFill>
                <a:latin typeface="Segoe UI"/>
              </a:defRPr>
            </a:pPr>
            <a:r>
              <a:t>Se observan WAN y redes base. Su presencia no da por cerrada la actividad A2.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03 / A1 ·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Offloading deshabilitado; tuning revisado con datos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System &gt; Advanced &gt; Networking: captura de los tres controles de offloading.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04 / 07</a:t>
            </a:r>
          </a:p>
        </p:txBody>
      </p:sp>
      <p:pic>
        <p:nvPicPr>
          <p:cNvPr id="9" name="Picture 8" descr="03-pfsense-offloading.png"/>
          <p:cNvPicPr>
            <a:picLocks noChangeAspect="1"/>
          </p:cNvPicPr>
          <p:nvPr/>
        </p:nvPicPr>
        <p:blipFill>
          <a:blip r:embed="rId2"/>
          <a:srcRect b="55178"/>
          <a:stretch>
            <a:fillRect/>
          </a:stretch>
        </p:blipFill>
        <p:spPr>
          <a:xfrm>
            <a:off x="495299" y="2302509"/>
            <a:ext cx="7239000" cy="184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299" y="4572000"/>
            <a:ext cx="7239000" cy="118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39" b="0">
                <a:solidFill>
                  <a:srgbClr val="EDF4FA"/>
                </a:solidFill>
                <a:latin typeface="Segoe UI"/>
              </a:defRPr>
            </a:pPr>
            <a:r>
              <a:t>Checksum, TSO y LRO: desactivados.</a:t>
            </a:r>
          </a:p>
          <a:p>
            <a:pPr>
              <a:spcAft>
                <a:spcPts val="400"/>
              </a:spcAft>
              <a:defRPr sz="1739" b="0">
                <a:solidFill>
                  <a:srgbClr val="EDF4FA"/>
                </a:solidFill>
                <a:latin typeface="Segoe UI"/>
              </a:defRPr>
            </a:pPr>
            <a:r>
              <a:t>/dev/netmap existe; no prueba rendimiento IPS.</a:t>
            </a:r>
          </a:p>
          <a:p>
            <a:pPr>
              <a:spcAft>
                <a:spcPts val="400"/>
              </a:spcAft>
              <a:defRPr sz="1739" b="0">
                <a:solidFill>
                  <a:srgbClr val="EDF4FA"/>
                </a:solidFill>
                <a:latin typeface="Segoe UI"/>
              </a:defRPr>
            </a:pPr>
            <a:r>
              <a:t>Suricata Inline todavía no se ha validado.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057400"/>
            <a:ext cx="3695700" cy="35814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2057400"/>
            <a:ext cx="38100" cy="358140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9120" y="2225040"/>
            <a:ext cx="33147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Observado en CE 2.9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9120" y="2842260"/>
            <a:ext cx="3299460" cy="2567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mbuf clusters: 1.000.000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intr_queue_maxlen: 1.000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states_hashsize: 262.144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fastforwarding: OID ausente.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No coincide todo con el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tuning histórico de A1.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9120" y="5219700"/>
            <a:ext cx="32994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FFC66D"/>
                </a:solidFill>
                <a:latin typeface="Segoe UI"/>
              </a:defRPr>
            </a:pPr>
            <a:r>
              <a:t>Compatibilidad pendiente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04 / A1 · CONECTIVIDAD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AWS ↔ Ubuntu Edge ↔ pfSense: transporte comprobado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Transcripción visual de comandos de solo lectura ejecutados el 27-09-2026.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05 / 07</a:t>
            </a:r>
          </a:p>
        </p:txBody>
      </p:sp>
      <p:pic>
        <p:nvPicPr>
          <p:cNvPr id="9" name="Picture 8" descr="05-edge.png"/>
          <p:cNvPicPr>
            <a:picLocks noChangeAspect="1"/>
          </p:cNvPicPr>
          <p:nvPr/>
        </p:nvPicPr>
        <p:blipFill>
          <a:blip r:embed="rId2"/>
          <a:srcRect b="45000"/>
          <a:stretch>
            <a:fillRect/>
          </a:stretch>
        </p:blipFill>
        <p:spPr>
          <a:xfrm>
            <a:off x="1208116" y="1882139"/>
            <a:ext cx="9775767" cy="37337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5299" y="5715000"/>
            <a:ext cx="11201400" cy="50292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" y="5836920"/>
            <a:ext cx="108204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60" b="1">
                <a:solidFill>
                  <a:srgbClr val="35D4C5"/>
                </a:solidFill>
                <a:latin typeface="Segoe UI"/>
              </a:defRPr>
            </a:pPr>
            <a:r>
              <a:t>WireGuard transporta tráfico público · Tailscale administra · pfSense sigue siendo el firewall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05 / A2 · SECCIÓN DE FREDDY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A2 reportada lista: incorporar aquí la evidencia de Freddy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Espacios editables. Las capturas siguientes deben ser las pruebas realizadas por Freddy.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06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133600"/>
            <a:ext cx="5448300" cy="30099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514600"/>
            <a:ext cx="49911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CAPTURA 1 / VLANs y DHCP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360420"/>
            <a:ext cx="49911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ACBDCF"/>
                </a:solidFill>
                <a:latin typeface="Segoe UI"/>
              </a:defRPr>
            </a:pPr>
            <a:r>
              <a:t>Reemplazar este recuadro</a:t>
            </a:r>
          </a:p>
          <a:p>
            <a:pPr>
              <a:spcAft>
                <a:spcPts val="400"/>
              </a:spcAft>
              <a:defRPr sz="1800" b="0">
                <a:solidFill>
                  <a:srgbClr val="ACBDCF"/>
                </a:solidFill>
                <a:latin typeface="Segoe UI"/>
              </a:defRPr>
            </a:pPr>
            <a:r>
              <a:t>por una captura real de Freddy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594860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0">
                <a:solidFill>
                  <a:srgbClr val="FFC66D"/>
                </a:solidFill>
                <a:latin typeface="Segoe UI"/>
              </a:defRPr>
            </a:pPr>
            <a:r>
              <a:t>Pie de evidencia: comando / pantalla / fecha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400" y="2133600"/>
            <a:ext cx="5448300" cy="30099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2514600"/>
            <a:ext cx="49911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80" b="1">
                <a:solidFill>
                  <a:srgbClr val="35D4C5"/>
                </a:solidFill>
                <a:latin typeface="Segoe UI"/>
              </a:defRPr>
            </a:pPr>
            <a:r>
              <a:t>CAPTURA 2 / Conectividad y aislamiento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360420"/>
            <a:ext cx="49911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ACBDCF"/>
                </a:solidFill>
                <a:latin typeface="Segoe UI"/>
              </a:defRPr>
            </a:pPr>
            <a:r>
              <a:t>Reemplazar este recuadro</a:t>
            </a:r>
          </a:p>
          <a:p>
            <a:pPr>
              <a:spcAft>
                <a:spcPts val="400"/>
              </a:spcAft>
              <a:defRPr sz="1800" b="0">
                <a:solidFill>
                  <a:srgbClr val="ACBDCF"/>
                </a:solidFill>
                <a:latin typeface="Segoe UI"/>
              </a:defRPr>
            </a:pPr>
            <a:r>
              <a:t>por una captura real de Freddy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594860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60" b="0">
                <a:solidFill>
                  <a:srgbClr val="FFC66D"/>
                </a:solidFill>
                <a:latin typeface="Segoe UI"/>
              </a:defRPr>
            </a:pPr>
            <a:r>
              <a:t>Pie de evidencia: comando / pantalla / fecha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99" y="5539740"/>
            <a:ext cx="112014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Freddy: agregar resultado observado y explicar qué demuestra cada captura.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Estado en esta entrega: evidencia pendiente de integrar y revisar.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299" y="289560"/>
            <a:ext cx="1066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5D4C5"/>
                </a:solidFill>
                <a:latin typeface="Segoe UI"/>
              </a:defRPr>
            </a:pPr>
            <a:r>
              <a:t>06 / HANDOFF Y SIGUIENTE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693420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940" b="1">
                <a:solidFill>
                  <a:srgbClr val="EDF4FA"/>
                </a:solidFill>
                <a:latin typeface="Segoe UI"/>
              </a:defRPr>
            </a:pPr>
            <a:r>
              <a:t>Equipo listo para continuar la configuración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13716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39" b="0">
                <a:solidFill>
                  <a:srgbClr val="ACBDCF"/>
                </a:solidFill>
                <a:latin typeface="Segoe UI"/>
              </a:defRPr>
            </a:pPr>
            <a:r>
              <a:t>Topología desplegada: AWS EC2 → WireGuard → Edge → pfSense → redes protegidas.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299" y="6370320"/>
            <a:ext cx="11201400" cy="1524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99" y="6515100"/>
            <a:ext cx="9829800" cy="19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60" b="0">
                <a:solidFill>
                  <a:srgbClr val="ACBDCF"/>
                </a:solidFill>
                <a:latin typeface="Segoe UI"/>
              </a:defRPr>
            </a:pPr>
            <a:r>
              <a:t>KRONOS SENTINEL  /  APT122  /  Avance A1  /  27 septiembre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770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40" b="1">
                <a:solidFill>
                  <a:srgbClr val="35D4C5"/>
                </a:solidFill>
                <a:latin typeface="Segoe UI"/>
              </a:defRPr>
            </a:pPr>
            <a:r>
              <a:t>07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171700"/>
            <a:ext cx="3581400" cy="32385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299" y="2171700"/>
            <a:ext cx="38100" cy="323850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420" y="23393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Bruno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" y="2956560"/>
            <a:ext cx="3185160" cy="222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Revisar compatibilidad del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tuning en CE 2.9.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Preparar la fase posterior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de Suricata Inline sobre WAN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Ethernet vtnet0.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420" y="4991100"/>
            <a:ext cx="3185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FFC66D"/>
                </a:solidFill>
                <a:latin typeface="Segoe UI"/>
              </a:defRPr>
            </a:pPr>
            <a:r>
              <a:t>A3 permanece pendiente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5300" y="2171700"/>
            <a:ext cx="3581400" cy="32385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5300" y="2171700"/>
            <a:ext cx="38100" cy="323850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3420" y="23393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Freddy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420" y="2956560"/>
            <a:ext cx="3185160" cy="222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Incorporar su evidencia de A2.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Mostrar VLANs, DHCP,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conectividad y aislamiento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con los resultados reales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de sus pruebas.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3420" y="4991100"/>
            <a:ext cx="3185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FFC66D"/>
                </a:solidFill>
                <a:latin typeface="Segoe UI"/>
              </a:defRPr>
            </a:pPr>
            <a:r>
              <a:t>A2: reporte listo; falta evidencia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5300" y="2171700"/>
            <a:ext cx="3581400" cy="3238500"/>
          </a:xfrm>
          <a:prstGeom prst="rect">
            <a:avLst/>
          </a:prstGeom>
          <a:solidFill>
            <a:srgbClr val="14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5300" y="2171700"/>
            <a:ext cx="38100" cy="3238500"/>
          </a:xfrm>
          <a:prstGeom prst="rect">
            <a:avLst/>
          </a:prstGeom>
          <a:solidFill>
            <a:srgbClr val="35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3420" y="23393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59" b="1">
                <a:solidFill>
                  <a:srgbClr val="EDF4FA"/>
                </a:solidFill>
                <a:latin typeface="Segoe UI"/>
              </a:defRPr>
            </a:pPr>
            <a:r>
              <a:t>Acceso del equipo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3420" y="2956560"/>
            <a:ext cx="3185160" cy="222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Gestionar las VMs desde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la tailnet separada del lab.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SSH por máquina y WebGUI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de pfSense disponibles.</a:t>
            </a:r>
          </a:p>
          <a:p>
            <a:pPr>
              <a:spcAft>
                <a:spcPts val="400"/>
              </a:spcAft>
              <a:defRPr sz="1500" b="0">
                <a:solidFill>
                  <a:srgbClr val="ACBDCF"/>
                </a:solidFill>
                <a:latin typeface="Segoe UI"/>
              </a:defRPr>
            </a:pPr>
            <a:r>
              <a:t>Sin acceso al hipervisor.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3420" y="4991100"/>
            <a:ext cx="3185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20" b="1">
                <a:solidFill>
                  <a:srgbClr val="35D4C5"/>
                </a:solidFill>
                <a:latin typeface="Segoe UI"/>
              </a:defRPr>
            </a:pPr>
            <a:r>
              <a:t>Credenciales fuera de la PPT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299" y="5753100"/>
            <a:ext cx="11201400" cy="44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5D4C5"/>
                </a:solidFill>
                <a:latin typeface="Segoe UI"/>
              </a:defRPr>
            </a:pPr>
            <a:r>
              <a:t>Tailnet separada del equipo → MGMT → pfSense → VMs. Credenciales entregadas por canal privado.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