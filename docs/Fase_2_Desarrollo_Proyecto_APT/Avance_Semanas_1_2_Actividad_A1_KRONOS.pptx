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5FF"/>
                </a:solidFill>
                <a:latin typeface="Consolas"/>
              </a:defRPr>
            </a:pPr>
            <a:r>
              <a:t>DUOC UC • ESCUELA DE INFORMÁTICA Y TELECOMUNICACIONES • SEDE SAN JOAQUÍN</a:t>
            </a:r>
          </a:p>
          <a:p>
            <a:pPr algn="ctr">
              <a:defRPr sz="3600" b="1">
                <a:solidFill>
                  <a:srgbClr val="F8FAFC"/>
                </a:solidFill>
                <a:latin typeface="Segoe UI"/>
              </a:defRPr>
            </a:pPr>
            <a:r>
              <a:t>KRONOS SENTINEL</a:t>
            </a:r>
          </a:p>
          <a:p>
            <a:pPr algn="ctr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Hito de Avance Semanas 1 a 2: Setup Base pfSense, Hardening &amp; Netmap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4990" y="3474720"/>
            <a:ext cx="6400800" cy="2286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77870" y="3566160"/>
            <a:ext cx="6035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Asignatura: Portafolio de Título (APT122) — Capstone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Hito Oficial: Actividad A1 (Carta Gantt)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Integrantes Responsables: Bruno Urrea Ortiz &amp; Freddy Vásquez Cortés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Carrera: Ingeniería en Conectividad y Redes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Estado del Hito: 100% Ejecutado y Validado Técnicamente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1 de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01. ALCANCE Y PLANIFICACIÓN ACADÉMICA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Enmarque en Carta Gantt: Actividad A1 (Semanas 1 - 2)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Cumplimiento estricto del cronograma y división técnica del equipo.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OBJETIVO DEL HITO (SEMANAS 1 - 2)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Aprovisionar la plataforma perimetral en pfSense CE 2.9.0 (FreeBSD 14), asegurando la conectividad WAN/LAN y aplicando el tuning de kernel necesario para soportar prevención en hardware ring-buffer con Netmap.</a:t>
            </a:r>
            <a:br/>
            <a:br/>
            <a:r>
              <a:t>• Duración Planificada: Semanas 1 a 2 del semestre.</a:t>
            </a:r>
            <a:br/>
            <a:r>
              <a:t>• Costo Monetario: $0 CLP (Software Libre).</a:t>
            </a:r>
            <a:br/>
            <a:r>
              <a:t>• Estado de Entrega: 100% Cumplido dentro de plazo.</a:t>
            </a:r>
            <a:br/>
            <a:r>
              <a:t>• Continuidad: Base requerida para la Actividad A2 (VLANs) y A3 (Suricata).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DISTRIBUCIÓN TÉCNICA DE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Freddy Vásquez Cortés (Ingeniero de Networking):</a:t>
            </a:r>
            <a:br/>
            <a:r>
              <a:t>• Despliegue de VM pfSense en Proxmox VE / VMware.</a:t>
            </a:r>
            <a:br/>
            <a:r>
              <a:t>• Asignación de interfaces físicas/virtuales WAN y LAN.</a:t>
            </a:r>
            <a:br/>
            <a:r>
              <a:t>• Gateway predeterminado y resolución DNS corporativa.</a:t>
            </a:r>
            <a:br/>
            <a:br/>
            <a:r>
              <a:t>Bruno Urrea Ortiz (Líder Ciberseguridad &amp; Kernel):</a:t>
            </a:r>
            <a:br/>
            <a:r>
              <a:t>• Hardening de FreeBSD 14 y tuning del subsistema netmap(4).</a:t>
            </a:r>
            <a:br/>
            <a:r>
              <a:t>• Desactivación de Hardware Offloading (TSO / LRO / Checksum).</a:t>
            </a:r>
            <a:br/>
            <a:r>
              <a:t>• Desarrollo de verify_kernel_hardening.py y evidencia 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2 de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02. INFRAESTRUCTURA Y CONECTIVIDAD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Aprovisionamiento Base pfSense CE 2.9.0 (WAN / LAN)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Arquitectura de red levantada por Freddy Vásquez en el laboratorio.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MATRIZ DE INTERFACES Y ENRUTAMIENTO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Topología de Interfaces Desplegada:</a:t>
            </a:r>
            <a:br/>
            <a:br/>
            <a:r>
              <a:t>• WAN (vtnet0 / em0): Modo DHCP / Bridge WAN hacia salida a Internet institucional y feeds de amenazas.</a:t>
            </a:r>
            <a:br/>
            <a:r>
              <a:t>• LAN (vtnet1 / em1): 192.168.1.1/24 (Red de gestión inicial y preparación de troncal 802.1Q).</a:t>
            </a:r>
            <a:br/>
            <a:r>
              <a:t>• Servidores DNS: 1.1.1.1 / 8.8.8.8 para actualización de reglas.</a:t>
            </a:r>
            <a:br/>
            <a:r>
              <a:t>• NTP: pool.ntp.org para sincronización forense de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POLÍTICAS INICIALES DE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Reglas Base Configuradas:</a:t>
            </a:r>
            <a:br/>
            <a:br/>
            <a:r>
              <a:t>• Regla Anti-Lockout Protegida: Acceso a WebGUI y consola confinado estrictamente a la interfaz LAN de confianza.</a:t>
            </a:r>
            <a:br/>
            <a:r>
              <a:t>• Bloqueo de Redes Privadas &amp; Bogon en WAN: Filtro inmediato de direcciones no enrutables en Internet (RFC 1918 / 5735).</a:t>
            </a:r>
            <a:br/>
            <a:r>
              <a:t>• Política Default Deny en WAN: Todo tráfico entrante no originado internamente es descartado en capa 3/4.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3 de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03. CIBERSEGURIDAD Y ARQUITECTURA DE KERNEL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El Desafío Crítico: ¿Por qué Tunear FreeBSD para Netmap?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Resolución del cuello de botella técnico realizada por Bruno Urrea.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LA PROBLEMÁTICA TÉCNICA EN NETMAP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CBD5E1"/>
                </a:solidFill>
                <a:latin typeface="Segoe UI"/>
              </a:defRPr>
            </a:pPr>
            <a:r>
              <a:t>Por defecto, los hipervisores delegan trabajo a la NIC virtual (Hardware Offloading):</a:t>
            </a:r>
            <a:br/>
            <a:br/>
            <a:r>
              <a:t>• TSO (TCP Segmentation Offload): Crea paquetes artificiales gigantes (hasta 64 KB). Si Netmap los recibe, desborda su ring-buffer y crashea el cortafuegos.</a:t>
            </a:r>
            <a:br/>
            <a:r>
              <a:t>• LRO (Large Receive Offload): Fusiona paquetes entrantes antes de que el IPS pueda verlos, haciendo indetectables los ataques SQLi.</a:t>
            </a:r>
            <a:br/>
            <a:r>
              <a:t>• IP Fastforwarding: Salta el paso por Packet Filter (pf), impidiendo el bloqueo en la tabla &lt;snort2c&gt;.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SOLUCIÓN DE HARDENING APLICADA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CBD5E1"/>
                </a:solidFill>
                <a:latin typeface="Segoe UI"/>
              </a:defRPr>
            </a:pPr>
            <a:r>
              <a:t>Ajustes Aplicados en pfSense (System &gt; Advanced &gt; Networking):</a:t>
            </a:r>
            <a:br/>
            <a:br/>
            <a:r>
              <a:t>✔ Disable Hardware Checksum Offload: Activado (Garantiza cálculo estricto en software).</a:t>
            </a:r>
            <a:br/>
            <a:r>
              <a:t>✔ Disable TCP Segmentation Offload: Activado (Obliga a paquetes reales MTU 1500 aptos para Netmap).</a:t>
            </a:r>
            <a:br/>
            <a:r>
              <a:t>✔ Disable Large Receive Offload: Activado (Permite a Suricata inspeccionar cada payload HTTP).</a:t>
            </a:r>
            <a:br/>
            <a:r>
              <a:t>✔ net.inet.ip.fastforwarding = 0: Garantiza que el 100% de los paquetes sea filtrado por pf.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4 de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04. ESPECIFICACIÓN DE INGENIERÍA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Parámetros de Memoria y Ring-Buffers en FreeBSD 14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Valores inyectados en /boot/loader.conf.local y sysctl.conf.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TABLA COMPARATIVA DE VALORES DE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• kern.ipc.nmbclusters = 1,000,000  (Default: 65,536)</a:t>
            </a:r>
            <a:br/>
            <a:r>
              <a:t>   -&gt; Justificación: Cuadruplica los buffers mbuf para tolerar ráfagas de escaneos masivos y ataques sin riesgo de Kernel Panic.</a:t>
            </a:r>
            <a:br/>
            <a:br/>
            <a:r>
              <a:t>• hw.netmap.ring_size = 4,096  (Default: 1,024 descriptores)</a:t>
            </a:r>
            <a:br/>
            <a:r>
              <a:t>   -&gt; Justificación: Aumenta la profundidad de la cola de descarte en hardware sin copia (zero-copy) para Suricata Inline.</a:t>
            </a:r>
            <a:br/>
            <a:br/>
            <a:r>
              <a:t>• hw.netmap.buf_size = 2,048 bytes</a:t>
            </a:r>
            <a:br/>
            <a:r>
              <a:t>   -&gt; Justificación: Estandariza la memoria compartida para paquetes Ethernet estándar sin fragmentación.</a:t>
            </a:r>
            <a:br/>
            <a:br/>
            <a:r>
              <a:t>• net.pf.states_hashsize = 131,072  (Default: 32,768)</a:t>
            </a:r>
            <a:br/>
            <a:r>
              <a:t>   -&gt; Justificación: Optimiza la búsqueda atómica O(1) de conexiones activas en la memoria RAM del firewall.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5 de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05. EVIDENCIA TÉCNICA Y AUDITORÍA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Demostración en Vivo: verify_kernel_hardening.py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Herramienta desarrollada para auditar y generar evidencias académicas.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1264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CONSOLA DE VERIFICACIÓN EJECUTADA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0F5FF"/>
                </a:solidFill>
                <a:latin typeface="Consolas"/>
              </a:defRPr>
            </a:pPr>
            <a:r>
              <a:t>$ python src/pfsense_setup/verify_kernel_hardening.py</a:t>
            </a:r>
            <a:br/>
            <a:r>
              <a:t>===============================================================</a:t>
            </a:r>
            <a:br/>
            <a:r>
              <a:t> KRONOS SENTINEL // AUDITORÍA DE KERNEL &amp; TUNING NETMAP</a:t>
            </a:r>
            <a:br/>
            <a:r>
              <a:t> Responsable: Bruno Urrea Ortiz | Actividad A1 (Semanas 1-2)</a:t>
            </a:r>
            <a:br/>
            <a:r>
              <a:t>===============================================================</a:t>
            </a:r>
            <a:br/>
            <a:br/>
            <a:r>
              <a:t>[1] Parámetros sysctl:</a:t>
            </a:r>
            <a:br/>
            <a:r>
              <a:t>  - net.inet.ip.fastforwarding: 0        -&gt; [PASS]</a:t>
            </a:r>
            <a:br/>
            <a:r>
              <a:t>  - net.inet.ip.intr_queue_maxlen: 4096  -&gt; [PASS]</a:t>
            </a:r>
            <a:br/>
            <a:r>
              <a:t>  - net.pf.states_hashsize: 131072       -&gt; [PASS]</a:t>
            </a:r>
            <a:br/>
            <a:br/>
            <a:r>
              <a:t>[2] Hardware Offloading:</a:t>
            </a:r>
            <a:br/>
            <a:r>
              <a:t>  - Checksum / TSO / LRO: Desactivado    -&gt; [CONFIGURADO]</a:t>
            </a:r>
            <a:br/>
            <a:br/>
            <a:r>
              <a:t>[3] Memoria Netmap:</a:t>
            </a:r>
            <a:br/>
            <a:r>
              <a:t>  - mbuf clusters: 1,000,000 | ring: 4096</a:t>
            </a:r>
            <a:br/>
            <a:br/>
            <a:r>
              <a:t>[OK] Evidencia exportada: evidencia_avance_A1_bruno.json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2495" y="1554480"/>
            <a:ext cx="42976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2D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5375" y="1691639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ARTEFACTOS DE EVIDENCIA EN REPOSITORIO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205740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Archivos Entregables en src/pfsense_setup/:</a:t>
            </a:r>
            <a:br/>
            <a:br/>
            <a:r>
              <a:t>1. kernel_netmap_tuning.sh:</a:t>
            </a:r>
            <a:br/>
            <a:r>
              <a:t>Script en shell para inyección en FreeBSD.</a:t>
            </a:r>
            <a:br/>
            <a:br/>
            <a:r>
              <a:t>2. pfsense_tuning_patch.xml:</a:t>
            </a:r>
            <a:br/>
            <a:r>
              <a:t>Fragmento XML para pfSense WebGUI.</a:t>
            </a:r>
            <a:br/>
            <a:br/>
            <a:r>
              <a:t>3. verify_kernel_hardening.py:</a:t>
            </a:r>
            <a:br/>
            <a:r>
              <a:t>Script de auditoría técnica continua.</a:t>
            </a:r>
            <a:br/>
            <a:br/>
            <a:r>
              <a:t>4. evidencia_avance_A1_bruno.json:</a:t>
            </a:r>
            <a:br/>
            <a:r>
              <a:t>Reporte formal de auditoría para la comisión.</a:t>
            </a:r>
            <a:br/>
            <a:br/>
            <a:r>
              <a:t>5. README.md Técnico:</a:t>
            </a:r>
            <a:br/>
            <a:r>
              <a:t>Documentación de arquitectura.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6 de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solidFill>
              <a:srgbClr val="0A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FF"/>
                </a:solidFill>
                <a:latin typeface="Consolas"/>
              </a:defRPr>
            </a:pPr>
            <a:r>
              <a:t>06. CONCLUSIÓN Y HOJA DE RUTA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Conclusión del Hito A1 y Transición a Semanas 3 - 4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Alineación estricta con la Carta Gantt sin adelantar trabajo.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HITO A1: COMPLETADO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Plataforma pfSense CE 2.9.0 100% operativa en laboratorio.</a:t>
            </a:r>
            <a:br/>
            <a:br/>
            <a:r>
              <a:t>• Kernel FreeBSD 14 optimizado para evitar caídas y desbordamiento de ring-buffer.</a:t>
            </a:r>
            <a:br/>
            <a:br/>
            <a:r>
              <a:t>• Evidencia verificada y versionada en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554480"/>
            <a:ext cx="33832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6630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PRÓXIMO: ACTIVIDAD 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6630" y="20574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Semanas 3 a 4 (Freddy Vásquez):</a:t>
            </a:r>
            <a:br/>
            <a:br/>
            <a:r>
              <a:t>• Segmentación de troncal 802.1Q en pfSense.</a:t>
            </a:r>
            <a:br/>
            <a:br/>
            <a:r>
              <a:t>• Despliegue de subredes VLAN 10 (Corp), 20 (DMZ), 30 (VoIP) y 99 (Mgmt) con DHCP.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6895" y="1554480"/>
            <a:ext cx="3383280" cy="4572000"/>
          </a:xfrm>
          <a:prstGeom prst="roundRect">
            <a:avLst/>
          </a:prstGeom>
          <a:solidFill>
            <a:srgbClr val="13182A"/>
          </a:solidFill>
          <a:ln w="1524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9775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FF"/>
                </a:solidFill>
                <a:latin typeface="Segoe UI"/>
              </a:defRPr>
            </a:pPr>
            <a:r>
              <a:t>PRÓXIMO: ACTIVIDAD 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9775" y="20574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Semanas 5 a 6 (Bruno / Kevin):</a:t>
            </a:r>
            <a:br/>
            <a:br/>
            <a:r>
              <a:t>• Instalación de Suricata 7.x en modo Inline IPS sobre los descriptores Netmap preparados en este hito.</a:t>
            </a:r>
            <a:br/>
            <a:br/>
            <a:r>
              <a:t>• Configuración de firmas ET Open y dropsid.conf.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KRONOS SENTINEL // Portafolio de Título (APT122) — Avance Semanas 1 a 2                  Diapositiva 7 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