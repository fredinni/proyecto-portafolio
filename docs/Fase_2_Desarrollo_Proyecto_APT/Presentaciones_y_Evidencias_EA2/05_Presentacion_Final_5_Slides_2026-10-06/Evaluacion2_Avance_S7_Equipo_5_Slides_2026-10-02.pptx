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Tabla completa y evidencia: [{"id": "A1.1", "task": "pfSense WAN/LAN", "owner": "Freddy", "planned": "17–30 ago", "start": "2026-08-17", "end": "2026-08-30", "percent": 100, "state": "Completada", "evidence": "WAN/LAN activas; reboot OK"}, {"id": "A1.2", "task": "Kernel / offloading", "owner": "Bruno", "planned": "17–30 ago", "start": "2026-08-17", "end": "2026-08-30", "percent": 100, "state": "Completada", "evidence": "Perfil actual: 14 PASS", "detail": "pfSense2.9/FreeBSD16: 14 PASS actuales. Perfil legacy conservado separado: 9 PASS y3OID no soportados; no averia IPS. Buffers Netmap medidos2048, rings allocator bytes no slots."}, {"id": "A2", "task": "4 VLAN + DHCP + aislamiento", "owner": "Freddy", "planned": "31 ago–13 sep", "start": "2026-08-31", "end": "2026-09-13", "percent": 100, "state": "Completada", "evidence": "16 pruebas PASS tras reboot", "detail": "Configuración cerrada y verificada el01/10; posterior a fecha Gantt. Bloqueos muestreados TCP22 con controles positivos; no prueba de todos los protocolos. Repetición02/10trasreinicioyambosmotoreslistos:16PASS."}, {"id": "A3.1", "task": "Suricata WAN Inline IPS", "owner": "Bruno", "planned": "14–27 sep", "start": "2026-09-14", "end": "2026-09-27", "percent": 100, "state": "Completada", "evidence": "3/3 DROP + EVE correlacionado", "detail": "Alcance WAN Ethernet/vtnet0. La inspección del HTTP interno tras terminar TLS corresponde al diseño posterior A5; no se afirma inspección del payload HTTPS cifrado."}, {"id": "A3.2", "task": "Firmas ET + dropsid.conf", "owner": "Kevin", "planned": "14–27 sep", "start": "2026-09-14", "end": "2026-09-27", "percent": 100, "state": "Completada", "evidence": "26k reglas; dependencia corregida", "detail": "WAN 26628 y trunk 26629 reglas, cero fallidas. SID2017669 oficial cargado, warning et.http.PK corregido. No todas las reglas son DROP."}, {"id": "A3.3", "task": "IPS interno / trunk LAN", "owner": "Bruno", "planned": "14–27 sep", "start": "2026-09-14", "end": "2026-09-27", "percent": 100, "state": "Completada", "evidence": "HTTP200 → 3 DROP → HTTP200", "detail": "Instancia única opt2 ejecuta Netmap en parent vtnet1. Marcador benigno MGMT→DMZ descartado, EVE VLAN99 correlacionado; HTTP normal200antes/después. No valida SQLi ni inspección dentro de TLS. Probado tras reiniciar el02/10. Guard PF probado en arranque/apagado: cero marcadores escapados en el ensayo final. Caidas WAN/trunk cierran en 0,961/0,637s observados; no cierre instant?neo garantizado."}, {"id": "A4", "task": "Reputación + GeoIP WAN", "owner": "Kevin", "planned": "28 sep–11 oct", "start": "2026-09-28", "end": "2026-10-11", "percent": 100, "state": "Completada", "evidence": "4 listas/paises: 3 DROP cada uno", "detail": "Prueba 02/10: Spamhaus, FireHOL y paises RU/KP descartan tres tramas benignas por tabla. FireHOL Alias_Deny y supresion nativa RFC1918/CGNAT verificada antes de habilitar bloqueo WAN. MaxMind lookupUS; cron programado. CapacidadPF2millones. No prueba sostenidaA10 ni tr?fico remoto real desde esos paises."}, {"id": "A5", "task": "HTTPS HAProxy → DVWA", "owner": "Cristóbal", "planned": "12–25 oct", "start": "2026-10-12", "end": "2026-10-25", "percent": 0, "state": "A tiempo", "evidence": "DVWA base; frontend pendiente", "detail": "DVWA existente en DMZ responde HTTP200/login; ese provisioning no equivale a HAProxy/TLS/rate-limits configurados. HTTP público terminó en timeout esperado; A5 no validada."}, {"id": "A6", "task": "Motor KRONOS / pfctl", "owner": "Bruno", "planned": "26 oct–08 nov", "start": "2026-10-26", "end": "2026-11-08", "percent": 0, "state": "A tiempo", "evidence": "Integración aún no probada"}, {"id": "A7", "task": "Asterisk PJSIP + AMI", "owner": "Freddy", "planned": "09–22 nov", "start": "2026-11-09", "end": "2026-11-22", "percent": 0, "state": "A tiempo", "evidence": "Host preparado; AMI pendiente", "detail": "Contenedor base en VM103 running; ninguna llamada AMI/PJSIP end-to-end probada."}, {"id": "A8", "task": "Gemini Live / voz", "owner": "Bruno", "planned": "16–29 nov", "start": "2026-11-16", "end": "2026-11-29", "percent": 0, "state": "A tiempo", "evidence": "Diálogo end-to-end pendiente"}, {"id": "A9", "task": "VPN equipo / softphones", "owner": "Freddy", "planned": "23–29 nov", "start": "2026-11-23", "end": "2026-11-29", "percent": 60, "state": "A tiempo", "evidence": "SSH OK; llamada remota falta", "detail": "Estimación por hitos: configuración tailnet separada50%, conectividad administrativa10%; ACL de Admin y softphone/VoIP40% pendientes. Tailscale termina en MGMT, no en pfSense, sin acceso del equipo a Proxmox."}, {"id": "A10", "task": "QA integral / defensa", "owner": "Kevin", "planned": "30 nov–20 dic", "start": "2026-11-30", "end": "2026-12-20", "percent": 0, "state": "A tiempo", "evidence": "SQLi / rendimiento pendientes", "detail": "Kevin coordina QA; participación de todo el equipo según Gantt. Pruebas funcionales de red ejecutadas no sustituyen QA integral SOAR, SQLi y rendimiento."}]</a:t>
            </a:r>
          </a:p>
          <a:p>
            <a:r>
              <a:t>Responsables según Gantt. A10 Kevin es referente QA; ejecución prevista de todo el equipo. Cristóbal aparece únicamente en A5 futura (0%). No se acredita participación presencial por automatización.</a:t>
            </a:r>
          </a:p>
          <a:p>
            <a:r>
              <a:t>A1 historial completado; perfil compatible revalidado 02/10. A2/A3 cierre observado posterior al plazo, retraso recuperado. A9 60% por hitos administrativos; softphone no validado.</a:t>
            </a:r>
          </a:p>
          <a:p>
            <a:r>
              <a:t>docs\Fase_2_Desarrollo_Proyecto_APT\Informacion_EA2\Plan_Trabajo_Carta_Gantt.md</a:t>
            </a:r>
          </a:p>
          <a:p>
            <a:r>
              <a:t>docs\Fase_2_Desarrollo_Proyecto_APT\AVANCE_SEMANA7_2026-10-02.md</a:t>
            </a:r>
          </a:p>
          <a:p>
            <a:r>
              <a:t>Responsables académicos; automatización no acredita participación presencial. Pruebas fechadas sin retrofechar.</a:t>
            </a:r>
          </a:p>
          <a:p>
            <a:r>
              <a:t>A4 repetida02/10inclFireHOLenforcement. A1 actual14PASS; legacy3OIDretirados; fail-openinicialcorregidoenguardfinal probado. Latenciafallosmedidanoesgarant?a cero. No se declara SQLi/TLS/end-to-end futurovalidado.</a:t>
            </a:r>
          </a:p>
          <a:p>
            <a:r>
              <a:t>WebGUI sensor interno seleccionado DMZ/vtnet1.20; generador oficial ejecuta una sola instancia en parent trunk vtnet1 para todas las VLAN. Confirmado por proceso, sockets Netmap y EVE.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Criterios futuros son objetivos, no resultados acreditados. Fechas de la Gantt; A5 HTTPS 25oct, A6 08nov; A7 22nov, A8 29nov; A9 29nov, A10 20dic.</a:t>
            </a:r>
          </a:p>
          <a:p>
            <a:r>
              <a:t>A4 se adelantó respecto a fin S8; actual base ejecutada. Pruebas prolongadas, falsos positivos y rendimiento corresponden A10.</a:t>
            </a:r>
          </a:p>
          <a:p>
            <a:r>
              <a:t>docs\Fase_2_Desarrollo_Proyecto_APT\Informacion_EA2\Plan_Trabajo_Carta_Gantt.md</a:t>
            </a:r>
          </a:p>
          <a:p>
            <a:r>
              <a:t>docs\Fase_2_Desarrollo_Proyecto_APT\AVANCE_SEMANA7_2026-10-02.md</a:t>
            </a:r>
          </a:p>
          <a:p>
            <a:r>
              <a:t>Responsables académicos; automatización no acredita participación presencial. Pruebas fechadas sin retrofechar.</a:t>
            </a:r>
          </a:p>
          <a:p>
            <a:r>
              <a:t>A4 repetida02/10inclFireHOLenforcement. A1 actual14PASS; legacy3OIDretirados; fail-openinicialcorregidoenguardfinal probado. Latenciafallosmedidanoesgarant?a cero. No se declara SQLi/TLS/end-to-end futurovalidado.</a:t>
            </a:r>
          </a:p>
          <a:p>
            <a:r>
              <a:t>WebGUI sensor interno seleccionado DMZ/vtnet1.20; generador oficial ejecuta una sola instancia en parent trunk vtnet1 para todas las VLAN. Confirmado por proceso, sockets Netmap y EVE.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capturas muestran configuración, no reemplazan las pruebas de tráfico. Resultados obtenidos de informes reales del 02/10. A2 aislamiento muestreado TCP22; no todos los protocolos. A3 marcadores benignos, no SQLi/HTTPS. A4 tramas locales con origen de cada tabla, no tráfico real desde países.</a:t>
            </a:r>
          </a:p>
          <a:p>
            <a:r>
              <a:t>Sensor interno WebGUI DMZ/vtnet1.20 genera instancia en parent trunk vtnet1; no es un tercer sensor ni una tercera NIC.</a:t>
            </a:r>
          </a:p>
          <a:p>
            <a:r>
              <a:t>Topología: EDGE100, PFSENSE101, DMZ102, VOIP103, CORP104, MGMT105. WG no termina en pfSense.</a:t>
            </a:r>
          </a:p>
          <a:p>
            <a:r>
              <a:t>Capturas originales: docs\Fase_2_Desarrollo_Proyecto_APT\EA2_Evidencias_2026-10-02\configuraciones</a:t>
            </a:r>
          </a:p>
          <a:p>
            <a:r>
              <a:t>docs\Fase_2_Desarrollo_Proyecto_APT\Informacion_EA2\Plan_Trabajo_Carta_Gantt.md</a:t>
            </a:r>
          </a:p>
          <a:p>
            <a:r>
              <a:t>docs\Fase_2_Desarrollo_Proyecto_APT\AVANCE_SEMANA7_2026-10-02.md</a:t>
            </a:r>
          </a:p>
          <a:p>
            <a:r>
              <a:t>Responsables académicos; automatización no acredita participación presencial. Pruebas fechadas sin retrofechar.</a:t>
            </a:r>
          </a:p>
          <a:p>
            <a:r>
              <a:t>A4 repetida02/10inclFireHOLenforcement. A1 actual14PASS; legacy3OIDretirados; fail-openinicialcorregidoenguardfinal probado. Latenciafallosmedidanoesgarant?a cero. No se declara SQLi/TLS/end-to-end futurovalidado.</a:t>
            </a:r>
          </a:p>
          <a:p>
            <a:r>
              <a:t>WebGUI sensor interno seleccionado DMZ/vtnet1.20; generador oficial ejecuta una sola instancia en parent trunk vtnet1 para todas las VLAN. Confirmado por proceso, sockets Netmap y EVE.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Imágenes: transcripciones visuales de resultados reales fechados, no capturas nativas de consola ni nuevas pruebas.</a:t>
            </a:r>
          </a:p>
          <a:p>
            <a:r>
              <a:t>A1: {"PASS": 14, "FAIL": 0, "UNSUPPORTED": 0}; 3 OID retirados no son requisitos del perfil compatible; diagnóstico histórico conservado.</a:t>
            </a:r>
          </a:p>
          <a:p>
            <a:r>
              <a:t>A2: [{"test": "DMZ: IPv4 /24 + default gateway + gateway ping + DNS", "status": "PASS", "obtained": "192.168.20.50/24; default ['192.168.20.1']; ping rc=0; DNS resolved"}, {"test": "DMZ: DHCP DISCOVER/OFFER/REQUEST/ACK", "status": "PASS", "obtained": "192.168.20.100/24; gateway/DNS ['192.168.20.1']; lease 3600s; RELEASE sent=True"}, {"test": "VOIP: IPv4 /24 + default gateway + gateway ping + DNS", "status": "PASS", "obtained": "192.168.30.50/24; default ['192.168.30.1']; ping rc=0; DNS resolved"}, {"test": "VOIP: DHCP DISCOVER/OFFER/REQUEST/ACK", "status": "PASS", "obtained": "192.168.30.100/24; gateway/DNS ['192.168.30.1']; lease 3600s; RELEASE sent=True"}, {"test": "CORP: IPv4 /24 + default gateway + gateway ping + DNS", "status": "PASS", "obtained": "192.168.10.50/24; default ['192.168.10.1']; ping rc=0; DNS resolved"}, {"test": "CORP: DHCP DISCOVER/OFFER/REQUEST/ACK", "status": "PASS", "obtained": "192.168.10.100/24; gateway/DNS ['192.168.10.1']; lease 3600s; RELEASE sent=True"}, {"test": "MGMT: IPv4 /24 + default gateway + gateway ping + DNS", "status": "PASS", "obtained": "192.168.99.10/24; default ['192.168.99.1']; ping rc=0; DNS resolved"}, {"test": "MGMT: DHCP DISCOVER/OFFER/REQUEST/ACK", "status": "PASS", "obtained": "192.168.99.100/24; gateway/DNS ['192.168.99.1']; lease 3600s; RELEASE sent=True"}, {"test": "MGMT -&gt; 192.168.10.50:22", "status": "PASS", "obtained": "SSH-2.0-OpenSSH_9.6p1 Ubuntu-3ubuntu13.19\r\n"}, {"test": "MGMT -&gt; 192.168.20.50:22", "status": "PASS", "obtained": "SSH-2.0-OpenSSH_9.6p1 Ubuntu-3ubuntu13.19\r\n"}, {"test": "MGMT -&gt; 192.168.30.50:22", "status": "PASS", "obtained": "SSH-2.0-OpenSSH_9.6p1 Ubuntu-3ubuntu13.19\r\n"}, {"test": "MGMT -&gt; 10.254.254.1:22", "status": "PASS", "obtained": "SSH-2.0-OpenSSH_9.6p1 Ubuntu-3ubuntu13.19\r\n"}, {"test": "MGMT -&gt; 192.168.99.1:8443", "status": "PASS", "obtained": "TCP connected"}, {"test": "DMZ -&gt; 192.168.99.10:22 denied", "status": "PASS", "obtained": "TimeoutError: timed out; 4.0s; positive target SSH control=True"}, {"test": "DMZ -&gt; 192.168.10.50:22 denied", "status": "PASS", "obtained": "TimeoutError: timed out; 4.0s; positive target SSH control=True"}, {"test": "CORP -&gt; 192.168.99.10:22 denied", "status": "PASS", "obtained": "TimeoutError: timed out; 4.0s; positive target SSH control=True"}]</a:t>
            </a:r>
          </a:p>
          <a:p>
            <a:r>
              <a:t>Transporte: tcpdump simultáneo wg0 y eth1 confirmó el mismo origen público en 3 SYN; IP cliente omitida por privacidad. HTTP público timeout esperado: A5 no configurada.</a:t>
            </a:r>
          </a:p>
          <a:p>
            <a:r>
              <a:t>Fuentes: evidencias/2026-10-02/pruebas/10-a1-compatible.png; docs/Fase_2_Desarrollo_Proyecto_APT/AVANCE_SEMANA7_2026-10-02.md.</a:t>
            </a:r>
          </a:p>
          <a:p>
            <a:r>
              <a:t>Control fresco: {"checked_at": "2026-10-02T20:15:24.437882+00:00", "tailscale": {"backend": "Running", "self_online": true, "mgmt_online": true}, "webgui": {"http": "200", "rc": 0}, "ips_health": {"checked_at": "2026-10-02T17:15:22-03:00", "sensors": {"wan": {"assigned_interface": "wan", "netmap_parent": "vtnet0", "uuid": "49823", "enabled": true, "running": true, "engine_ready": true, "capture_mode": "NETMAP", "copy_mode": "ips", "netmap_interfaces_live": true, "ips_configured": true, "loaded_rules": 26628, "failed_rules": 0, "missing_flowbit_warning": false}, "opt2": {"assigned_interface": "opt2", "netmap_parent": "vtnet1", "uuid": "62511", "enabled": true, "running": true, "engine_ready": true, "capture_mode": "NETMAP", "copy_mode": "ips", "netmap_interfaces_live": true, "ips_configured": true, "loaded_rules": 26629, "failed_rules": 0, "missing_flowbit_warning": false}}, "startup": "IPS readiness only; forwarding protection is independently reported by kronos-ips-guard status.", "trunk_vlan_tag_filter_offload_disabled": true, "status": "PASS"}, "ips_health_rc": 0, "guard": {"rc": 0, "stdout": "Supervisor: 78368\nWorker: 67484\nHold: inactive\nIPS readiness: PASS\nGuard table: OPEN (empty)\nGuard operational status: READY\n"}, "status": "PASS"}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Transcripciones visuales de resultados reales; no capturas nativas de terminal.</a:t>
            </a:r>
          </a:p>
          <a:p>
            <a:r>
              <a:t>IPS: controles positivos y 3 EVE nuevos por sensor. No inspección del contenido HTTPS.</a:t>
            </a:r>
          </a:p>
          <a:p>
            <a:r>
              <a:t>Reinicio 02/10 12:10 Chile: {"samples": 27, "boot_closed_samples": 10, "uninspected_http200": 0, "escaped_markers": 0, "recovered": true, "first_ready_after_reboot_seconds": 112.45}; muestreo, no garantía de todos los paquetes. Caídas 02/10 16:29 Chile: cierre WAN 0.926s y trunk 1.177s. Recuperación tras caídas por herramienta explícita; reinicio con retorno automático.</a:t>
            </a:r>
          </a:p>
          <a:p>
            <a:r>
              <a:t>A4: [{"test": "Spamhaus WAN block", "table_entries": 1692, "expected_packets": 3, "actual_counter_delta": 3, "status": "PASS", "scope": "three benign UDP frames only to pfSense WAN on isolated transit"}, {"test": "RU WAN block", "table_entries": 13178, "expected_packets": 3, "actual_counter_delta": 3, "status": "PASS", "scope": "three benign UDP frames only to pfSense WAN on isolated transit"}, {"test": "KP WAN block", "table_entries": 10, "expected_packets": 3, "actual_counter_delta": 3, "status": "PASS", "scope": "three benign UDP frames only to pfSense WAN on isolated transit"}, {"test": "FireHOL WAN block", "table_entries": 4643, "expected_packets": 3, "actual_counter_delta": 3, "status": "PASS", "scope": "three benign UDP frames only to pfSense WAN on isolated transit"}]; fuentes locales elegidas de tablas en tránsito aislado.</a:t>
            </a:r>
          </a:p>
          <a:p>
            <a:r>
              <a:t>Fuentes: AVANCE_SEMANA7_2026-10-02.md; evidencias/2026-10-02/pruebas/07-guard-arranque.png, 08-guard-caidas.png, 09-a4-actual.png, 11-guard-caidas-actual.png.</a:t>
            </a:r>
          </a:p>
          <a:p>
            <a:r>
              <a:t>Evidencias completas de resultados: [{"name": "A2 · Freddy · Redes aisladas", "expected": "4 DHCP ACK; 3 bloqueos", "obtained": "16 PASS; SSH MGMT OK", "image": "docs\\Fase_2_Desarrollo_Proyecto_APT\\EA2_Evidencias_2026-10-02\\pruebas\\ppt-a2.png"}, {"name": "A3 · Bruno / Kevin · IPS", "expected": "DROP; arranque cerrado", "obtained": "6 DROP; 0 escapes", "image": "docs\\Fase_2_Desarrollo_Proyecto_APT\\EA2_Evidencias_2026-10-02\\pruebas\\ppt-a3.png"}, {"name": "A4 - Kevin - Reputacion/GeoIP", "expected": "3 DROP por lista", "obtained": "3 DROP en cada regla", "image": "docs\\Fase_2_Desarrollo_Proyecto_APT\\EA2_Evidencias_2026-10-02\\pruebas\\ppt-a4.png"}]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8650" y="323850"/>
            <a:ext cx="14287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25" b="1">
                <a:solidFill>
                  <a:srgbClr val="087F83"/>
                </a:solidFill>
                <a:latin typeface="Aptos"/>
              </a:defRPr>
            </a:pPr>
            <a:r>
              <a:t>KRONOS SENTINEL  /  AVANCE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762000"/>
            <a:ext cx="16954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900" b="1">
                <a:solidFill>
                  <a:srgbClr val="17324D"/>
                </a:solidFill>
                <a:latin typeface="Aptos"/>
              </a:defRPr>
            </a:pPr>
            <a:r>
              <a:t>Base lista. Protección comprobada.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1457325"/>
            <a:ext cx="16763999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62768A"/>
                </a:solidFill>
                <a:latin typeface="Aptos"/>
              </a:defRPr>
            </a:pPr>
            <a:r>
              <a:t>A1–A4 verificadas; las próximas integraciones conservan sus fechas y avances reales.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650" y="9858375"/>
            <a:ext cx="17030700" cy="19050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650" y="10010775"/>
            <a:ext cx="1581150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25" b="0">
                <a:solidFill>
                  <a:srgbClr val="62768A"/>
                </a:solidFill>
                <a:latin typeface="Aptos"/>
              </a:defRPr>
            </a:pPr>
            <a:r>
              <a:t>Evaluación 2 · APT  |  Corte real: 02 octubre 2026  |  Presentación: 06 octubre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54500" y="9972675"/>
            <a:ext cx="85725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75" b="1">
                <a:solidFill>
                  <a:srgbClr val="087F83"/>
                </a:solidFill>
                <a:latin typeface="Aptos"/>
              </a:defRPr>
            </a:pPr>
            <a:r>
              <a:t>01 / 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650" y="2038349"/>
            <a:ext cx="4810125" cy="40005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2114550"/>
            <a:ext cx="4543425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FFFFFF"/>
                </a:solidFill>
                <a:latin typeface="Aptos"/>
              </a:defRPr>
            </a:pPr>
            <a:r>
              <a:t>Tarea técnica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38775" y="2038349"/>
            <a:ext cx="1504950" cy="40005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2125" y="2114550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FFFFFF"/>
                </a:solidFill>
                <a:latin typeface="Aptos"/>
              </a:defRPr>
            </a:pPr>
            <a:r>
              <a:t>Responsable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3725" y="2038349"/>
            <a:ext cx="2095499" cy="40005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77075" y="2114550"/>
            <a:ext cx="18288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FFFFFF"/>
                </a:solidFill>
                <a:latin typeface="Aptos"/>
              </a:defRPr>
            </a:pPr>
            <a:r>
              <a:t>Fecha Gantt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39225" y="2038349"/>
            <a:ext cx="1066800" cy="40005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2575" y="2114550"/>
            <a:ext cx="8001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FFFFFF"/>
                </a:solidFill>
                <a:latin typeface="Aptos"/>
              </a:defRPr>
            </a:pPr>
            <a:r>
              <a:t>Avance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06025" y="2038349"/>
            <a:ext cx="1762125" cy="40005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39375" y="2114550"/>
            <a:ext cx="1495425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FFFFFF"/>
                </a:solidFill>
                <a:latin typeface="Aptos"/>
              </a:defRPr>
            </a:pPr>
            <a:r>
              <a:t>Estado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68150" y="2038349"/>
            <a:ext cx="5791200" cy="40005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01500" y="2114550"/>
            <a:ext cx="5524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FFFFFF"/>
                </a:solidFill>
                <a:latin typeface="Aptos"/>
              </a:defRPr>
            </a:pPr>
            <a:r>
              <a:t>Evidencia asociada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8650" y="2438400"/>
            <a:ext cx="4810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2514600"/>
            <a:ext cx="4543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43B50"/>
                </a:solidFill>
                <a:latin typeface="Aptos"/>
              </a:defRPr>
            </a:pPr>
            <a:r>
              <a:t>A1.1 · WAN/LAN y persistencia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38775" y="2438400"/>
            <a:ext cx="150495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2125" y="2514600"/>
            <a:ext cx="123825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Freddy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3725" y="2438400"/>
            <a:ext cx="2095499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77075" y="2514600"/>
            <a:ext cx="18288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17–30 ago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9225" y="2438400"/>
            <a:ext cx="10668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72575" y="2514600"/>
            <a:ext cx="8001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06025" y="2438400"/>
            <a:ext cx="1762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39375" y="2514600"/>
            <a:ext cx="1495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087F83"/>
                </a:solidFill>
                <a:latin typeface="Aptos"/>
              </a:defRPr>
            </a:pPr>
            <a:r>
              <a:t>Completada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68150" y="2438400"/>
            <a:ext cx="57912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001500" y="2514600"/>
            <a:ext cx="55245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WAN/LAN + reinicio OK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8650" y="2828925"/>
            <a:ext cx="4810125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000" y="2905125"/>
            <a:ext cx="4543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43B50"/>
                </a:solidFill>
                <a:latin typeface="Aptos"/>
              </a:defRPr>
            </a:pPr>
            <a:r>
              <a:t>A1.2 · Kernel / Netmap y offloading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38775" y="2828925"/>
            <a:ext cx="150495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2125" y="2905125"/>
            <a:ext cx="123825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Bruno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3725" y="2828925"/>
            <a:ext cx="2095499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77075" y="2905125"/>
            <a:ext cx="18288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17–30 ago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39225" y="2828925"/>
            <a:ext cx="106680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72575" y="2905125"/>
            <a:ext cx="8001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06025" y="2828925"/>
            <a:ext cx="1762125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39375" y="2905125"/>
            <a:ext cx="1495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087F83"/>
                </a:solidFill>
                <a:latin typeface="Aptos"/>
              </a:defRPr>
            </a:pPr>
            <a:r>
              <a:t>Completada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868150" y="2828925"/>
            <a:ext cx="579120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001500" y="2905125"/>
            <a:ext cx="55245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14 comprobaciones PASS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8650" y="3219450"/>
            <a:ext cx="4810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2000" y="3295650"/>
            <a:ext cx="4543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43B50"/>
                </a:solidFill>
                <a:latin typeface="Aptos"/>
              </a:defRPr>
            </a:pPr>
            <a:r>
              <a:t>A2 · VLAN, DHCP y segmentación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38775" y="3219450"/>
            <a:ext cx="150495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72125" y="3295650"/>
            <a:ext cx="123825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Freddy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43725" y="3219450"/>
            <a:ext cx="2095499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77075" y="3295650"/>
            <a:ext cx="18288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31 ago–13 sep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39225" y="3219450"/>
            <a:ext cx="10668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72575" y="3295650"/>
            <a:ext cx="8001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06025" y="3219450"/>
            <a:ext cx="1762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39375" y="3295650"/>
            <a:ext cx="1495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087F83"/>
                </a:solidFill>
                <a:latin typeface="Aptos"/>
              </a:defRPr>
            </a:pPr>
            <a:r>
              <a:t>Completada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868150" y="3219450"/>
            <a:ext cx="57912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001500" y="3295650"/>
            <a:ext cx="55245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16 pruebas PASS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8650" y="3609975"/>
            <a:ext cx="4810125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2000" y="3686175"/>
            <a:ext cx="4543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43B50"/>
                </a:solidFill>
                <a:latin typeface="Aptos"/>
              </a:defRPr>
            </a:pPr>
            <a:r>
              <a:t>A3.1 · Suricata Inline en WAN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38775" y="3609975"/>
            <a:ext cx="150495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72125" y="3686175"/>
            <a:ext cx="123825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Bruno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43725" y="3609975"/>
            <a:ext cx="2095499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77075" y="3686175"/>
            <a:ext cx="18288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14–27 sep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39225" y="3609975"/>
            <a:ext cx="106680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72575" y="3686175"/>
            <a:ext cx="8001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106025" y="3609975"/>
            <a:ext cx="1762125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239375" y="3686175"/>
            <a:ext cx="1495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087F83"/>
                </a:solidFill>
                <a:latin typeface="Aptos"/>
              </a:defRPr>
            </a:pPr>
            <a:r>
              <a:t>Completada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868150" y="3609975"/>
            <a:ext cx="579120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001500" y="3686175"/>
            <a:ext cx="55245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3/3 descartes + registro EVE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8650" y="4000500"/>
            <a:ext cx="4810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62000" y="4076699"/>
            <a:ext cx="4543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43B50"/>
                </a:solidFill>
                <a:latin typeface="Aptos"/>
              </a:defRPr>
            </a:pPr>
            <a:r>
              <a:t>A3.2 · Firmas ET y bloqueo selectivo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38775" y="4000500"/>
            <a:ext cx="150495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72125" y="4076699"/>
            <a:ext cx="123825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Kevin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943725" y="4000500"/>
            <a:ext cx="2095499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77075" y="4076699"/>
            <a:ext cx="18288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14–27 sep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39225" y="4000500"/>
            <a:ext cx="10668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72575" y="4076699"/>
            <a:ext cx="8001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06025" y="4000500"/>
            <a:ext cx="1762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239375" y="4076699"/>
            <a:ext cx="1495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087F83"/>
                </a:solidFill>
                <a:latin typeface="Aptos"/>
              </a:defRPr>
            </a:pPr>
            <a:r>
              <a:t>Completada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1868150" y="4000500"/>
            <a:ext cx="57912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2001500" y="4076699"/>
            <a:ext cx="55245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26k firmas; 0 fallidas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8650" y="4391025"/>
            <a:ext cx="4810125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62000" y="4467225"/>
            <a:ext cx="4543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43B50"/>
                </a:solidFill>
                <a:latin typeface="Aptos"/>
              </a:defRPr>
            </a:pPr>
            <a:r>
              <a:t>A3.3 · IPS interno y cierre ante fallos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38775" y="4391025"/>
            <a:ext cx="150495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572125" y="4467225"/>
            <a:ext cx="123825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Bruno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943725" y="4391025"/>
            <a:ext cx="2095499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077075" y="4467225"/>
            <a:ext cx="18288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14–27 sep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039225" y="4391025"/>
            <a:ext cx="106680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172575" y="4467225"/>
            <a:ext cx="8001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106025" y="4391025"/>
            <a:ext cx="1762125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239375" y="4467225"/>
            <a:ext cx="1495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087F83"/>
                </a:solidFill>
                <a:latin typeface="Aptos"/>
              </a:defRPr>
            </a:pPr>
            <a:r>
              <a:t>Completada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1868150" y="4391025"/>
            <a:ext cx="579120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2001500" y="4467225"/>
            <a:ext cx="55245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3/3 descartes; 0 escapes al reiniciar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28650" y="4781550"/>
            <a:ext cx="4810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62000" y="4857750"/>
            <a:ext cx="4543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43B50"/>
                </a:solidFill>
                <a:latin typeface="Aptos"/>
              </a:defRPr>
            </a:pPr>
            <a:r>
              <a:t>A4 · Reputación IP y GeoIP WAN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438775" y="4781550"/>
            <a:ext cx="150495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72125" y="4857750"/>
            <a:ext cx="123825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Kevin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943725" y="4781550"/>
            <a:ext cx="2095499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077075" y="4857750"/>
            <a:ext cx="18288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28 sep–11 oct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39225" y="4781550"/>
            <a:ext cx="10668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172575" y="4857750"/>
            <a:ext cx="8001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106025" y="4781550"/>
            <a:ext cx="1762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39375" y="4857750"/>
            <a:ext cx="1495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087F83"/>
                </a:solidFill>
                <a:latin typeface="Aptos"/>
              </a:defRPr>
            </a:pPr>
            <a:r>
              <a:t>Completada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1868150" y="4781550"/>
            <a:ext cx="57912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2001500" y="4857750"/>
            <a:ext cx="55245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4 reglas: 3 descartes por regla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28650" y="5172075"/>
            <a:ext cx="4810125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62000" y="5248275"/>
            <a:ext cx="4543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43B50"/>
                </a:solidFill>
                <a:latin typeface="Aptos"/>
              </a:defRPr>
            </a:pPr>
            <a:r>
              <a:t>A5 · HAProxy HTTPS → DVWA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438775" y="5172075"/>
            <a:ext cx="150495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572125" y="5248275"/>
            <a:ext cx="123825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Cristóbal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943725" y="5172075"/>
            <a:ext cx="2095499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077075" y="5248275"/>
            <a:ext cx="18288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12–25 oct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039225" y="5172075"/>
            <a:ext cx="106680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172575" y="5248275"/>
            <a:ext cx="8001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0%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106025" y="5172075"/>
            <a:ext cx="1762125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239375" y="5248275"/>
            <a:ext cx="1495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62768A"/>
                </a:solidFill>
                <a:latin typeface="Aptos"/>
              </a:defRPr>
            </a:pPr>
            <a:r>
              <a:t>A tiempo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1868150" y="5172075"/>
            <a:ext cx="579120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2001500" y="5248275"/>
            <a:ext cx="55245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DVWA base; HTTPS pendiente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28650" y="5562600"/>
            <a:ext cx="4810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62000" y="5638800"/>
            <a:ext cx="4543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43B50"/>
                </a:solidFill>
                <a:latin typeface="Aptos"/>
              </a:defRPr>
            </a:pPr>
            <a:r>
              <a:t>A6 · Correlación KRONOS / pfctl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438775" y="5562600"/>
            <a:ext cx="150495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572125" y="5638800"/>
            <a:ext cx="123825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Bruno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943725" y="5562600"/>
            <a:ext cx="2095499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077075" y="5638800"/>
            <a:ext cx="18288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26 oct–08 nov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039225" y="5562600"/>
            <a:ext cx="10668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172575" y="5638800"/>
            <a:ext cx="8001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0%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106025" y="5562600"/>
            <a:ext cx="1762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239375" y="5638800"/>
            <a:ext cx="1495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62768A"/>
                </a:solidFill>
                <a:latin typeface="Aptos"/>
              </a:defRPr>
            </a:pPr>
            <a:r>
              <a:t>A tiempo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1868150" y="5562600"/>
            <a:ext cx="57912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2001500" y="5638800"/>
            <a:ext cx="55245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Integración por validar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28650" y="5953125"/>
            <a:ext cx="4810125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62000" y="6029325"/>
            <a:ext cx="4543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43B50"/>
                </a:solidFill>
                <a:latin typeface="Aptos"/>
              </a:defRPr>
            </a:pPr>
            <a:r>
              <a:t>A7 · Asterisk PJSIP y AMI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438775" y="5953125"/>
            <a:ext cx="150495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572125" y="6029325"/>
            <a:ext cx="123825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Freddy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943725" y="5953125"/>
            <a:ext cx="2095499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077075" y="6029325"/>
            <a:ext cx="18288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09–22 nov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039225" y="5953125"/>
            <a:ext cx="106680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172575" y="6029325"/>
            <a:ext cx="8001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0%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106025" y="5953125"/>
            <a:ext cx="1762125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239375" y="6029325"/>
            <a:ext cx="1495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62768A"/>
                </a:solidFill>
                <a:latin typeface="Aptos"/>
              </a:defRPr>
            </a:pPr>
            <a:r>
              <a:t>A tiempo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1868150" y="5953125"/>
            <a:ext cx="579120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2001500" y="6029325"/>
            <a:ext cx="55245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Host listo; AMI pendiente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28650" y="6343650"/>
            <a:ext cx="4810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62000" y="6419850"/>
            <a:ext cx="4543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43B50"/>
                </a:solidFill>
                <a:latin typeface="Aptos"/>
              </a:defRPr>
            </a:pPr>
            <a:r>
              <a:t>A8 · Gemini Live / diálogo de voz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438775" y="6343650"/>
            <a:ext cx="150495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572125" y="6419850"/>
            <a:ext cx="123825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Bruno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943725" y="6343650"/>
            <a:ext cx="2095499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077075" y="6419850"/>
            <a:ext cx="18288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16–29 nov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039225" y="6343650"/>
            <a:ext cx="10668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172575" y="6419850"/>
            <a:ext cx="8001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0%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0106025" y="6343650"/>
            <a:ext cx="1762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0239375" y="6419850"/>
            <a:ext cx="1495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62768A"/>
                </a:solidFill>
                <a:latin typeface="Aptos"/>
              </a:defRPr>
            </a:pPr>
            <a:r>
              <a:t>A tiempo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1868150" y="6343650"/>
            <a:ext cx="57912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2001500" y="6419850"/>
            <a:ext cx="55245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Diálogo por implementar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28650" y="6734175"/>
            <a:ext cx="4810125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62000" y="6810375"/>
            <a:ext cx="4543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43B50"/>
                </a:solidFill>
                <a:latin typeface="Aptos"/>
              </a:defRPr>
            </a:pPr>
            <a:r>
              <a:t>A9 · VPN equipo / softphones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438775" y="6734175"/>
            <a:ext cx="150495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572125" y="6810375"/>
            <a:ext cx="123825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Freddy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943725" y="6734175"/>
            <a:ext cx="2095499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077075" y="6810375"/>
            <a:ext cx="18288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23–29 nov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9039225" y="6734175"/>
            <a:ext cx="106680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172575" y="6810375"/>
            <a:ext cx="8001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60%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0106025" y="6734175"/>
            <a:ext cx="1762125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0239375" y="6810375"/>
            <a:ext cx="1495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62768A"/>
                </a:solidFill>
                <a:latin typeface="Aptos"/>
              </a:defRPr>
            </a:pPr>
            <a:r>
              <a:t>A tiempo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1868150" y="6734175"/>
            <a:ext cx="5791200" cy="38100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2001500" y="6810375"/>
            <a:ext cx="55245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SSH probado; llamada pendiente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628650" y="7124700"/>
            <a:ext cx="4810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62000" y="7200900"/>
            <a:ext cx="4543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243B50"/>
                </a:solidFill>
                <a:latin typeface="Aptos"/>
              </a:defRPr>
            </a:pPr>
            <a:r>
              <a:t>A10 · QA integral / defensa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5438775" y="7124700"/>
            <a:ext cx="150495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5572125" y="7200900"/>
            <a:ext cx="123825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Kevin · QA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943725" y="7124700"/>
            <a:ext cx="2095499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077075" y="7200900"/>
            <a:ext cx="18288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30 nov–20 dic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9039225" y="7124700"/>
            <a:ext cx="10668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9172575" y="7200900"/>
            <a:ext cx="8001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0%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0106025" y="7124700"/>
            <a:ext cx="17621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0239375" y="7200900"/>
            <a:ext cx="149542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62768A"/>
                </a:solidFill>
                <a:latin typeface="Aptos"/>
              </a:defRPr>
            </a:pPr>
            <a:r>
              <a:t>A tiempo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1868150" y="7124700"/>
            <a:ext cx="57912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2001500" y="7200900"/>
            <a:ext cx="5524500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QA del proyecto pendiente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28650" y="7620000"/>
            <a:ext cx="20002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087F83"/>
                </a:solidFill>
                <a:latin typeface="Aptos"/>
              </a:defRPr>
            </a:pPr>
            <a:r>
              <a:t>GANTT RESUMIDA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857500" y="7600950"/>
            <a:ext cx="95250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62768A"/>
                </a:solidFill>
                <a:latin typeface="Aptos"/>
              </a:defRPr>
            </a:pPr>
            <a:r>
              <a:t>AGO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617720" y="7600950"/>
            <a:ext cx="95250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62768A"/>
                </a:solidFill>
                <a:latin typeface="Aptos"/>
              </a:defRPr>
            </a:pPr>
            <a:r>
              <a:t>SEP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8138160" y="7600950"/>
            <a:ext cx="95250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62768A"/>
                </a:solidFill>
                <a:latin typeface="Aptos"/>
              </a:defRPr>
            </a:pPr>
            <a:r>
              <a:t>OCT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1775947" y="7600950"/>
            <a:ext cx="95250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62768A"/>
                </a:solidFill>
                <a:latin typeface="Aptos"/>
              </a:defRPr>
            </a:pPr>
            <a:r>
              <a:t>NOV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5296388" y="7600950"/>
            <a:ext cx="95250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62768A"/>
                </a:solidFill>
                <a:latin typeface="Aptos"/>
              </a:defRPr>
            </a:pPr>
            <a:r>
              <a:t>DIC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2857500" y="7943850"/>
            <a:ext cx="1614297" cy="2667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2933700" y="7972425"/>
            <a:ext cx="15285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A1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4500372" y="8258175"/>
            <a:ext cx="1614297" cy="2667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4576572" y="8286750"/>
            <a:ext cx="15285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A2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143244" y="7943850"/>
            <a:ext cx="1614297" cy="2667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219444" y="7972425"/>
            <a:ext cx="15285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A3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7786116" y="8258175"/>
            <a:ext cx="1614297" cy="2667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7862316" y="8286750"/>
            <a:ext cx="15285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A4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9428988" y="7943850"/>
            <a:ext cx="1614297" cy="266700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9505188" y="7972425"/>
            <a:ext cx="15285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243B50"/>
                </a:solidFill>
                <a:latin typeface="Aptos"/>
              </a:defRPr>
            </a:pPr>
            <a:r>
              <a:t>A5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11071860" y="8258175"/>
            <a:ext cx="1614297" cy="266700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1148060" y="8286750"/>
            <a:ext cx="15285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243B50"/>
                </a:solidFill>
                <a:latin typeface="Aptos"/>
              </a:defRPr>
            </a:pPr>
            <a:r>
              <a:t>A6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2714732" y="7943850"/>
            <a:ext cx="1614297" cy="266700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2790932" y="7972425"/>
            <a:ext cx="15285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243B50"/>
                </a:solidFill>
                <a:latin typeface="Aptos"/>
              </a:defRPr>
            </a:pPr>
            <a:r>
              <a:t>A7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13536168" y="8258175"/>
            <a:ext cx="1614297" cy="266700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13612367" y="8286750"/>
            <a:ext cx="15285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243B50"/>
                </a:solidFill>
                <a:latin typeface="Aptos"/>
              </a:defRPr>
            </a:pPr>
            <a:r>
              <a:t>A8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14357604" y="7943850"/>
            <a:ext cx="792861" cy="266700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4433804" y="7972425"/>
            <a:ext cx="70713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243B50"/>
                </a:solidFill>
                <a:latin typeface="Aptos"/>
              </a:defRPr>
            </a:pPr>
            <a:r>
              <a:t>A9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15179039" y="8258175"/>
            <a:ext cx="2435733" cy="266700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5255240" y="8286750"/>
            <a:ext cx="23500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243B50"/>
                </a:solidFill>
                <a:latin typeface="Aptos"/>
              </a:defRPr>
            </a:pPr>
            <a:r>
              <a:t>A10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8255508" y="7553324"/>
            <a:ext cx="28575" cy="1047749"/>
          </a:xfrm>
          <a:prstGeom prst="rect">
            <a:avLst/>
          </a:prstGeom>
          <a:solidFill>
            <a:srgbClr val="9A5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331708" y="8553450"/>
            <a:ext cx="2095499" cy="2476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25" b="1">
                <a:solidFill>
                  <a:srgbClr val="9A5C16"/>
                </a:solidFill>
                <a:latin typeface="Aptos"/>
              </a:defRPr>
            </a:pPr>
            <a:r>
              <a:t>HOY · 02 OCT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28650" y="8810625"/>
            <a:ext cx="17030700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25" b="0">
                <a:solidFill>
                  <a:srgbClr val="9A5C16"/>
                </a:solidFill>
                <a:latin typeface="Aptos"/>
              </a:defRPr>
            </a:pPr>
            <a:r>
              <a:t>A1 · Kernel cambió → perfil compatible, revalidado 02/10.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28650" y="9086850"/>
            <a:ext cx="17030700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25" b="0">
                <a:solidFill>
                  <a:srgbClr val="9A5C16"/>
                </a:solidFill>
                <a:latin typeface="Aptos"/>
              </a:defRPr>
            </a:pPr>
            <a:r>
              <a:t>A2 · DHCP faltante → 4 pools y pruebas cerradas 01/10, después del plazo.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28650" y="9363075"/>
            <a:ext cx="17030700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25" b="0">
                <a:solidFill>
                  <a:srgbClr val="9A5C16"/>
                </a:solidFill>
                <a:latin typeface="Aptos"/>
              </a:defRPr>
            </a:pPr>
            <a:r>
              <a:t>A3 · VLAN y firmas → correcciones + reinicio verificados 02/10, después del plazo.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8650" y="323850"/>
            <a:ext cx="14287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25" b="1">
                <a:solidFill>
                  <a:srgbClr val="087F83"/>
                </a:solidFill>
                <a:latin typeface="Aptos"/>
              </a:defRPr>
            </a:pPr>
            <a:r>
              <a:t>KRONOS SENTINEL  /  AVANCE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762000"/>
            <a:ext cx="16954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900" b="1">
                <a:solidFill>
                  <a:srgbClr val="17324D"/>
                </a:solidFill>
                <a:latin typeface="Aptos"/>
              </a:defRPr>
            </a:pPr>
            <a:r>
              <a:t>Entregas que se pueden comprobar.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1457325"/>
            <a:ext cx="16763999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62768A"/>
                </a:solidFill>
                <a:latin typeface="Aptos"/>
              </a:defRPr>
            </a:pPr>
            <a:r>
              <a:t>Cada resultado se vincula a tareas concretas, una medida de éxito y una fecha comprometida.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650" y="9858375"/>
            <a:ext cx="17030700" cy="19050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650" y="10010775"/>
            <a:ext cx="1581150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25" b="0">
                <a:solidFill>
                  <a:srgbClr val="62768A"/>
                </a:solidFill>
                <a:latin typeface="Aptos"/>
              </a:defRPr>
            </a:pPr>
            <a:r>
              <a:t>Evaluación 2 · APT  |  Corte real: 02 octubre 2026  |  Presentación: 06 octubre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54500" y="9972675"/>
            <a:ext cx="85725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75" b="1">
                <a:solidFill>
                  <a:srgbClr val="087F83"/>
                </a:solidFill>
                <a:latin typeface="Aptos"/>
              </a:defRPr>
            </a:pPr>
            <a:r>
              <a:t>02 / 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650" y="2219325"/>
            <a:ext cx="4143375" cy="40005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2295525"/>
            <a:ext cx="3876674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FFFFFF"/>
                </a:solidFill>
                <a:latin typeface="Aptos"/>
              </a:defRPr>
            </a:pPr>
            <a:r>
              <a:t>Entregable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72025" y="2219325"/>
            <a:ext cx="1695450" cy="40005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5375" y="2295525"/>
            <a:ext cx="14287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FFFFFF"/>
                </a:solidFill>
                <a:latin typeface="Aptos"/>
              </a:defRPr>
            </a:pPr>
            <a:r>
              <a:t>Tareas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67475" y="2219325"/>
            <a:ext cx="9667875" cy="40005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825" y="2295525"/>
            <a:ext cx="9401175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FFFFFF"/>
                </a:solidFill>
                <a:latin typeface="Aptos"/>
              </a:defRPr>
            </a:pPr>
            <a:r>
              <a:t>Criterio de aceptación medible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135349" y="2219325"/>
            <a:ext cx="1524000" cy="40005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268700" y="2295525"/>
            <a:ext cx="12573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FFFFFF"/>
                </a:solidFill>
                <a:latin typeface="Aptos"/>
              </a:defRPr>
            </a:pPr>
            <a:r>
              <a:t>Compromiso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8650" y="2619375"/>
            <a:ext cx="4143375" cy="78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000" y="2695575"/>
            <a:ext cx="3876674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243B50"/>
                </a:solidFill>
                <a:latin typeface="Aptos"/>
              </a:defRPr>
            </a:pPr>
            <a:r>
              <a:t>Firewall y cuatro redes aisladas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72025" y="2619375"/>
            <a:ext cx="1695450" cy="78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05375" y="2695575"/>
            <a:ext cx="1428750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A1 + A2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67475" y="2619375"/>
            <a:ext cx="9667875" cy="78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0825" y="2695575"/>
            <a:ext cx="9401175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4 DHCP ACK; 3 bloqueos SSH; offloading desactivado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135349" y="2619375"/>
            <a:ext cx="1524000" cy="78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68700" y="2695575"/>
            <a:ext cx="1257300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13 sep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650" y="3409950"/>
            <a:ext cx="4143375" cy="78105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000" y="3486150"/>
            <a:ext cx="3876674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243B50"/>
                </a:solidFill>
                <a:latin typeface="Aptos"/>
              </a:defRPr>
            </a:pPr>
            <a:r>
              <a:t>Protección IPS externa e interna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72025" y="3409950"/>
            <a:ext cx="1695450" cy="78105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5375" y="3486150"/>
            <a:ext cx="1428750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A3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7475" y="3409950"/>
            <a:ext cx="9667875" cy="78105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0825" y="3486150"/>
            <a:ext cx="9401175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3/3 DROP por sensor; controles normales OK; 0 escapes en reinicio probado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135349" y="3409950"/>
            <a:ext cx="1524000" cy="78105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268700" y="3486150"/>
            <a:ext cx="1257300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27 sep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8650" y="4200525"/>
            <a:ext cx="4143375" cy="78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000" y="4276725"/>
            <a:ext cx="3876674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243B50"/>
                </a:solidFill>
                <a:latin typeface="Aptos"/>
              </a:defRPr>
            </a:pPr>
            <a:r>
              <a:t>Reputación y GeoIP en WAN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72025" y="4200525"/>
            <a:ext cx="1695450" cy="78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05375" y="4276725"/>
            <a:ext cx="1428750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A4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67475" y="4200525"/>
            <a:ext cx="9667875" cy="78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00825" y="4276725"/>
            <a:ext cx="9401175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Spamhaus, FireHOL, RU y KP: 3 DROP por regla; PF 2 millones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135349" y="4200525"/>
            <a:ext cx="1524000" cy="78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268700" y="4276725"/>
            <a:ext cx="1257300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11 oct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8650" y="4991100"/>
            <a:ext cx="4143375" cy="78105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000" y="5067300"/>
            <a:ext cx="3876674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243B50"/>
                </a:solidFill>
                <a:latin typeface="Aptos"/>
              </a:defRPr>
            </a:pPr>
            <a:r>
              <a:t>HTTPS y respuesta automatizada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72025" y="4991100"/>
            <a:ext cx="1695450" cy="78105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05375" y="5067300"/>
            <a:ext cx="1428750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A5 + A6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67475" y="4991100"/>
            <a:ext cx="9667875" cy="78105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0825" y="5067300"/>
            <a:ext cx="9401175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HTTPS 200; bloqueo &lt;100 ms; reducción de ruido &gt;50%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135349" y="4991100"/>
            <a:ext cx="1524000" cy="78105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268700" y="5067300"/>
            <a:ext cx="1257300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08 nov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8650" y="5781675"/>
            <a:ext cx="4143375" cy="78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2000" y="5857875"/>
            <a:ext cx="3876674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243B50"/>
                </a:solidFill>
                <a:latin typeface="Aptos"/>
              </a:defRPr>
            </a:pPr>
            <a:r>
              <a:t>Llamada y conversación con IA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72025" y="5781675"/>
            <a:ext cx="1695450" cy="78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05375" y="5857875"/>
            <a:ext cx="1428750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A7 + A8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67475" y="5781675"/>
            <a:ext cx="9667875" cy="78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00825" y="5857875"/>
            <a:ext cx="9401175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1 llamada AMI + diálogo; respuesta total &lt;1,5 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6135349" y="5781675"/>
            <a:ext cx="1524000" cy="78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268700" y="5857875"/>
            <a:ext cx="1257300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29 nov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8650" y="6572250"/>
            <a:ext cx="4143375" cy="78105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2000" y="6648450"/>
            <a:ext cx="3876674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243B50"/>
                </a:solidFill>
                <a:latin typeface="Aptos"/>
              </a:defRPr>
            </a:pPr>
            <a:r>
              <a:t>Acceso remoto y QA integral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72025" y="6572250"/>
            <a:ext cx="1695450" cy="78105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05375" y="6648450"/>
            <a:ext cx="1428750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A9 + A10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67475" y="6572250"/>
            <a:ext cx="9667875" cy="78105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00825" y="6648450"/>
            <a:ext cx="9401175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SSH al laboratorio; llamada remota; 3 escenarios SQLi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135349" y="6572250"/>
            <a:ext cx="1524000" cy="781050"/>
          </a:xfrm>
          <a:prstGeom prst="rect">
            <a:avLst/>
          </a:prstGeom>
          <a:solidFill>
            <a:srgbClr val="EE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68700" y="6648450"/>
            <a:ext cx="1257300" cy="695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243B50"/>
                </a:solidFill>
                <a:latin typeface="Aptos"/>
              </a:defRPr>
            </a:pPr>
            <a:r>
              <a:t>20 dic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8650" y="7753349"/>
            <a:ext cx="170307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087F83"/>
                </a:solidFill>
                <a:latin typeface="Aptos"/>
              </a:defRPr>
            </a:pPr>
            <a:r>
              <a:t>AJUSTES DEL DISEÑO · MOTIVO Y EFECTO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8650" y="8248650"/>
            <a:ext cx="5505450" cy="135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8650" y="8248650"/>
            <a:ext cx="550545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9150" y="8439150"/>
            <a:ext cx="51244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17324D"/>
                </a:solidFill>
                <a:latin typeface="Aptos"/>
              </a:defRPr>
            </a:pPr>
            <a:r>
              <a:t>AWS: transporte; seguridad en Proxmox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9150" y="9039225"/>
            <a:ext cx="5124450" cy="590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25" b="0">
                <a:solidFill>
                  <a:srgbClr val="62768A"/>
                </a:solidFill>
                <a:latin typeface="Aptos"/>
              </a:defRPr>
            </a:pPr>
            <a:r>
              <a:t>pfSense recibe Ethernet normal para inspección Inline.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81750" y="8248650"/>
            <a:ext cx="5505450" cy="135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381750" y="8248650"/>
            <a:ext cx="550545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72250" y="8439150"/>
            <a:ext cx="51244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17324D"/>
                </a:solidFill>
                <a:latin typeface="Aptos"/>
              </a:defRPr>
            </a:pPr>
            <a:r>
              <a:t>Tailnet separada para el equipo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72250" y="9039225"/>
            <a:ext cx="5124450" cy="590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25" b="0">
                <a:solidFill>
                  <a:srgbClr val="62768A"/>
                </a:solidFill>
                <a:latin typeface="Aptos"/>
              </a:defRPr>
            </a:pPr>
            <a:r>
              <a:t>Acceso a las VMs del laboratorio, sin acceso a Proxmox.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2134850" y="8248650"/>
            <a:ext cx="5505450" cy="1352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2134850" y="8248650"/>
            <a:ext cx="550545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2325350" y="8439150"/>
            <a:ext cx="51244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17324D"/>
                </a:solidFill>
                <a:latin typeface="Aptos"/>
              </a:defRPr>
            </a:pPr>
            <a:r>
              <a:t>Guard IPS y exclusiones FireHOL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325350" y="9039225"/>
            <a:ext cx="5124450" cy="590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25" b="0">
                <a:solidFill>
                  <a:srgbClr val="62768A"/>
                </a:solidFill>
                <a:latin typeface="Aptos"/>
              </a:defRPr>
            </a:pPr>
            <a:r>
              <a:t>Cierre ante fallos; las redes privadas quedan fuera del bloqueo.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8650" y="323850"/>
            <a:ext cx="14287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25" b="1">
                <a:solidFill>
                  <a:srgbClr val="087F83"/>
                </a:solidFill>
                <a:latin typeface="Aptos"/>
              </a:defRPr>
            </a:pPr>
            <a:r>
              <a:t>KRONOS SENTINEL  /  AVANCE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762000"/>
            <a:ext cx="16954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900" b="1">
                <a:solidFill>
                  <a:srgbClr val="17324D"/>
                </a:solidFill>
                <a:latin typeface="Aptos"/>
              </a:defRPr>
            </a:pPr>
            <a:r>
              <a:t>El laboratorio ya entrega resultados.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1457325"/>
            <a:ext cx="16763999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62768A"/>
                </a:solidFill>
                <a:latin typeface="Aptos"/>
              </a:defRPr>
            </a:pPr>
            <a:r>
              <a:t>Infraestructura real · Proxmox VE + AWS EC2 · Verificación con pfSense, comandos y tráfico benigno.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650" y="9858375"/>
            <a:ext cx="17030700" cy="19050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650" y="10010775"/>
            <a:ext cx="1581150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25" b="0">
                <a:solidFill>
                  <a:srgbClr val="62768A"/>
                </a:solidFill>
                <a:latin typeface="Aptos"/>
              </a:defRPr>
            </a:pPr>
            <a:r>
              <a:t>Evaluación 2 · APT  |  Corte real: 02 octubre 2026  |  Presentación: 06 octubre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54500" y="9972675"/>
            <a:ext cx="85725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75" b="1">
                <a:solidFill>
                  <a:srgbClr val="087F83"/>
                </a:solidFill>
                <a:latin typeface="Aptos"/>
              </a:defRPr>
            </a:pPr>
            <a:r>
              <a:t>03 / 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650" y="2133600"/>
            <a:ext cx="2286000" cy="990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650" y="2133600"/>
            <a:ext cx="228600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1525" y="2333625"/>
            <a:ext cx="200025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17324D"/>
                </a:solidFill>
                <a:latin typeface="Aptos"/>
              </a:defRPr>
            </a:pPr>
            <a:r>
              <a:t>Internet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2714625"/>
            <a:ext cx="20002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0">
                <a:solidFill>
                  <a:srgbClr val="62768A"/>
                </a:solidFill>
                <a:latin typeface="Aptos"/>
              </a:defRPr>
            </a:pPr>
            <a:r>
              <a:t>Tráfico público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3750" y="2133600"/>
            <a:ext cx="2762250" cy="990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3750" y="2133600"/>
            <a:ext cx="276225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6625" y="2333625"/>
            <a:ext cx="2476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17324D"/>
                </a:solidFill>
                <a:latin typeface="Aptos"/>
              </a:defRPr>
            </a:pPr>
            <a:r>
              <a:t>AWS 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6625" y="2714625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0">
                <a:solidFill>
                  <a:srgbClr val="62768A"/>
                </a:solidFill>
                <a:latin typeface="Aptos"/>
              </a:defRPr>
            </a:pPr>
            <a:r>
              <a:t>WireGuard · transporte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15100" y="2133600"/>
            <a:ext cx="2762250" cy="990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15100" y="2133600"/>
            <a:ext cx="276225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7975" y="2333625"/>
            <a:ext cx="2476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17324D"/>
                </a:solidFill>
                <a:latin typeface="Aptos"/>
              </a:defRPr>
            </a:pPr>
            <a:r>
              <a:t>Ubuntu Edge · 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7975" y="2714625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0">
                <a:solidFill>
                  <a:srgbClr val="62768A"/>
                </a:solidFill>
                <a:latin typeface="Aptos"/>
              </a:defRPr>
            </a:pPr>
            <a:r>
              <a:t>Túnel → Ethernet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6450" y="2133600"/>
            <a:ext cx="3333750" cy="990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96450" y="2133600"/>
            <a:ext cx="333375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39325" y="2333625"/>
            <a:ext cx="30480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17324D"/>
                </a:solidFill>
                <a:latin typeface="Aptos"/>
              </a:defRPr>
            </a:pPr>
            <a:r>
              <a:t>pfSense · 101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39325" y="2714625"/>
            <a:ext cx="3048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0">
                <a:solidFill>
                  <a:srgbClr val="62768A"/>
                </a:solidFill>
                <a:latin typeface="Aptos"/>
              </a:defRPr>
            </a:pPr>
            <a:r>
              <a:t>Firewall + IPS WAN / interno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449300" y="2133600"/>
            <a:ext cx="4210050" cy="9905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449300" y="2133600"/>
            <a:ext cx="4210050" cy="381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592175" y="2333625"/>
            <a:ext cx="39243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1">
                <a:solidFill>
                  <a:srgbClr val="17324D"/>
                </a:solidFill>
                <a:latin typeface="Aptos"/>
              </a:defRPr>
            </a:pPr>
            <a:r>
              <a:t>VLAN 10 / 20 / 30 / 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92175" y="2714625"/>
            <a:ext cx="39243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0">
                <a:solidFill>
                  <a:srgbClr val="62768A"/>
                </a:solidFill>
                <a:latin typeface="Aptos"/>
              </a:defRPr>
            </a:pPr>
            <a:r>
              <a:t>CORP · DMZ · VOIP · MGMT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3225" y="242887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25" b="1">
                <a:solidFill>
                  <a:srgbClr val="087F8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4575" y="242887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25" b="1">
                <a:solidFill>
                  <a:srgbClr val="087F8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5925" y="242887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25" b="1">
                <a:solidFill>
                  <a:srgbClr val="087F8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058775" y="242887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25" b="1">
                <a:solidFill>
                  <a:srgbClr val="087F8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650" y="3333750"/>
            <a:ext cx="170307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62768A"/>
                </a:solidFill>
                <a:latin typeface="Aptos"/>
              </a:defRPr>
            </a:pPr>
            <a:r>
              <a:t>Administración: tailnet del equipo → MGMT 105 → pfSense → VMs. Producción y Proxmox fuera del acceso del equipo.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8650" y="4029075"/>
            <a:ext cx="5505450" cy="4991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7250" y="4248150"/>
            <a:ext cx="5048250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087F83"/>
                </a:solidFill>
                <a:latin typeface="Aptos"/>
              </a:defRPr>
            </a:pPr>
            <a:r>
              <a:t>A2 · Freddy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250" y="4638675"/>
            <a:ext cx="50482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475" b="1">
                <a:solidFill>
                  <a:srgbClr val="17324D"/>
                </a:solidFill>
                <a:latin typeface="Aptos"/>
              </a:defRPr>
            </a:pPr>
            <a:r>
              <a:t>Redes aisladas</a:t>
            </a:r>
          </a:p>
        </p:txBody>
      </p:sp>
      <p:pic>
        <p:nvPicPr>
          <p:cNvPr id="38" name="Picture 37" descr="Captura real pfSense; recorte visual de 03-vlan-8021q.png; original sin modificar."/>
          <p:cNvPicPr>
            <a:picLocks noChangeAspect="1"/>
          </p:cNvPicPr>
          <p:nvPr/>
        </p:nvPicPr>
        <p:blipFill>
          <a:blip r:embed="rId2"/>
          <a:srcRect l="24306" t="23039" r="28472" b="60294"/>
          <a:stretch>
            <a:fillRect/>
          </a:stretch>
        </p:blipFill>
        <p:spPr>
          <a:xfrm>
            <a:off x="857250" y="5524500"/>
            <a:ext cx="5048250" cy="125730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819150" y="7115175"/>
            <a:ext cx="5124450" cy="1695450"/>
          </a:xfrm>
          <a:prstGeom prst="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2500" y="7258050"/>
            <a:ext cx="485775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50" b="1">
                <a:solidFill>
                  <a:srgbClr val="087F83"/>
                </a:solidFill>
                <a:latin typeface="Aptos"/>
              </a:defRPr>
            </a:pPr>
            <a:r>
              <a:t>ESPERADO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2500" y="7572375"/>
            <a:ext cx="48577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4 DHCP ACK + 3 bloqueos SSH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2500" y="8020050"/>
            <a:ext cx="48577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50" b="1">
                <a:solidFill>
                  <a:srgbClr val="087F83"/>
                </a:solidFill>
                <a:latin typeface="Aptos"/>
              </a:defRPr>
            </a:pPr>
            <a:r>
              <a:t>OBTENIDO · PRUEBA REAL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2500" y="8315325"/>
            <a:ext cx="48577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75" b="1">
                <a:solidFill>
                  <a:srgbClr val="17324D"/>
                </a:solidFill>
                <a:latin typeface="Aptos"/>
              </a:defRPr>
            </a:pPr>
            <a:r>
              <a:t>16 PASS; administración permitida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81750" y="4029075"/>
            <a:ext cx="5505450" cy="4991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10350" y="4248150"/>
            <a:ext cx="5048250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087F83"/>
                </a:solidFill>
                <a:latin typeface="Aptos"/>
              </a:defRPr>
            </a:pPr>
            <a:r>
              <a:t>A3 · Bruno / Kevin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10350" y="4638675"/>
            <a:ext cx="50482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475" b="1">
                <a:solidFill>
                  <a:srgbClr val="17324D"/>
                </a:solidFill>
                <a:latin typeface="Aptos"/>
              </a:defRPr>
            </a:pPr>
            <a:r>
              <a:t>Protección Inline</a:t>
            </a:r>
          </a:p>
        </p:txBody>
      </p:sp>
      <p:pic>
        <p:nvPicPr>
          <p:cNvPr id="47" name="Picture 46" descr="Captura real pfSense; recorte visual de 09-suricata-interfaces.png; original sin modificar."/>
          <p:cNvPicPr>
            <a:picLocks noChangeAspect="1"/>
          </p:cNvPicPr>
          <p:nvPr/>
        </p:nvPicPr>
        <p:blipFill>
          <a:blip r:embed="rId3"/>
          <a:srcRect l="24306" t="27941" r="27778" b="62255"/>
          <a:stretch>
            <a:fillRect/>
          </a:stretch>
        </p:blipFill>
        <p:spPr>
          <a:xfrm>
            <a:off x="6610350" y="5524500"/>
            <a:ext cx="5048250" cy="733425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572250" y="7115175"/>
            <a:ext cx="5124450" cy="1695450"/>
          </a:xfrm>
          <a:prstGeom prst="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05600" y="7258050"/>
            <a:ext cx="485775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50" b="1">
                <a:solidFill>
                  <a:srgbClr val="087F83"/>
                </a:solidFill>
                <a:latin typeface="Aptos"/>
              </a:defRPr>
            </a:pPr>
            <a:r>
              <a:t>ESPERADO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05600" y="7572375"/>
            <a:ext cx="48577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3 DROP por sensor; control normal OK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05600" y="8020050"/>
            <a:ext cx="48577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50" b="1">
                <a:solidFill>
                  <a:srgbClr val="087F83"/>
                </a:solidFill>
                <a:latin typeface="Aptos"/>
              </a:defRPr>
            </a:pPr>
            <a:r>
              <a:t>OBTENIDO · PRUEBA REAL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05600" y="8315325"/>
            <a:ext cx="48577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75" b="1">
                <a:solidFill>
                  <a:srgbClr val="17324D"/>
                </a:solidFill>
                <a:latin typeface="Aptos"/>
              </a:defRPr>
            </a:pPr>
            <a:r>
              <a:t>6 DROP; 0 escapes al reiniciar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134850" y="4029075"/>
            <a:ext cx="5505450" cy="4991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363450" y="4248150"/>
            <a:ext cx="5048250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087F83"/>
                </a:solidFill>
                <a:latin typeface="Aptos"/>
              </a:defRPr>
            </a:pPr>
            <a:r>
              <a:t>A4 · Kevin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363450" y="4638675"/>
            <a:ext cx="50482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475" b="1">
                <a:solidFill>
                  <a:srgbClr val="17324D"/>
                </a:solidFill>
                <a:latin typeface="Aptos"/>
              </a:defRPr>
            </a:pPr>
            <a:r>
              <a:t>Reputación y GeoIP</a:t>
            </a:r>
          </a:p>
        </p:txBody>
      </p:sp>
      <p:pic>
        <p:nvPicPr>
          <p:cNvPr id="56" name="Picture 55" descr="Captura real pfSense; recorte visual de 08b-rules-WAN-reputation.png; original sin modificar."/>
          <p:cNvPicPr>
            <a:picLocks noChangeAspect="1"/>
          </p:cNvPicPr>
          <p:nvPr/>
        </p:nvPicPr>
        <p:blipFill>
          <a:blip r:embed="rId4"/>
          <a:srcRect l="59722" t="26667" r="15972" b="51765"/>
          <a:stretch>
            <a:fillRect/>
          </a:stretch>
        </p:blipFill>
        <p:spPr>
          <a:xfrm>
            <a:off x="13315950" y="5095875"/>
            <a:ext cx="3143250" cy="1975770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12325350" y="7115175"/>
            <a:ext cx="5124450" cy="1695450"/>
          </a:xfrm>
          <a:prstGeom prst="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458700" y="7258050"/>
            <a:ext cx="485775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50" b="1">
                <a:solidFill>
                  <a:srgbClr val="087F83"/>
                </a:solidFill>
                <a:latin typeface="Aptos"/>
              </a:defRPr>
            </a:pPr>
            <a:r>
              <a:t>ESPERADO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458700" y="7572375"/>
            <a:ext cx="48577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243B50"/>
                </a:solidFill>
                <a:latin typeface="Aptos"/>
              </a:defRPr>
            </a:pPr>
            <a:r>
              <a:t>3 DROP por cada una de 4 reglas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458700" y="8020050"/>
            <a:ext cx="48577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350" b="1">
                <a:solidFill>
                  <a:srgbClr val="087F83"/>
                </a:solidFill>
                <a:latin typeface="Aptos"/>
              </a:defRPr>
            </a:pPr>
            <a:r>
              <a:t>OBTENIDO · PRUEBA REAL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458700" y="8315325"/>
            <a:ext cx="48577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75" b="1">
                <a:solidFill>
                  <a:srgbClr val="17324D"/>
                </a:solidFill>
                <a:latin typeface="Aptos"/>
              </a:defRPr>
            </a:pPr>
            <a:r>
              <a:t>12 DROP; reglas activas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8650" y="9220200"/>
            <a:ext cx="17030700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75" b="1">
                <a:solidFill>
                  <a:srgbClr val="9A5C16"/>
                </a:solidFill>
                <a:latin typeface="Aptos"/>
              </a:defRPr>
            </a:pPr>
            <a:r>
              <a:t>Falta validar: HTTPS y SQLi, respuesta SOAR, llamadas/IA y rendimiento sostenido (A5–A10).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8650" y="9563100"/>
            <a:ext cx="1703070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25" b="0">
                <a:solidFill>
                  <a:srgbClr val="62768A"/>
                </a:solidFill>
                <a:latin typeface="Aptos"/>
              </a:defRPr>
            </a:pPr>
            <a:r>
              <a:t>Capturas nativas recortadas; resultados resumidos de pruebas fechadas. Originales e informes completos en /evidencias.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8650" y="323850"/>
            <a:ext cx="14287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25" b="1">
                <a:solidFill>
                  <a:srgbClr val="087F83"/>
                </a:solidFill>
                <a:latin typeface="Aptos"/>
              </a:defRPr>
            </a:pPr>
            <a:r>
              <a:t>KRONOS SENTINEL  /  AVANCE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762000"/>
            <a:ext cx="16954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900" b="1">
                <a:solidFill>
                  <a:srgbClr val="17324D"/>
                </a:solidFill>
                <a:latin typeface="Aptos"/>
              </a:defRPr>
            </a:pPr>
            <a:r>
              <a:t>Redes y transporte: evidencia de funcionamiento.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1457325"/>
            <a:ext cx="16763999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62768A"/>
                </a:solidFill>
                <a:latin typeface="Aptos"/>
              </a:defRPr>
            </a:pPr>
            <a:r>
              <a:t>A1 y A2 · Resultados ejecutados el 02/10; responsables según la carta Gantt.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650" y="9858375"/>
            <a:ext cx="17030700" cy="19050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650" y="10010775"/>
            <a:ext cx="1581150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25" b="0">
                <a:solidFill>
                  <a:srgbClr val="62768A"/>
                </a:solidFill>
                <a:latin typeface="Aptos"/>
              </a:defRPr>
            </a:pPr>
            <a:r>
              <a:t>Evaluación 2 · APT  |  Corte real: 02 octubre 2026  |  Presentación: 06 octubre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54500" y="9972675"/>
            <a:ext cx="85725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75" b="1">
                <a:solidFill>
                  <a:srgbClr val="087F83"/>
                </a:solidFill>
                <a:latin typeface="Aptos"/>
              </a:defRPr>
            </a:pPr>
            <a:r>
              <a:t>04 / 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650" y="2190750"/>
            <a:ext cx="5505450" cy="674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50" y="2390775"/>
            <a:ext cx="5048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087F83"/>
                </a:solidFill>
                <a:latin typeface="Aptos"/>
              </a:defRPr>
            </a:pPr>
            <a:r>
              <a:t>A1 · Bruno / Freddy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2809875"/>
            <a:ext cx="50482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475" b="1">
                <a:solidFill>
                  <a:srgbClr val="17324D"/>
                </a:solidFill>
                <a:latin typeface="Aptos"/>
              </a:defRPr>
            </a:pPr>
            <a:r>
              <a:t>Kernel y Netmap</a:t>
            </a:r>
          </a:p>
        </p:txBody>
      </p:sp>
      <p:pic>
        <p:nvPicPr>
          <p:cNvPr id="13" name="Picture 12" descr="Transcripción visual de una prueba real fechada; A1-kernel-netmap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7250" y="3476625"/>
            <a:ext cx="5048250" cy="309562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19150" y="6800850"/>
            <a:ext cx="5124450" cy="1885950"/>
          </a:xfrm>
          <a:prstGeom prst="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500" y="6962775"/>
            <a:ext cx="48577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25" b="1">
                <a:solidFill>
                  <a:srgbClr val="087F83"/>
                </a:solidFill>
                <a:latin typeface="Aptos"/>
              </a:defRPr>
            </a:pPr>
            <a:r>
              <a:t>ESPERADO → OBTENIDO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7343775"/>
            <a:ext cx="4857750" cy="657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75" b="1">
                <a:solidFill>
                  <a:srgbClr val="17324D"/>
                </a:solidFill>
                <a:latin typeface="Aptos"/>
              </a:defRPr>
            </a:pPr>
            <a:r>
              <a:t>14 verificaciones correctas → 14 PASS; 0 FAIL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8067674"/>
            <a:ext cx="485775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0">
                <a:solidFill>
                  <a:srgbClr val="62768A"/>
                </a:solidFill>
                <a:latin typeface="Aptos"/>
              </a:defRPr>
            </a:pPr>
            <a:r>
              <a:t>Perfil compatible con el sistema desplegado.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1750" y="2190750"/>
            <a:ext cx="5505450" cy="674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0350" y="2390775"/>
            <a:ext cx="5048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087F83"/>
                </a:solidFill>
                <a:latin typeface="Aptos"/>
              </a:defRPr>
            </a:pPr>
            <a:r>
              <a:t>A2 · Freddy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0350" y="2809875"/>
            <a:ext cx="50482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475" b="1">
                <a:solidFill>
                  <a:srgbClr val="17324D"/>
                </a:solidFill>
                <a:latin typeface="Aptos"/>
              </a:defRPr>
            </a:pPr>
            <a:r>
              <a:t>DHCP y segmentación</a:t>
            </a:r>
          </a:p>
        </p:txBody>
      </p:sp>
      <p:pic>
        <p:nvPicPr>
          <p:cNvPr id="21" name="Picture 20" descr="Transcripción visual de una prueba real fechada; A2-dhcp-segmentacio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10350" y="3476625"/>
            <a:ext cx="5048250" cy="3095625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572250" y="6800850"/>
            <a:ext cx="5124450" cy="1885950"/>
          </a:xfrm>
          <a:prstGeom prst="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5600" y="6962775"/>
            <a:ext cx="48577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25" b="1">
                <a:solidFill>
                  <a:srgbClr val="087F83"/>
                </a:solidFill>
                <a:latin typeface="Aptos"/>
              </a:defRPr>
            </a:pPr>
            <a:r>
              <a:t>ESPERADO → OBTENIDO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600" y="7343775"/>
            <a:ext cx="4857750" cy="657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75" b="1">
                <a:solidFill>
                  <a:srgbClr val="17324D"/>
                </a:solidFill>
                <a:latin typeface="Aptos"/>
              </a:defRPr>
            </a:pPr>
            <a:r>
              <a:t>Redes operativas y aisladas → 16 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5600" y="8067674"/>
            <a:ext cx="485775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0">
                <a:solidFill>
                  <a:srgbClr val="62768A"/>
                </a:solidFill>
                <a:latin typeface="Aptos"/>
              </a:defRPr>
            </a:pPr>
            <a:r>
              <a:t>Aislamiento muestreado TCP/22; MGMT autorizado.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34850" y="2190750"/>
            <a:ext cx="5505450" cy="674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63450" y="2390775"/>
            <a:ext cx="5048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087F83"/>
                </a:solidFill>
                <a:latin typeface="Aptos"/>
              </a:defRPr>
            </a:pPr>
            <a:r>
              <a:t>Base de A1 · Bruno / Freddy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63450" y="2809875"/>
            <a:ext cx="50482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475" b="1">
                <a:solidFill>
                  <a:srgbClr val="17324D"/>
                </a:solidFill>
                <a:latin typeface="Aptos"/>
              </a:defRPr>
            </a:pPr>
            <a:r>
              <a:t>AWS → WAN pfSense</a:t>
            </a:r>
          </a:p>
        </p:txBody>
      </p:sp>
      <p:pic>
        <p:nvPicPr>
          <p:cNvPr id="29" name="Picture 28" descr="Transcripción visual de una prueba real fechada; Transporte-ip-original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363450" y="3476625"/>
            <a:ext cx="5048250" cy="3095625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12325350" y="6800850"/>
            <a:ext cx="5124450" cy="1885950"/>
          </a:xfrm>
          <a:prstGeom prst="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58700" y="6962775"/>
            <a:ext cx="48577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25" b="1">
                <a:solidFill>
                  <a:srgbClr val="087F83"/>
                </a:solidFill>
                <a:latin typeface="Aptos"/>
              </a:defRPr>
            </a:pPr>
            <a:r>
              <a:t>ESPERADO → OBTENIDO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458700" y="7343775"/>
            <a:ext cx="4857750" cy="657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75" b="1">
                <a:solidFill>
                  <a:srgbClr val="17324D"/>
                </a:solidFill>
                <a:latin typeface="Aptos"/>
              </a:defRPr>
            </a:pPr>
            <a:r>
              <a:t>Conservar la IP del cliente → 3 SYN iguales en ambas NIC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458700" y="8067674"/>
            <a:ext cx="485775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0">
                <a:solidFill>
                  <a:srgbClr val="62768A"/>
                </a:solidFill>
                <a:latin typeface="Aptos"/>
              </a:defRPr>
            </a:pPr>
            <a:r>
              <a:t>Prueba de transporte; HTTPS público corresponde a A5.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650" y="9182100"/>
            <a:ext cx="17030700" cy="504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75" b="0">
                <a:solidFill>
                  <a:srgbClr val="62768A"/>
                </a:solidFill>
                <a:latin typeface="Aptos"/>
              </a:defRPr>
            </a:pPr>
            <a:r>
              <a:t>Control actual 02/10 · 17:15 Chile: tailnet y MGMT online; pfSense WebGUI HTTP 200; ambos sensores IPS y guard READY.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08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8650" y="323850"/>
            <a:ext cx="14287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25" b="1">
                <a:solidFill>
                  <a:srgbClr val="087F83"/>
                </a:solidFill>
                <a:latin typeface="Aptos"/>
              </a:defRPr>
            </a:pPr>
            <a:r>
              <a:t>KRONOS SENTINEL  /  AVANCE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" y="762000"/>
            <a:ext cx="16954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900" b="1">
                <a:solidFill>
                  <a:srgbClr val="17324D"/>
                </a:solidFill>
                <a:latin typeface="Aptos"/>
              </a:defRPr>
            </a:pPr>
            <a:r>
              <a:t>Protección: bloqueos reales y recuperación.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" y="1457325"/>
            <a:ext cx="16763999" cy="371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25" b="0">
                <a:solidFill>
                  <a:srgbClr val="62768A"/>
                </a:solidFill>
                <a:latin typeface="Aptos"/>
              </a:defRPr>
            </a:pPr>
            <a:r>
              <a:t>A3 y A4 · Marcadores benignos, contadores de descarte y observación durante fallos controlados.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650" y="9858375"/>
            <a:ext cx="17030700" cy="19050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650" y="10010775"/>
            <a:ext cx="1581150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25" b="0">
                <a:solidFill>
                  <a:srgbClr val="62768A"/>
                </a:solidFill>
                <a:latin typeface="Aptos"/>
              </a:defRPr>
            </a:pPr>
            <a:r>
              <a:t>Evaluación 2 · APT  |  Corte real: 02 octubre 2026  |  Presentación: 06 octubre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54500" y="9972675"/>
            <a:ext cx="85725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75" b="1">
                <a:solidFill>
                  <a:srgbClr val="087F83"/>
                </a:solidFill>
                <a:latin typeface="Aptos"/>
              </a:defRPr>
            </a:pPr>
            <a:r>
              <a:t>05 / 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650" y="2190750"/>
            <a:ext cx="5505450" cy="674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50" y="2390775"/>
            <a:ext cx="5048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087F83"/>
                </a:solidFill>
                <a:latin typeface="Aptos"/>
              </a:defRPr>
            </a:pPr>
            <a:r>
              <a:t>A3 · Bruno / Kevin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2809875"/>
            <a:ext cx="50482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475" b="1">
                <a:solidFill>
                  <a:srgbClr val="17324D"/>
                </a:solidFill>
                <a:latin typeface="Aptos"/>
              </a:defRPr>
            </a:pPr>
            <a:r>
              <a:t>IPS WAN e interno</a:t>
            </a:r>
          </a:p>
        </p:txBody>
      </p:sp>
      <p:pic>
        <p:nvPicPr>
          <p:cNvPr id="13" name="Picture 12" descr="Transcripción visual de una prueba real fechada; A3-ips-wan-interno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7250" y="3476625"/>
            <a:ext cx="5048250" cy="309562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19150" y="6800850"/>
            <a:ext cx="5124450" cy="1885950"/>
          </a:xfrm>
          <a:prstGeom prst="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500" y="6962775"/>
            <a:ext cx="48577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25" b="1">
                <a:solidFill>
                  <a:srgbClr val="087F83"/>
                </a:solidFill>
                <a:latin typeface="Aptos"/>
              </a:defRPr>
            </a:pPr>
            <a:r>
              <a:t>ESPERADO → OBTENIDO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7343775"/>
            <a:ext cx="4857750" cy="657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75" b="1">
                <a:solidFill>
                  <a:srgbClr val="17324D"/>
                </a:solidFill>
                <a:latin typeface="Aptos"/>
              </a:defRPr>
            </a:pPr>
            <a:r>
              <a:t>3 descartes por sensor → 6 DROP nuevos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8067674"/>
            <a:ext cx="485775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0">
                <a:solidFill>
                  <a:srgbClr val="62768A"/>
                </a:solidFill>
                <a:latin typeface="Aptos"/>
              </a:defRPr>
            </a:pPr>
            <a:r>
              <a:t>El tráfico normal respondió antes y después.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1750" y="2190750"/>
            <a:ext cx="5505450" cy="674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0350" y="2390775"/>
            <a:ext cx="5048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087F83"/>
                </a:solidFill>
                <a:latin typeface="Aptos"/>
              </a:defRPr>
            </a:pPr>
            <a:r>
              <a:t>A3 · Bruno / Kevin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0350" y="2809875"/>
            <a:ext cx="50482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475" b="1">
                <a:solidFill>
                  <a:srgbClr val="17324D"/>
                </a:solidFill>
                <a:latin typeface="Aptos"/>
              </a:defRPr>
            </a:pPr>
            <a:r>
              <a:t>Cierre ante fallos</a:t>
            </a:r>
          </a:p>
        </p:txBody>
      </p:sp>
      <p:pic>
        <p:nvPicPr>
          <p:cNvPr id="21" name="Picture 20" descr="Transcripción visual de una prueba real fechada; A3-guard-fallos-reinicio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10350" y="3476625"/>
            <a:ext cx="5048250" cy="3095625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572250" y="6800850"/>
            <a:ext cx="5124450" cy="1885950"/>
          </a:xfrm>
          <a:prstGeom prst="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5600" y="6962775"/>
            <a:ext cx="48577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25" b="1">
                <a:solidFill>
                  <a:srgbClr val="087F83"/>
                </a:solidFill>
                <a:latin typeface="Aptos"/>
              </a:defRPr>
            </a:pPr>
            <a:r>
              <a:t>ESPERADO → OBTENIDO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5600" y="7343775"/>
            <a:ext cx="4857750" cy="657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75" b="1">
                <a:solidFill>
                  <a:srgbClr val="17324D"/>
                </a:solidFill>
                <a:latin typeface="Aptos"/>
              </a:defRPr>
            </a:pPr>
            <a:r>
              <a:t>Cerrar tráfico sin IPS → 0 escapes en reinicio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5600" y="8067674"/>
            <a:ext cx="485775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0">
                <a:solidFill>
                  <a:srgbClr val="62768A"/>
                </a:solidFill>
                <a:latin typeface="Aptos"/>
              </a:defRPr>
            </a:pPr>
            <a:r>
              <a:t>27 muestras; retorno automático. WebGUI disponible en caídas.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34850" y="2190750"/>
            <a:ext cx="5505450" cy="674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63450" y="2390775"/>
            <a:ext cx="5048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1">
                <a:solidFill>
                  <a:srgbClr val="087F83"/>
                </a:solidFill>
                <a:latin typeface="Aptos"/>
              </a:defRPr>
            </a:pPr>
            <a:r>
              <a:t>A4 · Kevin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63450" y="2809875"/>
            <a:ext cx="50482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475" b="1">
                <a:solidFill>
                  <a:srgbClr val="17324D"/>
                </a:solidFill>
                <a:latin typeface="Aptos"/>
              </a:defRPr>
            </a:pPr>
            <a:r>
              <a:t>Reputación y GeoIP</a:t>
            </a:r>
          </a:p>
        </p:txBody>
      </p:sp>
      <p:pic>
        <p:nvPicPr>
          <p:cNvPr id="29" name="Picture 28" descr="Transcripción visual de una prueba real fechada; A4-reputacion-geoi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363450" y="3476625"/>
            <a:ext cx="5048250" cy="3095625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12325350" y="6800850"/>
            <a:ext cx="5124450" cy="1885950"/>
          </a:xfrm>
          <a:prstGeom prst="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58700" y="6962775"/>
            <a:ext cx="48577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25" b="1">
                <a:solidFill>
                  <a:srgbClr val="087F83"/>
                </a:solidFill>
                <a:latin typeface="Aptos"/>
              </a:defRPr>
            </a:pPr>
            <a:r>
              <a:t>ESPERADO → OBTENIDO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458700" y="7343775"/>
            <a:ext cx="4857750" cy="657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75" b="1">
                <a:solidFill>
                  <a:srgbClr val="17324D"/>
                </a:solidFill>
                <a:latin typeface="Aptos"/>
              </a:defRPr>
            </a:pPr>
            <a:r>
              <a:t>3 descartes por cada regla → 12 DROP nuevos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458700" y="8067674"/>
            <a:ext cx="4857750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650" b="0">
                <a:solidFill>
                  <a:srgbClr val="62768A"/>
                </a:solidFill>
                <a:latin typeface="Aptos"/>
              </a:defRPr>
            </a:pPr>
            <a:r>
              <a:t>Tramas locales de prueba; no ataques desde países externos.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650" y="9229725"/>
            <a:ext cx="170307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875" b="1">
                <a:solidFill>
                  <a:srgbClr val="9A5C16"/>
                </a:solidFill>
                <a:latin typeface="Aptos"/>
              </a:defRPr>
            </a:pPr>
            <a:r>
              <a:t>Alcance S7 probado. HTTPS/SQLi, SOAR, voz/IA y pruebas prolongadas corresponden a las actividades siguientes.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