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o" id="{1d824578-ee1c-06b2-5cac-c6db0b6d1f2d}">
          <p14:sldIdLst>
            <p14:sldId id="256"/>
            <p14:sldId id="257"/>
          </p14:sldIdLst>
        </p14:section>
        <p14:section name="Gestión del proyecto" id="{f6553e8b-5737-2f2a-bbb0-4f49eb44c547}">
          <p14:sldIdLst>
            <p14:sldId id="258"/>
            <p14:sldId id="259"/>
            <p14:sldId id="260"/>
          </p14:sldIdLst>
        </p14:section>
        <p14:section name="Solución técnica" id="{17b771da-0d66-6f29-a58f-37323f17a343}">
          <p14:sldIdLst>
            <p14:sldId id="261"/>
            <p14:sldId id="262"/>
            <p14:sldId id="263"/>
          </p14:sldIdLst>
        </p14:section>
        <p14:section name="Calidad y cierre" id="{40bd5250-431c-e9ad-ed22-6df3a08d55eb}">
          <p14:sldIdLst>
            <p14:sldId id="264"/>
            <p14:sldId id="265"/>
          </p14:sldIdLst>
        </p14:section>
        <p14:section name="Anexo: evidencias" id="{cedb312a-b1b8-2369-778f-d2ae6f8bfb8c}">
          <p14:sldIdLst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Bruno. Saludo, nombre del proyecto y presentación de cada integrante con su responsabilidad técnica en esta fase. Cada uno dice en una frase qué hizo: Bruno (arquitectura, borde AWS, IPS, motor KRONOS y agente de voz), Freddy (VLAN y DHCP, telefonía Asterisk y acceso remoto), Cristóbal (HAProxy con HTTPS y límites de tráfico frente a DVWA), Kevin (pfBlockerNG con apoyo de Bruno, verificación de evidencias y liderazgo de la QA final).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Bruno. Recordar el problema y el objetivo general en una frase cada uno. Mencionar que los objetivos específicos son medibles y que el avance de cada uno se muestra en la slide 5. Aclarar lo que el proyecto NO abarca. A la derecha está el flujo completo: del ataque a la llamada al CISO.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Freddy. Explicar que el conjunto cubre las tres fuentes: dificultades (CGNAT, ventana de arranque del IPS, rangos privados en FireHOL), facilitadores (HAProxy nativo, plataforma lista para A6–A8) y retroalimentación docente (evidencia a nivel de sistema operativo). Para cada ajuste decir por qué es la respuesta técnica correcta, no solo qué lo gatilló.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Bruno. Top-Down (Oppenheimer, 2011) ordena el diseño de arriba hacia abajo: primero los requisitos del negocio, luego el diseño lógico, después el físico y por último las pruebas. Estamos en la fase 4, que se repite por cada hito. Kanban (Anderson, 2010) organiza la gestión: cada actividad avanza por estados y solo se declara validada cuando pasa sus criterios de aceptación. Los artefactos de abajo son la prueba de que la metodología se aplicó.
Referencias: Oppenheimer, P. (2011). Top-Down network design (3.ª ed.). Cisco Press. Anderson, D. J. (2010). Kanban: Successful evolutionary change for your technology business. Blue Hole Press.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Cristóbal. Barra gris: lo planificado. Barra de color: lo real. % OE es el cumplimiento del objetivo específico ligado a cada actividad: 100 % = implementado y con evidencia validada; 90 % = falta un criterio (alcance GeoIP en A4, prueba de acceso desde Internet en A5, QoS en A7); 80 % = falta medir el criterio cuantitativo (supresión de falsos positivos en A6, validación de la voz en A8); A9 = 60 % por hitos; A10 = 10 % (QA parcial de A4 y A5). Explicar las desviaciones de 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Freddy. Recorrer la topología de arriba hacia abajo: Internet, borde AWS, túnel WireGuard hasta KRONOS-EDGE, enlace /30 hacia la WAN de pfSense y troncal 802.1Q con las cuatro VLAN. Cuidar la terminología: la VLAN es el dominio de capa 2 y la subred /24 es su direccionamiento de capa 3; pfSense enruta (capa 3) y el bridge de Proxmox conmuta (capa 2). Es un diseño de núcleo colapsado: núcleo y distribución en pfSense, acceso en el bridge.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Kevin (QA). Explicar el ambiente y recorrer la tabla: esperado contra obtenido. A la derecha, dos pruebas reales: la salida de pfctl muestra cuántos paquetes bloqueó cada regla de A4 (tráfico real de Internet, 0 conexiones abiertas) y la consola de KRONOS-EDGE muestra a HAProxy respondiendo 429 desde el sexto intento de login. Las pruebas de A6 a A8 usan ataques generados en el laboratorio; en A10 se repetirán a través de HAProxy y se medirá el tiempo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Cristóbal. Mostrar solo lo implementado en el laboratorio. Seguridad: capas desde la WAN hasta la DMZ, incluido lo que hizo en A5 (HTTPS, cabeceras y límites L7). Tendencias: nube, automatización e IA. Ser transparentes con la QoS: la VLAN de voz existe, pero la priorización aún no está configurada.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Kevin (QA). Es la slide de mayor peso. Cada indicador tiene una evidencia verificable en una slide o en el repositorio. Los tres «en curso» se declaran con honestidad: la QoS de voz (A9), el plan formal de mantenimiento y el plan formal de monitoreo (ambos en A10).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Bruno (cierre) y cada responsable menciona su pendiente. Los pendientes son alcanzables antes de la entrega final porque A1 a A8 ya están implementados. Cerrar con la frase de conclusión.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Freddy. Capturas originales de la WebGUI de pfSense (2-oct). Las VLAN y las reglas son la base del aislamiento probado en A2 (16 de 16 PASS).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Kevin. Suricata y las reglas WAN son capturas del 2-oct; las alertas y el registro son del 25-oct, obtenidos por Kevin con comandos de solo lectura. Las alertas muestran IP públicas reales que intentaron entrar por los puertos 80 y 443.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Cristóbal. Capturas originales del 17 y 18 de octubre: el frontend recibe en 443, el backend entrega a DVWA en la DMZ, el certificado de la CA interna habilita HTTPS y las stick-tables sostienen los límites que producen el 429 visto en la slide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Bruno. La suite de pruebas genera un ataque SQLi simulado y verifica cada etapa: detección de la tautología, bloqueo en la tabla snort2c, respuesta de voz y llamada por Asterisk. La captura de Asterisk muestra la extensión del CISO registrada.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ONOS_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KRONOS SENTINEL · Avance del Proyecto APT · Fase 2 · Equipo 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ONOS_OSCURO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1_img_0" descr="Logo KRONOS SENTI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502920"/>
            <a:ext cx="3749040" cy="3749040"/>
          </a:xfrm>
          <a:prstGeom prst="rect">
            <a:avLst/>
          </a:prstGeom>
        </p:spPr>
      </p:pic>
      <p:sp>
        <p:nvSpPr>
          <p:cNvPr id="3" name="s1_text_1"/>
          <p:cNvSpPr txBox="1"/>
          <p:nvPr/>
        </p:nvSpPr>
        <p:spPr>
          <a:xfrm>
            <a:off x="548640" y="6858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PTY4624 CAPSTONE · AVANCE DEL PROYECTO APT · FASE 2</a:t>
            </a:r>
            <a:endParaRPr lang="en-US" sz="1300" dirty="0"/>
          </a:p>
        </p:txBody>
      </p:sp>
      <p:sp>
        <p:nvSpPr>
          <p:cNvPr id="4" name="s1_text_2"/>
          <p:cNvSpPr txBox="1"/>
          <p:nvPr/>
        </p:nvSpPr>
        <p:spPr>
          <a:xfrm>
            <a:off x="548640" y="109728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KRONOS SENTINEL</a:t>
            </a:r>
            <a:endParaRPr lang="en-US" sz="4800" dirty="0"/>
          </a:p>
        </p:txBody>
      </p:sp>
      <p:sp>
        <p:nvSpPr>
          <p:cNvPr id="5" name="s1_text_3"/>
          <p:cNvSpPr txBox="1"/>
          <p:nvPr/>
        </p:nvSpPr>
        <p:spPr>
          <a:xfrm>
            <a:off x="548640" y="20116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Defensa perimetral que detecta, bloquea en el kernel y avisa por voz con IA al responsable de seguridad</a:t>
            </a:r>
            <a:endParaRPr lang="en-US" sz="1700" dirty="0"/>
          </a:p>
        </p:txBody>
      </p:sp>
      <p:sp>
        <p:nvSpPr>
          <p:cNvPr id="6" name="s1_rect_4"/>
          <p:cNvSpPr/>
          <p:nvPr/>
        </p:nvSpPr>
        <p:spPr>
          <a:xfrm>
            <a:off x="548640" y="315468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B2436"/>
          </a:solidFill>
          <a:ln/>
        </p:spPr>
      </p:sp>
      <p:sp>
        <p:nvSpPr>
          <p:cNvPr id="7" name="s1_text_5"/>
          <p:cNvSpPr txBox="1"/>
          <p:nvPr/>
        </p:nvSpPr>
        <p:spPr>
          <a:xfrm>
            <a:off x="731520" y="3291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Bruno Urrea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· arquitectura de seguridad</a:t>
            </a:r>
            <a:endParaRPr lang="en-US" sz="16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· A3 · A6 · A8 · borde AWS</a:t>
            </a:r>
            <a:endParaRPr lang="en-US" sz="1600" dirty="0"/>
          </a:p>
        </p:txBody>
      </p:sp>
      <p:sp>
        <p:nvSpPr>
          <p:cNvPr id="8" name="s1_rect_6"/>
          <p:cNvSpPr/>
          <p:nvPr/>
        </p:nvSpPr>
        <p:spPr>
          <a:xfrm>
            <a:off x="4160520" y="315468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B2436"/>
          </a:solidFill>
          <a:ln/>
        </p:spPr>
      </p:sp>
      <p:sp>
        <p:nvSpPr>
          <p:cNvPr id="9" name="s1_text_7"/>
          <p:cNvSpPr txBox="1"/>
          <p:nvPr/>
        </p:nvSpPr>
        <p:spPr>
          <a:xfrm>
            <a:off x="4343400" y="3291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Freddy Vásquez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y telefonía IP</a:t>
            </a:r>
            <a:endParaRPr lang="en-US" sz="16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· A2 · A7 · A9</a:t>
            </a:r>
            <a:endParaRPr lang="en-US" sz="1600" dirty="0"/>
          </a:p>
        </p:txBody>
      </p:sp>
      <p:sp>
        <p:nvSpPr>
          <p:cNvPr id="10" name="s1_rect_8"/>
          <p:cNvSpPr/>
          <p:nvPr/>
        </p:nvSpPr>
        <p:spPr>
          <a:xfrm>
            <a:off x="548640" y="448056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B2436"/>
          </a:solidFill>
          <a:ln/>
        </p:spPr>
      </p:sp>
      <p:sp>
        <p:nvSpPr>
          <p:cNvPr id="11" name="s1_text_9"/>
          <p:cNvSpPr txBox="1"/>
          <p:nvPr/>
        </p:nvSpPr>
        <p:spPr>
          <a:xfrm>
            <a:off x="731520" y="4617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Cristóbal Quezada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web y DMZ</a:t>
            </a:r>
            <a:endParaRPr lang="en-US" sz="16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 HAProxy HTTPS + DVWA</a:t>
            </a:r>
            <a:endParaRPr lang="en-US" sz="1600" dirty="0"/>
          </a:p>
        </p:txBody>
      </p:sp>
      <p:sp>
        <p:nvSpPr>
          <p:cNvPr id="12" name="s1_rect_10"/>
          <p:cNvSpPr/>
          <p:nvPr/>
        </p:nvSpPr>
        <p:spPr>
          <a:xfrm>
            <a:off x="4160520" y="448056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B2436"/>
          </a:solidFill>
          <a:ln/>
        </p:spPr>
      </p:sp>
      <p:sp>
        <p:nvSpPr>
          <p:cNvPr id="13" name="s1_text_11"/>
          <p:cNvSpPr txBox="1"/>
          <p:nvPr/>
        </p:nvSpPr>
        <p:spPr>
          <a:xfrm>
            <a:off x="4343400" y="4617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Retamales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 perimetral y QA</a:t>
            </a:r>
            <a:endParaRPr lang="en-US" sz="16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pfBlockerNG · verificación A3 · QA (A10)</a:t>
            </a:r>
            <a:endParaRPr lang="en-US" sz="1600" dirty="0"/>
          </a:p>
        </p:txBody>
      </p:sp>
      <p:sp>
        <p:nvSpPr>
          <p:cNvPr id="14" name="s1_text_12"/>
          <p:cNvSpPr txBox="1"/>
          <p:nvPr/>
        </p:nvSpPr>
        <p:spPr>
          <a:xfrm>
            <a:off x="548640" y="5897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5 · Docente: Claudia Reinoso · Ingeniería en Conectividad y Redes · Duoc UC San Joaquín · 27 de octubre de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 en una mirada</a:t>
            </a:r>
            <a:endParaRPr lang="en-US" sz="3000" dirty="0"/>
          </a:p>
        </p:txBody>
      </p:sp>
      <p:sp>
        <p:nvSpPr>
          <p:cNvPr id="3" name="s2_text_0"/>
          <p:cNvSpPr txBox="1"/>
          <p:nvPr/>
        </p:nvSpPr>
        <p:spPr>
          <a:xfrm>
            <a:off x="457200" y="1234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400" dirty="0"/>
          </a:p>
        </p:txBody>
      </p:sp>
      <p:sp>
        <p:nvSpPr>
          <p:cNvPr id="4" name="s2_text_1"/>
          <p:cNvSpPr txBox="1"/>
          <p:nvPr/>
        </p:nvSpPr>
        <p:spPr>
          <a:xfrm>
            <a:off x="2468880" y="12344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SOC reciben más de un 50 % de alertas falsas y el aviso al CISO llega tarde.</a:t>
            </a:r>
            <a:endParaRPr lang="en-US" sz="1400" dirty="0"/>
          </a:p>
        </p:txBody>
      </p:sp>
      <p:sp>
        <p:nvSpPr>
          <p:cNvPr id="5" name="s2_text_2"/>
          <p:cNvSpPr txBox="1"/>
          <p:nvPr/>
        </p:nvSpPr>
        <p:spPr>
          <a:xfrm>
            <a:off x="457200" y="2011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</a:t>
            </a:r>
            <a:endParaRPr lang="en-US" sz="1400" dirty="0"/>
          </a:p>
        </p:txBody>
      </p:sp>
      <p:sp>
        <p:nvSpPr>
          <p:cNvPr id="6" name="s2_text_3"/>
          <p:cNvSpPr txBox="1"/>
          <p:nvPr/>
        </p:nvSpPr>
        <p:spPr>
          <a:xfrm>
            <a:off x="2468880" y="20116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Diseñar, implementar y validar KRONOS SENTINEL: defensa SOAR de costo cero que bloquea al atacante en el kernel y avisa por voz con IA.</a:t>
            </a:r>
            <a:endParaRPr lang="en-US" sz="1400" dirty="0"/>
          </a:p>
        </p:txBody>
      </p:sp>
      <p:sp>
        <p:nvSpPr>
          <p:cNvPr id="7" name="s2_text_4"/>
          <p:cNvSpPr txBox="1"/>
          <p:nvPr/>
        </p:nvSpPr>
        <p:spPr>
          <a:xfrm>
            <a:off x="457200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específicos</a:t>
            </a:r>
            <a:endParaRPr lang="en-US" sz="1400" dirty="0"/>
          </a:p>
        </p:txBody>
      </p:sp>
      <p:sp>
        <p:nvSpPr>
          <p:cNvPr id="8" name="s2_text_5"/>
          <p:cNvSpPr txBox="1"/>
          <p:nvPr/>
        </p:nvSpPr>
        <p:spPr>
          <a:xfrm>
            <a:off x="2468880" y="3063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objetivos medibles: 4 VLAN, IPS Inline, GeoIP y reputación, HTTPS con límites L7, correlación con más de 50 % menos falsos positivos, bloqueo con pfctl, llamada de voz y respuesta total menor a 1,5 s.</a:t>
            </a:r>
            <a:endParaRPr lang="en-US" sz="1400" dirty="0"/>
          </a:p>
        </p:txBody>
      </p:sp>
      <p:sp>
        <p:nvSpPr>
          <p:cNvPr id="9" name="s2_text_6"/>
          <p:cNvSpPr txBox="1"/>
          <p:nvPr/>
        </p:nvSpPr>
        <p:spPr>
          <a:xfrm>
            <a:off x="457200" y="43434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</a:t>
            </a:r>
            <a:endParaRPr lang="en-US" sz="1400" dirty="0"/>
          </a:p>
        </p:txBody>
      </p:sp>
      <p:sp>
        <p:nvSpPr>
          <p:cNvPr id="10" name="s2_text_7"/>
          <p:cNvSpPr txBox="1"/>
          <p:nvPr/>
        </p:nvSpPr>
        <p:spPr>
          <a:xfrm>
            <a:off x="2468880" y="43434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virtual (Proxmox VE + AWS) con 6 VM y ataques web simulados (SQLi) contra DVWA.</a:t>
            </a:r>
            <a:endParaRPr lang="en-US" sz="1400" dirty="0"/>
          </a:p>
        </p:txBody>
      </p:sp>
      <p:sp>
        <p:nvSpPr>
          <p:cNvPr id="11" name="s2_text_8"/>
          <p:cNvSpPr txBox="1"/>
          <p:nvPr/>
        </p:nvSpPr>
        <p:spPr>
          <a:xfrm>
            <a:off x="457200" y="5166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abarca</a:t>
            </a:r>
            <a:endParaRPr lang="en-US" sz="1400" dirty="0"/>
          </a:p>
        </p:txBody>
      </p:sp>
      <p:sp>
        <p:nvSpPr>
          <p:cNvPr id="12" name="s2_text_9"/>
          <p:cNvSpPr txBox="1"/>
          <p:nvPr/>
        </p:nvSpPr>
        <p:spPr>
          <a:xfrm>
            <a:off x="2468880" y="51663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productiva de un cliente, hardware físico dedicado, operación SOC 24/7 ni ataques fuera de la capa web.</a:t>
            </a:r>
            <a:endParaRPr lang="en-US" sz="1400" dirty="0"/>
          </a:p>
        </p:txBody>
      </p:sp>
      <p:sp>
        <p:nvSpPr>
          <p:cNvPr id="13" name="s2_rect_10"/>
          <p:cNvSpPr/>
          <p:nvPr/>
        </p:nvSpPr>
        <p:spPr>
          <a:xfrm>
            <a:off x="8001000" y="1188720"/>
            <a:ext cx="3749040" cy="5074920"/>
          </a:xfrm>
          <a:prstGeom prst="roundRect">
            <a:avLst>
              <a:gd name="adj" fmla="val 2439"/>
            </a:avLst>
          </a:prstGeom>
          <a:solidFill>
            <a:srgbClr val="F3F4F6"/>
          </a:solidFill>
          <a:ln/>
        </p:spPr>
      </p:sp>
      <p:sp>
        <p:nvSpPr>
          <p:cNvPr id="14" name="s2_rect_11"/>
          <p:cNvSpPr/>
          <p:nvPr/>
        </p:nvSpPr>
        <p:spPr>
          <a:xfrm>
            <a:off x="8229600" y="137160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0F1626"/>
          </a:solidFill>
          <a:ln/>
        </p:spPr>
      </p:sp>
      <p:sp>
        <p:nvSpPr>
          <p:cNvPr id="15" name="s2_text_12"/>
          <p:cNvSpPr txBox="1"/>
          <p:nvPr/>
        </p:nvSpPr>
        <p:spPr>
          <a:xfrm>
            <a:off x="82296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s2_text_13"/>
          <p:cNvSpPr txBox="1"/>
          <p:nvPr/>
        </p:nvSpPr>
        <p:spPr>
          <a:xfrm>
            <a:off x="8915400" y="13258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Ataque web (SQLi)</a:t>
            </a:r>
            <a:endParaRPr lang="en-US" sz="1300" dirty="0"/>
          </a:p>
        </p:txBody>
      </p:sp>
      <p:sp>
        <p:nvSpPr>
          <p:cNvPr id="17" name="s2_rect_14"/>
          <p:cNvSpPr/>
          <p:nvPr/>
        </p:nvSpPr>
        <p:spPr>
          <a:xfrm>
            <a:off x="8229600" y="2176272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0F1626"/>
          </a:solidFill>
          <a:ln/>
        </p:spPr>
      </p:sp>
      <p:sp>
        <p:nvSpPr>
          <p:cNvPr id="18" name="s2_text_15"/>
          <p:cNvSpPr txBox="1"/>
          <p:nvPr/>
        </p:nvSpPr>
        <p:spPr>
          <a:xfrm>
            <a:off x="822960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2_text_16"/>
          <p:cNvSpPr txBox="1"/>
          <p:nvPr/>
        </p:nvSpPr>
        <p:spPr>
          <a:xfrm>
            <a:off x="8915400" y="213055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IPS Suricata + GeoIP y reputación</a:t>
            </a:r>
            <a:endParaRPr lang="en-US" sz="1300" dirty="0"/>
          </a:p>
        </p:txBody>
      </p:sp>
      <p:sp>
        <p:nvSpPr>
          <p:cNvPr id="20" name="s2_rect_17"/>
          <p:cNvSpPr/>
          <p:nvPr/>
        </p:nvSpPr>
        <p:spPr>
          <a:xfrm>
            <a:off x="8229600" y="2980944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0F1626"/>
          </a:solidFill>
          <a:ln/>
        </p:spPr>
      </p:sp>
      <p:sp>
        <p:nvSpPr>
          <p:cNvPr id="21" name="s2_text_18"/>
          <p:cNvSpPr txBox="1"/>
          <p:nvPr/>
        </p:nvSpPr>
        <p:spPr>
          <a:xfrm>
            <a:off x="8229600" y="2980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2_text_19"/>
          <p:cNvSpPr txBox="1"/>
          <p:nvPr/>
        </p:nvSpPr>
        <p:spPr>
          <a:xfrm>
            <a:off x="8915400" y="2935224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HAProxy: TLS y límites L7</a:t>
            </a:r>
            <a:endParaRPr lang="en-US" sz="1300" dirty="0"/>
          </a:p>
        </p:txBody>
      </p:sp>
      <p:sp>
        <p:nvSpPr>
          <p:cNvPr id="23" name="s2_rect_20"/>
          <p:cNvSpPr/>
          <p:nvPr/>
        </p:nvSpPr>
        <p:spPr>
          <a:xfrm>
            <a:off x="8229600" y="3785616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0F1626"/>
          </a:solidFill>
          <a:ln/>
        </p:spPr>
      </p:sp>
      <p:sp>
        <p:nvSpPr>
          <p:cNvPr id="24" name="s2_text_21"/>
          <p:cNvSpPr txBox="1"/>
          <p:nvPr/>
        </p:nvSpPr>
        <p:spPr>
          <a:xfrm>
            <a:off x="8229600" y="3785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2_text_22"/>
          <p:cNvSpPr txBox="1"/>
          <p:nvPr/>
        </p:nvSpPr>
        <p:spPr>
          <a:xfrm>
            <a:off x="8915400" y="3739896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KRONOS: análisis AST</a:t>
            </a:r>
            <a:endParaRPr lang="en-US" sz="1300" dirty="0"/>
          </a:p>
        </p:txBody>
      </p:sp>
      <p:sp>
        <p:nvSpPr>
          <p:cNvPr id="26" name="s2_rect_23"/>
          <p:cNvSpPr/>
          <p:nvPr/>
        </p:nvSpPr>
        <p:spPr>
          <a:xfrm>
            <a:off x="8229600" y="4590288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0F1626"/>
          </a:solidFill>
          <a:ln/>
        </p:spPr>
      </p:sp>
      <p:sp>
        <p:nvSpPr>
          <p:cNvPr id="27" name="s2_text_24"/>
          <p:cNvSpPr txBox="1"/>
          <p:nvPr/>
        </p:nvSpPr>
        <p:spPr>
          <a:xfrm>
            <a:off x="8229600" y="4590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s2_text_25"/>
          <p:cNvSpPr txBox="1"/>
          <p:nvPr/>
        </p:nvSpPr>
        <p:spPr>
          <a:xfrm>
            <a:off x="8915400" y="454456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Bloqueo en kernel (pfctl · snort2c)</a:t>
            </a:r>
            <a:endParaRPr lang="en-US" sz="1300" dirty="0"/>
          </a:p>
        </p:txBody>
      </p:sp>
      <p:sp>
        <p:nvSpPr>
          <p:cNvPr id="29" name="s2_rect_26"/>
          <p:cNvSpPr/>
          <p:nvPr/>
        </p:nvSpPr>
        <p:spPr>
          <a:xfrm>
            <a:off x="8229600" y="539496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C81E4E"/>
          </a:solidFill>
          <a:ln/>
        </p:spPr>
      </p:sp>
      <p:sp>
        <p:nvSpPr>
          <p:cNvPr id="30" name="s2_text_27"/>
          <p:cNvSpPr txBox="1"/>
          <p:nvPr/>
        </p:nvSpPr>
        <p:spPr>
          <a:xfrm>
            <a:off x="822960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s2_text_28"/>
          <p:cNvSpPr txBox="1"/>
          <p:nvPr/>
        </p:nvSpPr>
        <p:spPr>
          <a:xfrm>
            <a:off x="8915400" y="53492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Llamada de voz con IA al CISO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al proyecto y su origen</a:t>
            </a:r>
            <a:endParaRPr lang="en-US" sz="3000" dirty="0"/>
          </a:p>
        </p:txBody>
      </p:sp>
      <p:graphicFrame>
        <p:nvGraphicFramePr>
          <p:cNvPr id="4" name="s3_table_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880360"/>
                <a:gridCol w="3931920"/>
                <a:gridCol w="19202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Ajuste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Justificación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 en alcance o plazo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Borde público en AWS EC2 con túnel WireGuard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81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Dificultad: 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enlace del laboratorio está tras CGNAT y no permite publicar servicios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 una IP pública estable y conserva la IP original del atacante (sin SNAT), requisito de GeoIP, reputación y KRONOS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 VM (VM100 KRONOS-EDGE)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 IPS con cierre ante fallos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81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Dificultad: 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Suricata deja pasar tráfico unos 70 s mientras arranca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Cierra el tráfico en menos de 1,2 s si un motor cae y lo reabre solo cuando está listo: 0 escapes en 27 muestras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A3 cerró el 2-oct (+5 días)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FireHOL con supresión de redes privadas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81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Dificultad: 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lista incluye rangos privados y CGNAT que cortarían la red interna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Bloquea solo direcciones públicas maliciosas sin afectar la gestión ni las VLAN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Tablas PF ampliadas a 2.000.000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HAProxy como paquete nativo de pfSense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Facilitador: 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pfSense integra HAProxy y un gestor de certificados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 TLS y aplica límites L7 en el mismo firewall, sin una VM adicional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A5 dentro de plazo (17–18 oct)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Adelanto de A6, A7 y A8; voz por puente EAGI de Asterisk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Facilitador: 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Asterisk en Docker y API Gemini disponibles antes de lo previsto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Permite probar el flujo completo antes de la QA final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Implementados en S11 (plan: S11–S15)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Evidencia a nivel de sistema operativo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Retroalimentación docente: 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capturas de pantalla por sí solas no bastan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Salidas nativas de pfctl, haproxy -c y curl, con fecha y hora, además de las capturas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Colecciones A5 (18-oct) y A4 (25-oct)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Metodología: Top-Down Network Design + Kanban</a:t>
            </a:r>
            <a:endParaRPr lang="en-US" sz="3000" dirty="0"/>
          </a:p>
        </p:txBody>
      </p:sp>
      <p:sp>
        <p:nvSpPr>
          <p:cNvPr id="3" name="s4_text_0"/>
          <p:cNvSpPr txBox="1"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red: </a:t>
            </a:r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 Network Design (Oppenheimer, 2011)</a:t>
            </a:r>
            <a:endParaRPr lang="en-US" sz="1500" dirty="0"/>
          </a:p>
        </p:txBody>
      </p:sp>
      <p:sp>
        <p:nvSpPr>
          <p:cNvPr id="4" name="s4_rect_1"/>
          <p:cNvSpPr/>
          <p:nvPr/>
        </p:nvSpPr>
        <p:spPr>
          <a:xfrm>
            <a:off x="457200" y="15544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/>
        </p:spPr>
      </p:sp>
      <p:sp>
        <p:nvSpPr>
          <p:cNvPr id="5" name="s4_text_2"/>
          <p:cNvSpPr txBox="1"/>
          <p:nvPr/>
        </p:nvSpPr>
        <p:spPr>
          <a:xfrm>
            <a:off x="59436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Requisitos y objetivos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1: problema, objetivos medibles y restricción de costo cero</a:t>
            </a:r>
            <a:endParaRPr lang="en-US" sz="1300" dirty="0"/>
          </a:p>
        </p:txBody>
      </p:sp>
      <p:sp>
        <p:nvSpPr>
          <p:cNvPr id="6" name="s4_rect_3"/>
          <p:cNvSpPr/>
          <p:nvPr/>
        </p:nvSpPr>
        <p:spPr>
          <a:xfrm>
            <a:off x="3291840" y="15544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/>
        </p:spPr>
      </p:sp>
      <p:sp>
        <p:nvSpPr>
          <p:cNvPr id="7" name="s4_text_4"/>
          <p:cNvSpPr txBox="1"/>
          <p:nvPr/>
        </p:nvSpPr>
        <p:spPr>
          <a:xfrm>
            <a:off x="342900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Diseño lógico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VLAN e IP, políticas Zero Trust y flujo SOAR</a:t>
            </a:r>
            <a:endParaRPr lang="en-US" sz="1300" dirty="0"/>
          </a:p>
        </p:txBody>
      </p:sp>
      <p:sp>
        <p:nvSpPr>
          <p:cNvPr id="8" name="s4_rect_5"/>
          <p:cNvSpPr/>
          <p:nvPr/>
        </p:nvSpPr>
        <p:spPr>
          <a:xfrm>
            <a:off x="6126480" y="15544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/>
        </p:spPr>
      </p:sp>
      <p:sp>
        <p:nvSpPr>
          <p:cNvPr id="9" name="s4_text_6"/>
          <p:cNvSpPr txBox="1"/>
          <p:nvPr/>
        </p:nvSpPr>
        <p:spPr>
          <a:xfrm>
            <a:off x="626364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Diseño físico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VM en Proxmox, borde AWS y troncal 802.1Q</a:t>
            </a:r>
            <a:endParaRPr lang="en-US" sz="1300" dirty="0"/>
          </a:p>
        </p:txBody>
      </p:sp>
      <p:sp>
        <p:nvSpPr>
          <p:cNvPr id="10" name="s4_rect_7"/>
          <p:cNvSpPr/>
          <p:nvPr/>
        </p:nvSpPr>
        <p:spPr>
          <a:xfrm>
            <a:off x="8961120" y="15544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CE7EE"/>
          </a:solidFill>
          <a:ln w="19050">
            <a:solidFill>
              <a:srgbClr val="C81E4E"/>
            </a:solidFill>
            <a:prstDash val="solid"/>
          </a:ln>
        </p:spPr>
      </p:sp>
      <p:sp>
        <p:nvSpPr>
          <p:cNvPr id="11" name="s4_text_8"/>
          <p:cNvSpPr txBox="1"/>
          <p:nvPr/>
        </p:nvSpPr>
        <p:spPr>
          <a:xfrm>
            <a:off x="909828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Pruebas, optimización y documentación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PASS/FAIL, evidencias fechadas y ajustes</a:t>
            </a:r>
            <a:endParaRPr lang="en-US" sz="1300" dirty="0"/>
          </a:p>
        </p:txBody>
      </p:sp>
      <p:sp>
        <p:nvSpPr>
          <p:cNvPr id="12" name="s4_text_9"/>
          <p:cNvSpPr txBox="1"/>
          <p:nvPr/>
        </p:nvSpPr>
        <p:spPr>
          <a:xfrm>
            <a:off x="10195560" y="1325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ACTUAL</a:t>
            </a:r>
            <a:endParaRPr lang="en-US" sz="1000" dirty="0"/>
          </a:p>
        </p:txBody>
      </p:sp>
      <p:sp>
        <p:nvSpPr>
          <p:cNvPr id="13" name="s4_text_10"/>
          <p:cNvSpPr txBox="1"/>
          <p:nvPr/>
        </p:nvSpPr>
        <p:spPr>
          <a:xfrm>
            <a:off x="457200" y="3017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Gestión: </a:t>
            </a:r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por estados de cada actividad (Anderson, 2010)</a:t>
            </a:r>
            <a:endParaRPr lang="en-US" sz="1500" dirty="0"/>
          </a:p>
        </p:txBody>
      </p:sp>
      <p:sp>
        <p:nvSpPr>
          <p:cNvPr id="14" name="s4_rect_11"/>
          <p:cNvSpPr/>
          <p:nvPr/>
        </p:nvSpPr>
        <p:spPr>
          <a:xfrm>
            <a:off x="457200" y="342900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3F4F6"/>
          </a:solidFill>
          <a:ln/>
        </p:spPr>
      </p:sp>
      <p:sp>
        <p:nvSpPr>
          <p:cNvPr id="15" name="s4_text_12"/>
          <p:cNvSpPr txBox="1"/>
          <p:nvPr/>
        </p:nvSpPr>
        <p:spPr>
          <a:xfrm>
            <a:off x="59436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hacer  (1)</a:t>
            </a:r>
            <a:endParaRPr lang="en-US" sz="1300" dirty="0"/>
          </a:p>
        </p:txBody>
      </p:sp>
      <p:sp>
        <p:nvSpPr>
          <p:cNvPr id="16" name="s4_rect_13"/>
          <p:cNvSpPr/>
          <p:nvPr/>
        </p:nvSpPr>
        <p:spPr>
          <a:xfrm>
            <a:off x="594360" y="38862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4_text_14"/>
          <p:cNvSpPr txBox="1"/>
          <p:nvPr/>
        </p:nvSpPr>
        <p:spPr>
          <a:xfrm>
            <a:off x="704088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 QA integral</a:t>
            </a:r>
            <a:endParaRPr lang="en-US" sz="1200" dirty="0"/>
          </a:p>
        </p:txBody>
      </p:sp>
      <p:sp>
        <p:nvSpPr>
          <p:cNvPr id="18" name="s4_rect_15"/>
          <p:cNvSpPr/>
          <p:nvPr/>
        </p:nvSpPr>
        <p:spPr>
          <a:xfrm>
            <a:off x="3291840" y="342900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3F4F6"/>
          </a:solidFill>
          <a:ln/>
        </p:spPr>
      </p:sp>
      <p:sp>
        <p:nvSpPr>
          <p:cNvPr id="19" name="s4_text_16"/>
          <p:cNvSpPr txBox="1"/>
          <p:nvPr/>
        </p:nvSpPr>
        <p:spPr>
          <a:xfrm>
            <a:off x="342900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Configurado  (1)</a:t>
            </a:r>
            <a:endParaRPr lang="en-US" sz="1300" dirty="0"/>
          </a:p>
        </p:txBody>
      </p:sp>
      <p:sp>
        <p:nvSpPr>
          <p:cNvPr id="20" name="s4_rect_17"/>
          <p:cNvSpPr/>
          <p:nvPr/>
        </p:nvSpPr>
        <p:spPr>
          <a:xfrm>
            <a:off x="3429000" y="38862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4_text_18"/>
          <p:cNvSpPr txBox="1"/>
          <p:nvPr/>
        </p:nvSpPr>
        <p:spPr>
          <a:xfrm>
            <a:off x="3538728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A9 Acceso remoto (60 %)</a:t>
            </a:r>
            <a:endParaRPr lang="en-US" sz="1200" dirty="0"/>
          </a:p>
        </p:txBody>
      </p:sp>
      <p:sp>
        <p:nvSpPr>
          <p:cNvPr id="22" name="s4_rect_19"/>
          <p:cNvSpPr/>
          <p:nvPr/>
        </p:nvSpPr>
        <p:spPr>
          <a:xfrm>
            <a:off x="6126480" y="342900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3F4F6"/>
          </a:solidFill>
          <a:ln/>
        </p:spPr>
      </p:sp>
      <p:sp>
        <p:nvSpPr>
          <p:cNvPr id="23" name="s4_text_20"/>
          <p:cNvSpPr txBox="1"/>
          <p:nvPr/>
        </p:nvSpPr>
        <p:spPr>
          <a:xfrm>
            <a:off x="626364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Probado  (4)</a:t>
            </a:r>
            <a:endParaRPr lang="en-US" sz="1300" dirty="0"/>
          </a:p>
        </p:txBody>
      </p:sp>
      <p:sp>
        <p:nvSpPr>
          <p:cNvPr id="24" name="s4_rect_21"/>
          <p:cNvSpPr/>
          <p:nvPr/>
        </p:nvSpPr>
        <p:spPr>
          <a:xfrm>
            <a:off x="6263640" y="38862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4_text_22"/>
          <p:cNvSpPr txBox="1"/>
          <p:nvPr/>
        </p:nvSpPr>
        <p:spPr>
          <a:xfrm>
            <a:off x="6373368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 HAProxy</a:t>
            </a:r>
            <a:endParaRPr lang="en-US" sz="1200" dirty="0"/>
          </a:p>
        </p:txBody>
      </p:sp>
      <p:sp>
        <p:nvSpPr>
          <p:cNvPr id="26" name="s4_rect_23"/>
          <p:cNvSpPr/>
          <p:nvPr/>
        </p:nvSpPr>
        <p:spPr>
          <a:xfrm>
            <a:off x="6263640" y="43434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s4_text_24"/>
          <p:cNvSpPr txBox="1"/>
          <p:nvPr/>
        </p:nvSpPr>
        <p:spPr>
          <a:xfrm>
            <a:off x="6373368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A6 Motor KRONOS</a:t>
            </a:r>
            <a:endParaRPr lang="en-US" sz="1200" dirty="0"/>
          </a:p>
        </p:txBody>
      </p:sp>
      <p:sp>
        <p:nvSpPr>
          <p:cNvPr id="28" name="s4_rect_25"/>
          <p:cNvSpPr/>
          <p:nvPr/>
        </p:nvSpPr>
        <p:spPr>
          <a:xfrm>
            <a:off x="6263640" y="48006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s4_text_26"/>
          <p:cNvSpPr txBox="1"/>
          <p:nvPr/>
        </p:nvSpPr>
        <p:spPr>
          <a:xfrm>
            <a:off x="6373368" y="4800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A7 Asterisk</a:t>
            </a:r>
            <a:endParaRPr lang="en-US" sz="1200" dirty="0"/>
          </a:p>
        </p:txBody>
      </p:sp>
      <p:sp>
        <p:nvSpPr>
          <p:cNvPr id="30" name="s4_rect_27"/>
          <p:cNvSpPr/>
          <p:nvPr/>
        </p:nvSpPr>
        <p:spPr>
          <a:xfrm>
            <a:off x="6263640" y="52578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s4_text_28"/>
          <p:cNvSpPr txBox="1"/>
          <p:nvPr/>
        </p:nvSpPr>
        <p:spPr>
          <a:xfrm>
            <a:off x="6373368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A8 Gemini Live</a:t>
            </a:r>
            <a:endParaRPr lang="en-US" sz="1200" dirty="0"/>
          </a:p>
        </p:txBody>
      </p:sp>
      <p:sp>
        <p:nvSpPr>
          <p:cNvPr id="32" name="s4_rect_29"/>
          <p:cNvSpPr/>
          <p:nvPr/>
        </p:nvSpPr>
        <p:spPr>
          <a:xfrm>
            <a:off x="8961120" y="342900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3F4F6"/>
          </a:solidFill>
          <a:ln/>
        </p:spPr>
      </p:sp>
      <p:sp>
        <p:nvSpPr>
          <p:cNvPr id="33" name="s4_text_30"/>
          <p:cNvSpPr txBox="1"/>
          <p:nvPr/>
        </p:nvSpPr>
        <p:spPr>
          <a:xfrm>
            <a:off x="909828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Validado (QA)  (4)</a:t>
            </a:r>
            <a:endParaRPr lang="en-US" sz="1300" dirty="0"/>
          </a:p>
        </p:txBody>
      </p:sp>
      <p:sp>
        <p:nvSpPr>
          <p:cNvPr id="34" name="s4_rect_31"/>
          <p:cNvSpPr/>
          <p:nvPr/>
        </p:nvSpPr>
        <p:spPr>
          <a:xfrm>
            <a:off x="9098280" y="38862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5" name="s4_text_32"/>
          <p:cNvSpPr txBox="1"/>
          <p:nvPr/>
        </p:nvSpPr>
        <p:spPr>
          <a:xfrm>
            <a:off x="9208008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Base pfSense</a:t>
            </a:r>
            <a:endParaRPr lang="en-US" sz="1200" dirty="0"/>
          </a:p>
        </p:txBody>
      </p:sp>
      <p:sp>
        <p:nvSpPr>
          <p:cNvPr id="36" name="s4_rect_33"/>
          <p:cNvSpPr/>
          <p:nvPr/>
        </p:nvSpPr>
        <p:spPr>
          <a:xfrm>
            <a:off x="9098280" y="43434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7" name="s4_text_34"/>
          <p:cNvSpPr txBox="1"/>
          <p:nvPr/>
        </p:nvSpPr>
        <p:spPr>
          <a:xfrm>
            <a:off x="9208008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VLAN y DHCP</a:t>
            </a:r>
            <a:endParaRPr lang="en-US" sz="1200" dirty="0"/>
          </a:p>
        </p:txBody>
      </p:sp>
      <p:sp>
        <p:nvSpPr>
          <p:cNvPr id="38" name="s4_rect_35"/>
          <p:cNvSpPr/>
          <p:nvPr/>
        </p:nvSpPr>
        <p:spPr>
          <a:xfrm>
            <a:off x="9098280" y="48006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9" name="s4_text_36"/>
          <p:cNvSpPr txBox="1"/>
          <p:nvPr/>
        </p:nvSpPr>
        <p:spPr>
          <a:xfrm>
            <a:off x="9208008" y="4800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Suricata IPS</a:t>
            </a:r>
            <a:endParaRPr lang="en-US" sz="1200" dirty="0"/>
          </a:p>
        </p:txBody>
      </p:sp>
      <p:sp>
        <p:nvSpPr>
          <p:cNvPr id="40" name="s4_rect_37"/>
          <p:cNvSpPr/>
          <p:nvPr/>
        </p:nvSpPr>
        <p:spPr>
          <a:xfrm>
            <a:off x="9098280" y="52578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1" name="s4_text_38"/>
          <p:cNvSpPr txBox="1"/>
          <p:nvPr/>
        </p:nvSpPr>
        <p:spPr>
          <a:xfrm>
            <a:off x="9208008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pfBlockerNG</a:t>
            </a:r>
            <a:endParaRPr lang="en-US" sz="1200" dirty="0"/>
          </a:p>
        </p:txBody>
      </p:sp>
      <p:sp>
        <p:nvSpPr>
          <p:cNvPr id="42" name="s4_text_39"/>
          <p:cNvSpPr txBox="1"/>
          <p:nvPr/>
        </p:nvSpPr>
        <p:spPr>
          <a:xfrm>
            <a:off x="457200" y="58704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Artefactos: 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Carta Gantt plan vs. real · historial de GitHub y Pull Request #1 · colecciones evidencias/ con SHA-256 · informes de avance S7 · matriz de pruebas QA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vs. planificación (semana 11)</a:t>
            </a:r>
            <a:endParaRPr lang="en-US" sz="3000" dirty="0"/>
          </a:p>
        </p:txBody>
      </p:sp>
      <p:sp>
        <p:nvSpPr>
          <p:cNvPr id="3" name="s5_rect_0"/>
          <p:cNvSpPr/>
          <p:nvPr/>
        </p:nvSpPr>
        <p:spPr>
          <a:xfrm>
            <a:off x="3520440" y="1508760"/>
            <a:ext cx="402336" cy="34747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" name="s5_text_1"/>
          <p:cNvSpPr txBox="1"/>
          <p:nvPr/>
        </p:nvSpPr>
        <p:spPr>
          <a:xfrm>
            <a:off x="3520440" y="11887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000" dirty="0"/>
          </a:p>
        </p:txBody>
      </p:sp>
      <p:sp>
        <p:nvSpPr>
          <p:cNvPr id="5" name="s5_text_2"/>
          <p:cNvSpPr txBox="1"/>
          <p:nvPr/>
        </p:nvSpPr>
        <p:spPr>
          <a:xfrm>
            <a:off x="3922776" y="11887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000" dirty="0"/>
          </a:p>
        </p:txBody>
      </p:sp>
      <p:sp>
        <p:nvSpPr>
          <p:cNvPr id="6" name="s5_rect_3"/>
          <p:cNvSpPr/>
          <p:nvPr/>
        </p:nvSpPr>
        <p:spPr>
          <a:xfrm>
            <a:off x="4325112" y="1508760"/>
            <a:ext cx="402336" cy="34747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" name="s5_text_4"/>
          <p:cNvSpPr txBox="1"/>
          <p:nvPr/>
        </p:nvSpPr>
        <p:spPr>
          <a:xfrm>
            <a:off x="4325112" y="11887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000" dirty="0"/>
          </a:p>
        </p:txBody>
      </p:sp>
      <p:sp>
        <p:nvSpPr>
          <p:cNvPr id="8" name="s5_text_5"/>
          <p:cNvSpPr txBox="1"/>
          <p:nvPr/>
        </p:nvSpPr>
        <p:spPr>
          <a:xfrm>
            <a:off x="4727448" y="11887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1000" dirty="0"/>
          </a:p>
        </p:txBody>
      </p:sp>
      <p:sp>
        <p:nvSpPr>
          <p:cNvPr id="9" name="s5_rect_6"/>
          <p:cNvSpPr/>
          <p:nvPr/>
        </p:nvSpPr>
        <p:spPr>
          <a:xfrm>
            <a:off x="5129784" y="1508760"/>
            <a:ext cx="402336" cy="34747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0" name="s5_text_7"/>
          <p:cNvSpPr txBox="1"/>
          <p:nvPr/>
        </p:nvSpPr>
        <p:spPr>
          <a:xfrm>
            <a:off x="5129784" y="11887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1000" dirty="0"/>
          </a:p>
        </p:txBody>
      </p:sp>
      <p:sp>
        <p:nvSpPr>
          <p:cNvPr id="11" name="s5_text_8"/>
          <p:cNvSpPr txBox="1"/>
          <p:nvPr/>
        </p:nvSpPr>
        <p:spPr>
          <a:xfrm>
            <a:off x="5532120" y="11887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</a:t>
            </a:r>
            <a:endParaRPr lang="en-US" sz="1000" dirty="0"/>
          </a:p>
        </p:txBody>
      </p:sp>
      <p:sp>
        <p:nvSpPr>
          <p:cNvPr id="12" name="s5_rect_9"/>
          <p:cNvSpPr/>
          <p:nvPr/>
        </p:nvSpPr>
        <p:spPr>
          <a:xfrm>
            <a:off x="5934456" y="1508760"/>
            <a:ext cx="402336" cy="34747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3" name="s5_text_10"/>
          <p:cNvSpPr txBox="1"/>
          <p:nvPr/>
        </p:nvSpPr>
        <p:spPr>
          <a:xfrm>
            <a:off x="5934456" y="11887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</a:t>
            </a:r>
            <a:endParaRPr lang="en-US" sz="1000" dirty="0"/>
          </a:p>
        </p:txBody>
      </p:sp>
      <p:sp>
        <p:nvSpPr>
          <p:cNvPr id="14" name="s5_text_11"/>
          <p:cNvSpPr txBox="1"/>
          <p:nvPr/>
        </p:nvSpPr>
        <p:spPr>
          <a:xfrm>
            <a:off x="6336792" y="11887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S8</a:t>
            </a:r>
            <a:endParaRPr lang="en-US" sz="1000" dirty="0"/>
          </a:p>
        </p:txBody>
      </p:sp>
      <p:sp>
        <p:nvSpPr>
          <p:cNvPr id="15" name="s5_rect_12"/>
          <p:cNvSpPr/>
          <p:nvPr/>
        </p:nvSpPr>
        <p:spPr>
          <a:xfrm>
            <a:off x="6739128" y="1508760"/>
            <a:ext cx="402336" cy="34747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6" name="s5_text_13"/>
          <p:cNvSpPr txBox="1"/>
          <p:nvPr/>
        </p:nvSpPr>
        <p:spPr>
          <a:xfrm>
            <a:off x="6739128" y="11887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S9</a:t>
            </a:r>
            <a:endParaRPr lang="en-US" sz="1000" dirty="0"/>
          </a:p>
        </p:txBody>
      </p:sp>
      <p:sp>
        <p:nvSpPr>
          <p:cNvPr id="17" name="s5_text_14"/>
          <p:cNvSpPr txBox="1"/>
          <p:nvPr/>
        </p:nvSpPr>
        <p:spPr>
          <a:xfrm>
            <a:off x="7141464" y="11887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</a:t>
            </a:r>
            <a:endParaRPr lang="en-US" sz="1000" dirty="0"/>
          </a:p>
        </p:txBody>
      </p:sp>
      <p:sp>
        <p:nvSpPr>
          <p:cNvPr id="18" name="s5_rect_15"/>
          <p:cNvSpPr/>
          <p:nvPr/>
        </p:nvSpPr>
        <p:spPr>
          <a:xfrm>
            <a:off x="7543800" y="1508760"/>
            <a:ext cx="402336" cy="34747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9" name="s5_text_16"/>
          <p:cNvSpPr txBox="1"/>
          <p:nvPr/>
        </p:nvSpPr>
        <p:spPr>
          <a:xfrm>
            <a:off x="7543800" y="11887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</a:t>
            </a:r>
            <a:endParaRPr lang="en-US" sz="1000" dirty="0"/>
          </a:p>
        </p:txBody>
      </p:sp>
      <p:sp>
        <p:nvSpPr>
          <p:cNvPr id="20" name="s5_text_17"/>
          <p:cNvSpPr txBox="1"/>
          <p:nvPr/>
        </p:nvSpPr>
        <p:spPr>
          <a:xfrm>
            <a:off x="7946136" y="11887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</a:t>
            </a:r>
            <a:endParaRPr lang="en-US" sz="1000" dirty="0"/>
          </a:p>
        </p:txBody>
      </p:sp>
      <p:sp>
        <p:nvSpPr>
          <p:cNvPr id="21" name="s5_rect_18"/>
          <p:cNvSpPr/>
          <p:nvPr/>
        </p:nvSpPr>
        <p:spPr>
          <a:xfrm>
            <a:off x="8348472" y="1508760"/>
            <a:ext cx="402336" cy="34747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2" name="s5_text_19"/>
          <p:cNvSpPr txBox="1"/>
          <p:nvPr/>
        </p:nvSpPr>
        <p:spPr>
          <a:xfrm>
            <a:off x="8348472" y="11887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</a:t>
            </a:r>
            <a:endParaRPr lang="en-US" sz="1000" dirty="0"/>
          </a:p>
        </p:txBody>
      </p:sp>
      <p:sp>
        <p:nvSpPr>
          <p:cNvPr id="23" name="s5_text_20"/>
          <p:cNvSpPr txBox="1"/>
          <p:nvPr/>
        </p:nvSpPr>
        <p:spPr>
          <a:xfrm>
            <a:off x="8750808" y="11887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</a:t>
            </a:r>
            <a:endParaRPr lang="en-US" sz="1000" dirty="0"/>
          </a:p>
        </p:txBody>
      </p:sp>
      <p:sp>
        <p:nvSpPr>
          <p:cNvPr id="24" name="s5_rect_21"/>
          <p:cNvSpPr/>
          <p:nvPr/>
        </p:nvSpPr>
        <p:spPr>
          <a:xfrm>
            <a:off x="9153144" y="1508760"/>
            <a:ext cx="402336" cy="34747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5" name="s5_text_22"/>
          <p:cNvSpPr txBox="1"/>
          <p:nvPr/>
        </p:nvSpPr>
        <p:spPr>
          <a:xfrm>
            <a:off x="9153144" y="11887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</a:t>
            </a:r>
            <a:endParaRPr lang="en-US" sz="1000" dirty="0"/>
          </a:p>
        </p:txBody>
      </p:sp>
      <p:sp>
        <p:nvSpPr>
          <p:cNvPr id="26" name="s5_text_23"/>
          <p:cNvSpPr txBox="1"/>
          <p:nvPr/>
        </p:nvSpPr>
        <p:spPr>
          <a:xfrm>
            <a:off x="9555480" y="11887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</a:t>
            </a:r>
            <a:endParaRPr lang="en-US" sz="1000" dirty="0"/>
          </a:p>
        </p:txBody>
      </p:sp>
      <p:sp>
        <p:nvSpPr>
          <p:cNvPr id="27" name="s5_rect_24"/>
          <p:cNvSpPr/>
          <p:nvPr/>
        </p:nvSpPr>
        <p:spPr>
          <a:xfrm>
            <a:off x="9957816" y="1508760"/>
            <a:ext cx="402336" cy="34747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8" name="s5_text_25"/>
          <p:cNvSpPr txBox="1"/>
          <p:nvPr/>
        </p:nvSpPr>
        <p:spPr>
          <a:xfrm>
            <a:off x="9957816" y="11887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</a:t>
            </a:r>
            <a:endParaRPr lang="en-US" sz="1000" dirty="0"/>
          </a:p>
        </p:txBody>
      </p:sp>
      <p:sp>
        <p:nvSpPr>
          <p:cNvPr id="29" name="s5_text_26"/>
          <p:cNvSpPr txBox="1"/>
          <p:nvPr/>
        </p:nvSpPr>
        <p:spPr>
          <a:xfrm>
            <a:off x="10360152" y="11887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</a:t>
            </a:r>
            <a:endParaRPr lang="en-US" sz="1000" dirty="0"/>
          </a:p>
        </p:txBody>
      </p:sp>
      <p:sp>
        <p:nvSpPr>
          <p:cNvPr id="30" name="s5_text_27"/>
          <p:cNvSpPr txBox="1"/>
          <p:nvPr/>
        </p:nvSpPr>
        <p:spPr>
          <a:xfrm>
            <a:off x="457200" y="1188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· responsable real</a:t>
            </a:r>
            <a:endParaRPr lang="en-US" sz="1100" dirty="0"/>
          </a:p>
        </p:txBody>
      </p:sp>
      <p:sp>
        <p:nvSpPr>
          <p:cNvPr id="31" name="s5_text_28"/>
          <p:cNvSpPr txBox="1"/>
          <p:nvPr/>
        </p:nvSpPr>
        <p:spPr>
          <a:xfrm>
            <a:off x="10762488" y="11887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OE</a:t>
            </a:r>
            <a:endParaRPr lang="en-US" sz="1100" dirty="0"/>
          </a:p>
        </p:txBody>
      </p:sp>
      <p:sp>
        <p:nvSpPr>
          <p:cNvPr id="32" name="s5_line_29"/>
          <p:cNvSpPr/>
          <p:nvPr/>
        </p:nvSpPr>
        <p:spPr>
          <a:xfrm>
            <a:off x="457200" y="1856232"/>
            <a:ext cx="1117396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3" name="s5_text_30"/>
          <p:cNvSpPr txBox="1"/>
          <p:nvPr/>
        </p:nvSpPr>
        <p:spPr>
          <a:xfrm>
            <a:off x="457200" y="152704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Base pfSense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Bruno · Freddy</a:t>
            </a:r>
            <a:endParaRPr lang="en-US" sz="1100" dirty="0"/>
          </a:p>
        </p:txBody>
      </p:sp>
      <p:sp>
        <p:nvSpPr>
          <p:cNvPr id="34" name="s5_rect_31"/>
          <p:cNvSpPr/>
          <p:nvPr/>
        </p:nvSpPr>
        <p:spPr>
          <a:xfrm>
            <a:off x="3538728" y="1572768"/>
            <a:ext cx="768096" cy="91440"/>
          </a:xfrm>
          <a:prstGeom prst="rect">
            <a:avLst/>
          </a:prstGeom>
          <a:solidFill>
            <a:srgbClr val="C4C9D1"/>
          </a:solidFill>
          <a:ln/>
        </p:spPr>
      </p:sp>
      <p:sp>
        <p:nvSpPr>
          <p:cNvPr id="35" name="s5_rect_32"/>
          <p:cNvSpPr/>
          <p:nvPr/>
        </p:nvSpPr>
        <p:spPr>
          <a:xfrm>
            <a:off x="3538728" y="1691640"/>
            <a:ext cx="768096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6" name="s5_text_33"/>
          <p:cNvSpPr txBox="1"/>
          <p:nvPr/>
        </p:nvSpPr>
        <p:spPr>
          <a:xfrm>
            <a:off x="10762488" y="1527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</a:t>
            </a:r>
            <a:endParaRPr lang="en-US" sz="1200" dirty="0"/>
          </a:p>
        </p:txBody>
      </p:sp>
      <p:sp>
        <p:nvSpPr>
          <p:cNvPr id="37" name="s5_line_34"/>
          <p:cNvSpPr/>
          <p:nvPr/>
        </p:nvSpPr>
        <p:spPr>
          <a:xfrm>
            <a:off x="457200" y="2203704"/>
            <a:ext cx="1117396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8" name="s5_text_35"/>
          <p:cNvSpPr txBox="1"/>
          <p:nvPr/>
        </p:nvSpPr>
        <p:spPr>
          <a:xfrm>
            <a:off x="457200" y="187452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VLAN y DHCP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Freddy</a:t>
            </a:r>
            <a:endParaRPr lang="en-US" sz="1100" dirty="0"/>
          </a:p>
        </p:txBody>
      </p:sp>
      <p:sp>
        <p:nvSpPr>
          <p:cNvPr id="39" name="s5_rect_36"/>
          <p:cNvSpPr/>
          <p:nvPr/>
        </p:nvSpPr>
        <p:spPr>
          <a:xfrm>
            <a:off x="4343400" y="1920240"/>
            <a:ext cx="768096" cy="91440"/>
          </a:xfrm>
          <a:prstGeom prst="rect">
            <a:avLst/>
          </a:prstGeom>
          <a:solidFill>
            <a:srgbClr val="C4C9D1"/>
          </a:solidFill>
          <a:ln/>
        </p:spPr>
      </p:sp>
      <p:sp>
        <p:nvSpPr>
          <p:cNvPr id="40" name="s5_rect_37"/>
          <p:cNvSpPr/>
          <p:nvPr/>
        </p:nvSpPr>
        <p:spPr>
          <a:xfrm>
            <a:off x="4343400" y="2039112"/>
            <a:ext cx="1975104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1" name="s5_text_38"/>
          <p:cNvSpPr txBox="1"/>
          <p:nvPr/>
        </p:nvSpPr>
        <p:spPr>
          <a:xfrm>
            <a:off x="10762488" y="18745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</a:t>
            </a:r>
            <a:endParaRPr lang="en-US" sz="1200" dirty="0"/>
          </a:p>
        </p:txBody>
      </p:sp>
      <p:sp>
        <p:nvSpPr>
          <p:cNvPr id="42" name="s5_line_39"/>
          <p:cNvSpPr/>
          <p:nvPr/>
        </p:nvSpPr>
        <p:spPr>
          <a:xfrm>
            <a:off x="457200" y="2551176"/>
            <a:ext cx="1117396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3" name="s5_text_40"/>
          <p:cNvSpPr txBox="1"/>
          <p:nvPr/>
        </p:nvSpPr>
        <p:spPr>
          <a:xfrm>
            <a:off x="457200" y="222199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Suricata IPS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Bruno · Kevin (verif.)</a:t>
            </a:r>
            <a:endParaRPr lang="en-US" sz="1100" dirty="0"/>
          </a:p>
        </p:txBody>
      </p:sp>
      <p:sp>
        <p:nvSpPr>
          <p:cNvPr id="44" name="s5_rect_41"/>
          <p:cNvSpPr/>
          <p:nvPr/>
        </p:nvSpPr>
        <p:spPr>
          <a:xfrm>
            <a:off x="5148072" y="2267712"/>
            <a:ext cx="768096" cy="91440"/>
          </a:xfrm>
          <a:prstGeom prst="rect">
            <a:avLst/>
          </a:prstGeom>
          <a:solidFill>
            <a:srgbClr val="C4C9D1"/>
          </a:solidFill>
          <a:ln/>
        </p:spPr>
      </p:sp>
      <p:sp>
        <p:nvSpPr>
          <p:cNvPr id="45" name="s5_rect_42"/>
          <p:cNvSpPr/>
          <p:nvPr/>
        </p:nvSpPr>
        <p:spPr>
          <a:xfrm>
            <a:off x="5148072" y="2386584"/>
            <a:ext cx="1170432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6" name="s5_text_43"/>
          <p:cNvSpPr txBox="1"/>
          <p:nvPr/>
        </p:nvSpPr>
        <p:spPr>
          <a:xfrm>
            <a:off x="10762488" y="222199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</a:t>
            </a:r>
            <a:endParaRPr lang="en-US" sz="1200" dirty="0"/>
          </a:p>
        </p:txBody>
      </p:sp>
      <p:sp>
        <p:nvSpPr>
          <p:cNvPr id="47" name="s5_line_44"/>
          <p:cNvSpPr/>
          <p:nvPr/>
        </p:nvSpPr>
        <p:spPr>
          <a:xfrm>
            <a:off x="457200" y="2898648"/>
            <a:ext cx="1117396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8" name="s5_text_45"/>
          <p:cNvSpPr txBox="1"/>
          <p:nvPr/>
        </p:nvSpPr>
        <p:spPr>
          <a:xfrm>
            <a:off x="457200" y="256946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pfBlockerNG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Kevin (apoyo de Bruno)</a:t>
            </a:r>
            <a:endParaRPr lang="en-US" sz="1100" dirty="0"/>
          </a:p>
        </p:txBody>
      </p:sp>
      <p:sp>
        <p:nvSpPr>
          <p:cNvPr id="49" name="s5_rect_46"/>
          <p:cNvSpPr/>
          <p:nvPr/>
        </p:nvSpPr>
        <p:spPr>
          <a:xfrm>
            <a:off x="5952744" y="2615184"/>
            <a:ext cx="768096" cy="91440"/>
          </a:xfrm>
          <a:prstGeom prst="rect">
            <a:avLst/>
          </a:prstGeom>
          <a:solidFill>
            <a:srgbClr val="C4C9D1"/>
          </a:solidFill>
          <a:ln/>
        </p:spPr>
      </p:sp>
      <p:sp>
        <p:nvSpPr>
          <p:cNvPr id="50" name="s5_rect_47"/>
          <p:cNvSpPr/>
          <p:nvPr/>
        </p:nvSpPr>
        <p:spPr>
          <a:xfrm>
            <a:off x="5952744" y="2734056"/>
            <a:ext cx="768096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1" name="s5_rect_48"/>
          <p:cNvSpPr/>
          <p:nvPr/>
        </p:nvSpPr>
        <p:spPr>
          <a:xfrm>
            <a:off x="7159752" y="2734056"/>
            <a:ext cx="365760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2" name="s5_text_49"/>
          <p:cNvSpPr txBox="1"/>
          <p:nvPr/>
        </p:nvSpPr>
        <p:spPr>
          <a:xfrm>
            <a:off x="10762488" y="25694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90 %</a:t>
            </a:r>
            <a:endParaRPr lang="en-US" sz="1200" dirty="0"/>
          </a:p>
        </p:txBody>
      </p:sp>
      <p:sp>
        <p:nvSpPr>
          <p:cNvPr id="53" name="s5_line_50"/>
          <p:cNvSpPr/>
          <p:nvPr/>
        </p:nvSpPr>
        <p:spPr>
          <a:xfrm>
            <a:off x="457200" y="3246120"/>
            <a:ext cx="1117396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4" name="s5_text_51"/>
          <p:cNvSpPr txBox="1"/>
          <p:nvPr/>
        </p:nvSpPr>
        <p:spPr>
          <a:xfrm>
            <a:off x="457200" y="291693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 HAProxy + DVWA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Cristóbal</a:t>
            </a:r>
            <a:endParaRPr lang="en-US" sz="1100" dirty="0"/>
          </a:p>
        </p:txBody>
      </p:sp>
      <p:sp>
        <p:nvSpPr>
          <p:cNvPr id="55" name="s5_rect_52"/>
          <p:cNvSpPr/>
          <p:nvPr/>
        </p:nvSpPr>
        <p:spPr>
          <a:xfrm>
            <a:off x="6757416" y="2962656"/>
            <a:ext cx="768096" cy="91440"/>
          </a:xfrm>
          <a:prstGeom prst="rect">
            <a:avLst/>
          </a:prstGeom>
          <a:solidFill>
            <a:srgbClr val="C4C9D1"/>
          </a:solidFill>
          <a:ln/>
        </p:spPr>
      </p:sp>
      <p:sp>
        <p:nvSpPr>
          <p:cNvPr id="56" name="s5_rect_53"/>
          <p:cNvSpPr/>
          <p:nvPr/>
        </p:nvSpPr>
        <p:spPr>
          <a:xfrm>
            <a:off x="6757416" y="3081528"/>
            <a:ext cx="768096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7" name="s5_text_54"/>
          <p:cNvSpPr txBox="1"/>
          <p:nvPr/>
        </p:nvSpPr>
        <p:spPr>
          <a:xfrm>
            <a:off x="10762488" y="291693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90 %</a:t>
            </a:r>
            <a:endParaRPr lang="en-US" sz="1200" dirty="0"/>
          </a:p>
        </p:txBody>
      </p:sp>
      <p:sp>
        <p:nvSpPr>
          <p:cNvPr id="58" name="s5_line_55"/>
          <p:cNvSpPr/>
          <p:nvPr/>
        </p:nvSpPr>
        <p:spPr>
          <a:xfrm>
            <a:off x="457200" y="3593592"/>
            <a:ext cx="1117396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9" name="s5_text_56"/>
          <p:cNvSpPr txBox="1"/>
          <p:nvPr/>
        </p:nvSpPr>
        <p:spPr>
          <a:xfrm>
            <a:off x="457200" y="326440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A6 Motor KRONOS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Bruno</a:t>
            </a:r>
            <a:endParaRPr lang="en-US" sz="1100" dirty="0"/>
          </a:p>
        </p:txBody>
      </p:sp>
      <p:sp>
        <p:nvSpPr>
          <p:cNvPr id="60" name="s5_rect_57"/>
          <p:cNvSpPr/>
          <p:nvPr/>
        </p:nvSpPr>
        <p:spPr>
          <a:xfrm>
            <a:off x="7562088" y="3310128"/>
            <a:ext cx="768096" cy="91440"/>
          </a:xfrm>
          <a:prstGeom prst="rect">
            <a:avLst/>
          </a:prstGeom>
          <a:solidFill>
            <a:srgbClr val="C4C9D1"/>
          </a:solidFill>
          <a:ln/>
        </p:spPr>
      </p:sp>
      <p:sp>
        <p:nvSpPr>
          <p:cNvPr id="61" name="s5_rect_58"/>
          <p:cNvSpPr/>
          <p:nvPr/>
        </p:nvSpPr>
        <p:spPr>
          <a:xfrm>
            <a:off x="7562088" y="3429000"/>
            <a:ext cx="36576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2" name="s5_text_59"/>
          <p:cNvSpPr txBox="1"/>
          <p:nvPr/>
        </p:nvSpPr>
        <p:spPr>
          <a:xfrm>
            <a:off x="10762488" y="326440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80 %</a:t>
            </a:r>
            <a:endParaRPr lang="en-US" sz="1200" dirty="0"/>
          </a:p>
        </p:txBody>
      </p:sp>
      <p:sp>
        <p:nvSpPr>
          <p:cNvPr id="63" name="s5_line_60"/>
          <p:cNvSpPr/>
          <p:nvPr/>
        </p:nvSpPr>
        <p:spPr>
          <a:xfrm>
            <a:off x="457200" y="3941064"/>
            <a:ext cx="1117396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64" name="s5_text_61"/>
          <p:cNvSpPr txBox="1"/>
          <p:nvPr/>
        </p:nvSpPr>
        <p:spPr>
          <a:xfrm>
            <a:off x="457200" y="361188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A7 Asterisk PBX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Freddy · Bruno (IA)</a:t>
            </a:r>
            <a:endParaRPr lang="en-US" sz="1100" dirty="0"/>
          </a:p>
        </p:txBody>
      </p:sp>
      <p:sp>
        <p:nvSpPr>
          <p:cNvPr id="65" name="s5_rect_62"/>
          <p:cNvSpPr/>
          <p:nvPr/>
        </p:nvSpPr>
        <p:spPr>
          <a:xfrm>
            <a:off x="8366760" y="3657600"/>
            <a:ext cx="768096" cy="91440"/>
          </a:xfrm>
          <a:prstGeom prst="rect">
            <a:avLst/>
          </a:prstGeom>
          <a:solidFill>
            <a:srgbClr val="C4C9D1"/>
          </a:solidFill>
          <a:ln/>
        </p:spPr>
      </p:sp>
      <p:sp>
        <p:nvSpPr>
          <p:cNvPr id="66" name="s5_rect_63"/>
          <p:cNvSpPr/>
          <p:nvPr/>
        </p:nvSpPr>
        <p:spPr>
          <a:xfrm>
            <a:off x="7562088" y="3776472"/>
            <a:ext cx="36576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7" name="s5_text_64"/>
          <p:cNvSpPr txBox="1"/>
          <p:nvPr/>
        </p:nvSpPr>
        <p:spPr>
          <a:xfrm>
            <a:off x="10762488" y="36118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90 %</a:t>
            </a:r>
            <a:endParaRPr lang="en-US" sz="1200" dirty="0"/>
          </a:p>
        </p:txBody>
      </p:sp>
      <p:sp>
        <p:nvSpPr>
          <p:cNvPr id="68" name="s5_line_65"/>
          <p:cNvSpPr/>
          <p:nvPr/>
        </p:nvSpPr>
        <p:spPr>
          <a:xfrm>
            <a:off x="457200" y="4288536"/>
            <a:ext cx="1117396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69" name="s5_text_66"/>
          <p:cNvSpPr txBox="1"/>
          <p:nvPr/>
        </p:nvSpPr>
        <p:spPr>
          <a:xfrm>
            <a:off x="457200" y="39593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A8 Gemini Live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Bruno</a:t>
            </a:r>
            <a:endParaRPr lang="en-US" sz="1100" dirty="0"/>
          </a:p>
        </p:txBody>
      </p:sp>
      <p:sp>
        <p:nvSpPr>
          <p:cNvPr id="70" name="s5_rect_67"/>
          <p:cNvSpPr/>
          <p:nvPr/>
        </p:nvSpPr>
        <p:spPr>
          <a:xfrm>
            <a:off x="8769096" y="4005072"/>
            <a:ext cx="768096" cy="91440"/>
          </a:xfrm>
          <a:prstGeom prst="rect">
            <a:avLst/>
          </a:prstGeom>
          <a:solidFill>
            <a:srgbClr val="C4C9D1"/>
          </a:solidFill>
          <a:ln/>
        </p:spPr>
      </p:sp>
      <p:sp>
        <p:nvSpPr>
          <p:cNvPr id="71" name="s5_rect_68"/>
          <p:cNvSpPr/>
          <p:nvPr/>
        </p:nvSpPr>
        <p:spPr>
          <a:xfrm>
            <a:off x="7562088" y="4123944"/>
            <a:ext cx="36576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2" name="s5_text_69"/>
          <p:cNvSpPr txBox="1"/>
          <p:nvPr/>
        </p:nvSpPr>
        <p:spPr>
          <a:xfrm>
            <a:off x="10762488" y="39593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80 %</a:t>
            </a:r>
            <a:endParaRPr lang="en-US" sz="1200" dirty="0"/>
          </a:p>
        </p:txBody>
      </p:sp>
      <p:sp>
        <p:nvSpPr>
          <p:cNvPr id="73" name="s5_line_70"/>
          <p:cNvSpPr/>
          <p:nvPr/>
        </p:nvSpPr>
        <p:spPr>
          <a:xfrm>
            <a:off x="457200" y="4636008"/>
            <a:ext cx="1117396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4" name="s5_text_71"/>
          <p:cNvSpPr txBox="1"/>
          <p:nvPr/>
        </p:nvSpPr>
        <p:spPr>
          <a:xfrm>
            <a:off x="457200" y="430682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A9 Acceso remoto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Freddy</a:t>
            </a:r>
            <a:endParaRPr lang="en-US" sz="1100" dirty="0"/>
          </a:p>
        </p:txBody>
      </p:sp>
      <p:sp>
        <p:nvSpPr>
          <p:cNvPr id="75" name="s5_rect_72"/>
          <p:cNvSpPr/>
          <p:nvPr/>
        </p:nvSpPr>
        <p:spPr>
          <a:xfrm>
            <a:off x="9171432" y="4352544"/>
            <a:ext cx="365760" cy="91440"/>
          </a:xfrm>
          <a:prstGeom prst="rect">
            <a:avLst/>
          </a:prstGeom>
          <a:solidFill>
            <a:srgbClr val="C4C9D1"/>
          </a:solidFill>
          <a:ln/>
        </p:spPr>
      </p:sp>
      <p:sp>
        <p:nvSpPr>
          <p:cNvPr id="76" name="s5_rect_73"/>
          <p:cNvSpPr/>
          <p:nvPr/>
        </p:nvSpPr>
        <p:spPr>
          <a:xfrm>
            <a:off x="5952744" y="4471416"/>
            <a:ext cx="1975104" cy="1097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7" name="s5_text_74"/>
          <p:cNvSpPr txBox="1"/>
          <p:nvPr/>
        </p:nvSpPr>
        <p:spPr>
          <a:xfrm>
            <a:off x="10762488" y="430682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60 %</a:t>
            </a:r>
            <a:endParaRPr lang="en-US" sz="1200" dirty="0"/>
          </a:p>
        </p:txBody>
      </p:sp>
      <p:sp>
        <p:nvSpPr>
          <p:cNvPr id="78" name="s5_line_75"/>
          <p:cNvSpPr/>
          <p:nvPr/>
        </p:nvSpPr>
        <p:spPr>
          <a:xfrm>
            <a:off x="457200" y="4983480"/>
            <a:ext cx="1117396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9" name="s5_text_76"/>
          <p:cNvSpPr txBox="1"/>
          <p:nvPr/>
        </p:nvSpPr>
        <p:spPr>
          <a:xfrm>
            <a:off x="457200" y="465429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 QA y defensa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Kevin (QA) · equipo</a:t>
            </a:r>
            <a:endParaRPr lang="en-US" sz="1100" dirty="0"/>
          </a:p>
        </p:txBody>
      </p:sp>
      <p:sp>
        <p:nvSpPr>
          <p:cNvPr id="80" name="s5_rect_77"/>
          <p:cNvSpPr/>
          <p:nvPr/>
        </p:nvSpPr>
        <p:spPr>
          <a:xfrm>
            <a:off x="9573768" y="4700016"/>
            <a:ext cx="1170432" cy="91440"/>
          </a:xfrm>
          <a:prstGeom prst="rect">
            <a:avLst/>
          </a:prstGeom>
          <a:solidFill>
            <a:srgbClr val="C4C9D1"/>
          </a:solidFill>
          <a:ln/>
        </p:spPr>
      </p:sp>
      <p:sp>
        <p:nvSpPr>
          <p:cNvPr id="81" name="s5_rect_78"/>
          <p:cNvSpPr/>
          <p:nvPr/>
        </p:nvSpPr>
        <p:spPr>
          <a:xfrm>
            <a:off x="7159752" y="4818888"/>
            <a:ext cx="768096" cy="1097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2" name="s5_text_79"/>
          <p:cNvSpPr txBox="1"/>
          <p:nvPr/>
        </p:nvSpPr>
        <p:spPr>
          <a:xfrm>
            <a:off x="10762488" y="465429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10 %</a:t>
            </a:r>
            <a:endParaRPr lang="en-US" sz="1200" dirty="0"/>
          </a:p>
        </p:txBody>
      </p:sp>
      <p:sp>
        <p:nvSpPr>
          <p:cNvPr id="83" name="s5_line_80"/>
          <p:cNvSpPr/>
          <p:nvPr/>
        </p:nvSpPr>
        <p:spPr>
          <a:xfrm>
            <a:off x="7744968" y="1463040"/>
            <a:ext cx="0" cy="3520440"/>
          </a:xfrm>
          <a:prstGeom prst="line">
            <a:avLst/>
          </a:prstGeom>
          <a:noFill/>
          <a:ln w="19050">
            <a:solidFill>
              <a:srgbClr val="C81E4E"/>
            </a:solidFill>
            <a:prstDash val="dash"/>
          </a:ln>
        </p:spPr>
      </p:sp>
      <p:sp>
        <p:nvSpPr>
          <p:cNvPr id="84" name="s5_rect_81"/>
          <p:cNvSpPr/>
          <p:nvPr/>
        </p:nvSpPr>
        <p:spPr>
          <a:xfrm>
            <a:off x="457200" y="5166360"/>
            <a:ext cx="320040" cy="109728"/>
          </a:xfrm>
          <a:prstGeom prst="rect">
            <a:avLst/>
          </a:prstGeom>
          <a:solidFill>
            <a:srgbClr val="C4C9D1"/>
          </a:solidFill>
          <a:ln/>
        </p:spPr>
      </p:sp>
      <p:sp>
        <p:nvSpPr>
          <p:cNvPr id="85" name="s5_text_82"/>
          <p:cNvSpPr txBox="1"/>
          <p:nvPr/>
        </p:nvSpPr>
        <p:spPr>
          <a:xfrm>
            <a:off x="868680" y="5074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Planificado</a:t>
            </a:r>
            <a:endParaRPr lang="en-US" sz="1100" dirty="0"/>
          </a:p>
        </p:txBody>
      </p:sp>
      <p:sp>
        <p:nvSpPr>
          <p:cNvPr id="86" name="s5_rect_83"/>
          <p:cNvSpPr/>
          <p:nvPr/>
        </p:nvSpPr>
        <p:spPr>
          <a:xfrm>
            <a:off x="2697480" y="5166360"/>
            <a:ext cx="320040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7" name="s5_text_84"/>
          <p:cNvSpPr txBox="1"/>
          <p:nvPr/>
        </p:nvSpPr>
        <p:spPr>
          <a:xfrm>
            <a:off x="3108960" y="5074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Real: validado</a:t>
            </a:r>
            <a:endParaRPr lang="en-US" sz="1100" dirty="0"/>
          </a:p>
        </p:txBody>
      </p:sp>
      <p:sp>
        <p:nvSpPr>
          <p:cNvPr id="88" name="s5_rect_85"/>
          <p:cNvSpPr/>
          <p:nvPr/>
        </p:nvSpPr>
        <p:spPr>
          <a:xfrm>
            <a:off x="4937760" y="5166360"/>
            <a:ext cx="32004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9" name="s5_text_86"/>
          <p:cNvSpPr txBox="1"/>
          <p:nvPr/>
        </p:nvSpPr>
        <p:spPr>
          <a:xfrm>
            <a:off x="5349240" y="5074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Real: probado</a:t>
            </a:r>
            <a:endParaRPr lang="en-US" sz="1100" dirty="0"/>
          </a:p>
        </p:txBody>
      </p:sp>
      <p:sp>
        <p:nvSpPr>
          <p:cNvPr id="90" name="s5_rect_87"/>
          <p:cNvSpPr/>
          <p:nvPr/>
        </p:nvSpPr>
        <p:spPr>
          <a:xfrm>
            <a:off x="7178040" y="5166360"/>
            <a:ext cx="320040" cy="1097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1" name="s5_text_88"/>
          <p:cNvSpPr txBox="1"/>
          <p:nvPr/>
        </p:nvSpPr>
        <p:spPr>
          <a:xfrm>
            <a:off x="7589520" y="5074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Real: parcial</a:t>
            </a:r>
            <a:endParaRPr lang="en-US" sz="1100" dirty="0"/>
          </a:p>
        </p:txBody>
      </p:sp>
      <p:sp>
        <p:nvSpPr>
          <p:cNvPr id="92" name="s5_rect_89"/>
          <p:cNvSpPr/>
          <p:nvPr/>
        </p:nvSpPr>
        <p:spPr>
          <a:xfrm>
            <a:off x="9418320" y="5166360"/>
            <a:ext cx="320040" cy="109728"/>
          </a:xfrm>
          <a:prstGeom prst="rect">
            <a:avLst/>
          </a:prstGeom>
          <a:solidFill>
            <a:srgbClr val="C81E4E"/>
          </a:solidFill>
          <a:ln/>
        </p:spPr>
      </p:sp>
      <p:sp>
        <p:nvSpPr>
          <p:cNvPr id="93" name="s5_text_90"/>
          <p:cNvSpPr txBox="1"/>
          <p:nvPr/>
        </p:nvSpPr>
        <p:spPr>
          <a:xfrm>
            <a:off x="9829800" y="5074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Hoy: 27-oct (S11)</a:t>
            </a:r>
            <a:endParaRPr lang="en-US" sz="1100" dirty="0"/>
          </a:p>
        </p:txBody>
      </p:sp>
      <p:sp>
        <p:nvSpPr>
          <p:cNvPr id="94" name="s5_rect_91"/>
          <p:cNvSpPr/>
          <p:nvPr/>
        </p:nvSpPr>
        <p:spPr>
          <a:xfrm>
            <a:off x="457200" y="5458968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/>
        </p:spPr>
      </p:sp>
      <p:sp>
        <p:nvSpPr>
          <p:cNvPr id="95" name="s5_text_92"/>
          <p:cNvSpPr txBox="1"/>
          <p:nvPr/>
        </p:nvSpPr>
        <p:spPr>
          <a:xfrm>
            <a:off x="640080" y="553212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Desviaciones y causa: 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y A3 obtuvieron su evidencia el 2-oct (S7) tras rediseñar el borde por CGNAT y corregir el sensor interno del IPS. A4 aplica GeoIP a 2 de 6 países (RU y KP): justificación pendiente. A6, A7 y A8 se implementaron en S11, antes de lo planificado; su validación integral queda para A10.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técnico: topología y direccionamiento</a:t>
            </a:r>
            <a:endParaRPr lang="en-US" sz="3000" dirty="0"/>
          </a:p>
        </p:txBody>
      </p:sp>
      <p:sp>
        <p:nvSpPr>
          <p:cNvPr id="3" name="s6_rect_0"/>
          <p:cNvSpPr/>
          <p:nvPr/>
        </p:nvSpPr>
        <p:spPr>
          <a:xfrm>
            <a:off x="457200" y="123444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0F1626"/>
            </a:solidFill>
            <a:prstDash val="solid"/>
          </a:ln>
        </p:spPr>
      </p:sp>
      <p:sp>
        <p:nvSpPr>
          <p:cNvPr id="4" name="s6_text_1"/>
          <p:cNvSpPr txBox="1"/>
          <p:nvPr/>
        </p:nvSpPr>
        <p:spPr>
          <a:xfrm>
            <a:off x="548640" y="12801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y atacantes</a:t>
            </a:r>
            <a:endParaRPr lang="en-US" sz="1200" dirty="0"/>
          </a:p>
        </p:txBody>
      </p:sp>
      <p:sp>
        <p:nvSpPr>
          <p:cNvPr id="5" name="s6_rect_2"/>
          <p:cNvSpPr/>
          <p:nvPr/>
        </p:nvSpPr>
        <p:spPr>
          <a:xfrm>
            <a:off x="2514600" y="1234440"/>
            <a:ext cx="2148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0F1626"/>
            </a:solidFill>
            <a:prstDash val="solid"/>
          </a:ln>
        </p:spPr>
      </p:sp>
      <p:sp>
        <p:nvSpPr>
          <p:cNvPr id="6" name="s6_text_3"/>
          <p:cNvSpPr txBox="1"/>
          <p:nvPr/>
        </p:nvSpPr>
        <p:spPr>
          <a:xfrm>
            <a:off x="2606040" y="12801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EC2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elástica pública</a:t>
            </a:r>
            <a:endParaRPr lang="en-US" sz="1200" dirty="0"/>
          </a:p>
        </p:txBody>
      </p:sp>
      <p:sp>
        <p:nvSpPr>
          <p:cNvPr id="7" name="s6_rect_4"/>
          <p:cNvSpPr/>
          <p:nvPr/>
        </p:nvSpPr>
        <p:spPr>
          <a:xfrm>
            <a:off x="5257800" y="123444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0F1626"/>
            </a:solidFill>
            <a:prstDash val="solid"/>
          </a:ln>
        </p:spPr>
      </p:sp>
      <p:sp>
        <p:nvSpPr>
          <p:cNvPr id="8" name="s6_text_5"/>
          <p:cNvSpPr txBox="1"/>
          <p:nvPr/>
        </p:nvSpPr>
        <p:spPr>
          <a:xfrm>
            <a:off x="5349240" y="12801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VM100 KRONOS-EDGE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10.254.254.1/30</a:t>
            </a:r>
            <a:endParaRPr lang="en-US" sz="1200" dirty="0"/>
          </a:p>
        </p:txBody>
      </p:sp>
      <p:sp>
        <p:nvSpPr>
          <p:cNvPr id="9" name="s6_line_6"/>
          <p:cNvSpPr/>
          <p:nvPr/>
        </p:nvSpPr>
        <p:spPr>
          <a:xfrm>
            <a:off x="1920240" y="1572768"/>
            <a:ext cx="594360" cy="0"/>
          </a:xfrm>
          <a:prstGeom prst="line">
            <a:avLst/>
          </a:prstGeom>
          <a:noFill/>
          <a:ln w="19050">
            <a:solidFill>
              <a:srgbClr val="0F1626"/>
            </a:solidFill>
            <a:prstDash val="solid"/>
            <a:tailEnd type="triangle"/>
          </a:ln>
        </p:spPr>
      </p:sp>
      <p:sp>
        <p:nvSpPr>
          <p:cNvPr id="10" name="s6_line_7"/>
          <p:cNvSpPr/>
          <p:nvPr/>
        </p:nvSpPr>
        <p:spPr>
          <a:xfrm>
            <a:off x="4663440" y="1572768"/>
            <a:ext cx="594360" cy="0"/>
          </a:xfrm>
          <a:prstGeom prst="line">
            <a:avLst/>
          </a:prstGeom>
          <a:noFill/>
          <a:ln w="25400">
            <a:solidFill>
              <a:srgbClr val="C81E4E"/>
            </a:solidFill>
            <a:prstDash val="solid"/>
            <a:tailEnd type="triangle"/>
          </a:ln>
        </p:spPr>
      </p:sp>
      <p:sp>
        <p:nvSpPr>
          <p:cNvPr id="11" name="s6_text_8"/>
          <p:cNvSpPr txBox="1"/>
          <p:nvPr/>
        </p:nvSpPr>
        <p:spPr>
          <a:xfrm>
            <a:off x="4572000" y="9601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WireGuard</a:t>
            </a:r>
            <a:endParaRPr lang="en-US" sz="1000" dirty="0"/>
          </a:p>
        </p:txBody>
      </p:sp>
      <p:sp>
        <p:nvSpPr>
          <p:cNvPr id="12" name="s6_line_9"/>
          <p:cNvSpPr/>
          <p:nvPr/>
        </p:nvSpPr>
        <p:spPr>
          <a:xfrm>
            <a:off x="6286500" y="1920240"/>
            <a:ext cx="0" cy="411480"/>
          </a:xfrm>
          <a:prstGeom prst="line">
            <a:avLst/>
          </a:prstGeom>
          <a:noFill/>
          <a:ln w="19050">
            <a:solidFill>
              <a:srgbClr val="0F1626"/>
            </a:solidFill>
            <a:prstDash val="solid"/>
            <a:tailEnd type="triangle"/>
          </a:ln>
        </p:spPr>
      </p:sp>
      <p:sp>
        <p:nvSpPr>
          <p:cNvPr id="13" name="s6_text_10"/>
          <p:cNvSpPr txBox="1"/>
          <p:nvPr/>
        </p:nvSpPr>
        <p:spPr>
          <a:xfrm>
            <a:off x="2011680" y="19842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enlace de tránsito /30 (vmbr2) · WAN 10.254.254.2</a:t>
            </a:r>
            <a:endParaRPr lang="en-US" sz="1000" dirty="0"/>
          </a:p>
        </p:txBody>
      </p:sp>
      <p:sp>
        <p:nvSpPr>
          <p:cNvPr id="14" name="s6_rect_11"/>
          <p:cNvSpPr/>
          <p:nvPr/>
        </p:nvSpPr>
        <p:spPr>
          <a:xfrm>
            <a:off x="457200" y="2331720"/>
            <a:ext cx="6858000" cy="731520"/>
          </a:xfrm>
          <a:prstGeom prst="roundRect">
            <a:avLst>
              <a:gd name="adj" fmla="val 10000"/>
            </a:avLst>
          </a:prstGeom>
          <a:solidFill>
            <a:srgbClr val="0F1626"/>
          </a:solidFill>
          <a:ln w="15875">
            <a:solidFill>
              <a:srgbClr val="0F1626"/>
            </a:solidFill>
            <a:prstDash val="solid"/>
          </a:ln>
        </p:spPr>
      </p:sp>
      <p:sp>
        <p:nvSpPr>
          <p:cNvPr id="15" name="s6_text_12"/>
          <p:cNvSpPr txBox="1"/>
          <p:nvPr/>
        </p:nvSpPr>
        <p:spPr>
          <a:xfrm>
            <a:off x="548640" y="23774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VM101 pfSense CE 2.9.0 · núcleo colapsado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enrutamiento entre VLAN · firewall · IPS Suricata · pfBlockerNG · HAProxy</a:t>
            </a:r>
            <a:endParaRPr lang="en-US" sz="1200" dirty="0"/>
          </a:p>
        </p:txBody>
      </p:sp>
      <p:sp>
        <p:nvSpPr>
          <p:cNvPr id="16" name="s6_line_13"/>
          <p:cNvSpPr/>
          <p:nvPr/>
        </p:nvSpPr>
        <p:spPr>
          <a:xfrm>
            <a:off x="3886200" y="3063240"/>
            <a:ext cx="0" cy="228600"/>
          </a:xfrm>
          <a:prstGeom prst="line">
            <a:avLst/>
          </a:prstGeom>
          <a:noFill/>
          <a:ln w="19050">
            <a:solidFill>
              <a:srgbClr val="0F1626"/>
            </a:solidFill>
            <a:prstDash val="solid"/>
          </a:ln>
        </p:spPr>
      </p:sp>
      <p:sp>
        <p:nvSpPr>
          <p:cNvPr id="17" name="s6_rect_14"/>
          <p:cNvSpPr/>
          <p:nvPr/>
        </p:nvSpPr>
        <p:spPr>
          <a:xfrm>
            <a:off x="457200" y="3291840"/>
            <a:ext cx="6858000" cy="347472"/>
          </a:xfrm>
          <a:prstGeom prst="roundRect">
            <a:avLst>
              <a:gd name="adj" fmla="val 15789"/>
            </a:avLst>
          </a:prstGeom>
          <a:solidFill>
            <a:srgbClr val="E0F2F7"/>
          </a:solidFill>
          <a:ln/>
        </p:spPr>
      </p:sp>
      <p:sp>
        <p:nvSpPr>
          <p:cNvPr id="18" name="s6_text_15"/>
          <p:cNvSpPr txBox="1"/>
          <p:nvPr/>
        </p:nvSpPr>
        <p:spPr>
          <a:xfrm>
            <a:off x="457200" y="32918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Troncal 802.1Q (vtnet1 · bridge de Proxmox) · capa de acceso</a:t>
            </a:r>
            <a:endParaRPr lang="en-US" sz="1100" dirty="0"/>
          </a:p>
        </p:txBody>
      </p:sp>
      <p:sp>
        <p:nvSpPr>
          <p:cNvPr id="19" name="s6_line_16"/>
          <p:cNvSpPr/>
          <p:nvPr/>
        </p:nvSpPr>
        <p:spPr>
          <a:xfrm>
            <a:off x="1243584" y="3639312"/>
            <a:ext cx="0" cy="201168"/>
          </a:xfrm>
          <a:prstGeom prst="line">
            <a:avLst/>
          </a:prstGeom>
          <a:noFill/>
          <a:ln w="15875">
            <a:solidFill>
              <a:srgbClr val="0891B2"/>
            </a:solidFill>
            <a:prstDash val="solid"/>
          </a:ln>
        </p:spPr>
      </p:sp>
      <p:sp>
        <p:nvSpPr>
          <p:cNvPr id="20" name="s6_rect_17"/>
          <p:cNvSpPr/>
          <p:nvPr/>
        </p:nvSpPr>
        <p:spPr>
          <a:xfrm>
            <a:off x="457200" y="3840480"/>
            <a:ext cx="15819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21" name="s6_text_18"/>
          <p:cNvSpPr txBox="1"/>
          <p:nvPr/>
        </p:nvSpPr>
        <p:spPr>
          <a:xfrm>
            <a:off x="548640" y="3886200"/>
            <a:ext cx="1399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10 · CORP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192.168.10.0/24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VM104 · .50</a:t>
            </a:r>
            <a:endParaRPr lang="en-US" sz="1200" dirty="0"/>
          </a:p>
        </p:txBody>
      </p:sp>
      <p:sp>
        <p:nvSpPr>
          <p:cNvPr id="22" name="s6_line_19"/>
          <p:cNvSpPr/>
          <p:nvPr/>
        </p:nvSpPr>
        <p:spPr>
          <a:xfrm>
            <a:off x="3003804" y="3639312"/>
            <a:ext cx="0" cy="201168"/>
          </a:xfrm>
          <a:prstGeom prst="line">
            <a:avLst/>
          </a:prstGeom>
          <a:noFill/>
          <a:ln w="15875">
            <a:solidFill>
              <a:srgbClr val="0891B2"/>
            </a:solidFill>
            <a:prstDash val="solid"/>
          </a:ln>
        </p:spPr>
      </p:sp>
      <p:sp>
        <p:nvSpPr>
          <p:cNvPr id="23" name="s6_rect_20"/>
          <p:cNvSpPr/>
          <p:nvPr/>
        </p:nvSpPr>
        <p:spPr>
          <a:xfrm>
            <a:off x="2217420" y="3840480"/>
            <a:ext cx="15819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24" name="s6_text_21"/>
          <p:cNvSpPr txBox="1"/>
          <p:nvPr/>
        </p:nvSpPr>
        <p:spPr>
          <a:xfrm>
            <a:off x="2308860" y="3886200"/>
            <a:ext cx="1399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20 · DMZ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192.168.20.0/24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VM102 DVWA · .50</a:t>
            </a:r>
            <a:endParaRPr lang="en-US" sz="1200" dirty="0"/>
          </a:p>
        </p:txBody>
      </p:sp>
      <p:sp>
        <p:nvSpPr>
          <p:cNvPr id="25" name="s6_line_22"/>
          <p:cNvSpPr/>
          <p:nvPr/>
        </p:nvSpPr>
        <p:spPr>
          <a:xfrm>
            <a:off x="4764024" y="3639312"/>
            <a:ext cx="0" cy="201168"/>
          </a:xfrm>
          <a:prstGeom prst="line">
            <a:avLst/>
          </a:prstGeom>
          <a:noFill/>
          <a:ln w="15875">
            <a:solidFill>
              <a:srgbClr val="0891B2"/>
            </a:solidFill>
            <a:prstDash val="solid"/>
          </a:ln>
        </p:spPr>
      </p:sp>
      <p:sp>
        <p:nvSpPr>
          <p:cNvPr id="26" name="s6_rect_23"/>
          <p:cNvSpPr/>
          <p:nvPr/>
        </p:nvSpPr>
        <p:spPr>
          <a:xfrm>
            <a:off x="3977640" y="3840480"/>
            <a:ext cx="15819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27" name="s6_text_24"/>
          <p:cNvSpPr txBox="1"/>
          <p:nvPr/>
        </p:nvSpPr>
        <p:spPr>
          <a:xfrm>
            <a:off x="4069080" y="3886200"/>
            <a:ext cx="1399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30 · VOIP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192.168.30.0/24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VM103 Asterisk · .50</a:t>
            </a:r>
            <a:endParaRPr lang="en-US" sz="1200" dirty="0"/>
          </a:p>
        </p:txBody>
      </p:sp>
      <p:sp>
        <p:nvSpPr>
          <p:cNvPr id="28" name="s6_line_25"/>
          <p:cNvSpPr/>
          <p:nvPr/>
        </p:nvSpPr>
        <p:spPr>
          <a:xfrm>
            <a:off x="6524244" y="3639312"/>
            <a:ext cx="0" cy="201168"/>
          </a:xfrm>
          <a:prstGeom prst="line">
            <a:avLst/>
          </a:prstGeom>
          <a:noFill/>
          <a:ln w="15875">
            <a:solidFill>
              <a:srgbClr val="0891B2"/>
            </a:solidFill>
            <a:prstDash val="solid"/>
          </a:ln>
        </p:spPr>
      </p:sp>
      <p:sp>
        <p:nvSpPr>
          <p:cNvPr id="29" name="s6_rect_26"/>
          <p:cNvSpPr/>
          <p:nvPr/>
        </p:nvSpPr>
        <p:spPr>
          <a:xfrm>
            <a:off x="5737860" y="3840480"/>
            <a:ext cx="15819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30" name="s6_text_27"/>
          <p:cNvSpPr txBox="1"/>
          <p:nvPr/>
        </p:nvSpPr>
        <p:spPr>
          <a:xfrm>
            <a:off x="5829300" y="3886200"/>
            <a:ext cx="1399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99 · MGMT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192.168.99.0/24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pfSense .1 · VM105 .10</a:t>
            </a:r>
            <a:endParaRPr lang="en-US" sz="1200" dirty="0"/>
          </a:p>
        </p:txBody>
      </p:sp>
      <p:pic>
        <p:nvPicPr>
          <p:cNvPr id="31" name="s6_img_28" descr="Captura de pfSense: interfaces WAN, MGMT, CORP, DMZ y VOIP activas con sus direcciones 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937760"/>
            <a:ext cx="3429000" cy="1054123"/>
          </a:xfrm>
          <a:prstGeom prst="rect">
            <a:avLst/>
          </a:prstGeom>
        </p:spPr>
      </p:pic>
      <p:sp>
        <p:nvSpPr>
          <p:cNvPr id="32" name="s6_rect_29"/>
          <p:cNvSpPr/>
          <p:nvPr/>
        </p:nvSpPr>
        <p:spPr>
          <a:xfrm>
            <a:off x="457200" y="4937760"/>
            <a:ext cx="3429000" cy="1054123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33" name="s6_text_30"/>
          <p:cNvSpPr txBox="1"/>
          <p:nvPr/>
        </p:nvSpPr>
        <p:spPr>
          <a:xfrm>
            <a:off x="457200" y="6046747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real: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de pfSense con su IP en cada VLAN.</a:t>
            </a:r>
            <a:endParaRPr lang="en-US" sz="1100" dirty="0"/>
          </a:p>
        </p:txBody>
      </p:sp>
      <p:sp>
        <p:nvSpPr>
          <p:cNvPr id="34" name="s6_text_31"/>
          <p:cNvSpPr txBox="1"/>
          <p:nvPr/>
        </p:nvSpPr>
        <p:spPr>
          <a:xfrm>
            <a:off x="4114800" y="4983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.1 = pfSense en cada VLAN · DHCP .100–.199 · cada VLAN (capa 2) corresponde a una subred /24 (capa 3)</a:t>
            </a:r>
            <a:endParaRPr lang="en-US" sz="1100" dirty="0"/>
          </a:p>
        </p:txBody>
      </p:sp>
      <p:sp>
        <p:nvSpPr>
          <p:cNvPr id="35" name="s6_rect_32"/>
          <p:cNvSpPr/>
          <p:nvPr/>
        </p:nvSpPr>
        <p:spPr>
          <a:xfrm>
            <a:off x="7680960" y="1188720"/>
            <a:ext cx="4069080" cy="5074920"/>
          </a:xfrm>
          <a:prstGeom prst="roundRect">
            <a:avLst>
              <a:gd name="adj" fmla="val 2247"/>
            </a:avLst>
          </a:prstGeom>
          <a:solidFill>
            <a:srgbClr val="F3F4F6"/>
          </a:solidFill>
          <a:ln/>
        </p:spPr>
      </p:sp>
      <p:sp>
        <p:nvSpPr>
          <p:cNvPr id="36" name="s6_text_33"/>
          <p:cNvSpPr txBox="1"/>
          <p:nvPr/>
        </p:nvSpPr>
        <p:spPr>
          <a:xfrm>
            <a:off x="7863840" y="1298448"/>
            <a:ext cx="3749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jerárquico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Borde: </a:t>
            </a:r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+ KRONOS-EDGE publican y tunelizan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 y distribución (colapsados): </a:t>
            </a:r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pfSense enruta entre VLAN y aplica políticas</a:t>
            </a:r>
            <a:endParaRPr lang="en-US" sz="14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Acceso: 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802.1Q de Proxmox, cada VM en su VLAN</a:t>
            </a:r>
            <a:endParaRPr lang="en-US" sz="1400" dirty="0"/>
          </a:p>
        </p:txBody>
      </p:sp>
      <p:sp>
        <p:nvSpPr>
          <p:cNvPr id="37" name="s6_text_34"/>
          <p:cNvSpPr txBox="1"/>
          <p:nvPr/>
        </p:nvSpPr>
        <p:spPr>
          <a:xfrm>
            <a:off x="7863840" y="34290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Protocolos y justificación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802.1Q: 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 por función sin hardware extra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WireGuard: 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túnel cifrado que atraviesa el CGNAT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DHCP por VLAN: 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direccionamiento automático por segmento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+ HTTP/2: 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cifrado web terminado en HAProxy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(PJSIP) + RTP: 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señalización y audio de la llamada</a:t>
            </a:r>
            <a:endParaRPr lang="en-US" sz="14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Tailscale: 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sin abrir puertos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Simulación: ambiente y plan de pruebas</a:t>
            </a:r>
            <a:endParaRPr lang="en-US" sz="3000" dirty="0"/>
          </a:p>
        </p:txBody>
      </p:sp>
      <p:sp>
        <p:nvSpPr>
          <p:cNvPr id="3" name="s7_text_0"/>
          <p:cNvSpPr txBox="1"/>
          <p:nvPr/>
        </p:nvSpPr>
        <p:spPr>
          <a:xfrm>
            <a:off x="457200" y="11430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Ambiente:</a:t>
            </a:r>
            <a:endParaRPr lang="en-US" sz="1300" dirty="0"/>
          </a:p>
        </p:txBody>
      </p:sp>
      <p:sp>
        <p:nvSpPr>
          <p:cNvPr id="4" name="s7_rect_1"/>
          <p:cNvSpPr/>
          <p:nvPr/>
        </p:nvSpPr>
        <p:spPr>
          <a:xfrm>
            <a:off x="1463040" y="1161288"/>
            <a:ext cx="1302106" cy="292608"/>
          </a:xfrm>
          <a:prstGeom prst="roundRect">
            <a:avLst>
              <a:gd name="adj" fmla="val 50000"/>
            </a:avLst>
          </a:prstGeom>
          <a:solidFill>
            <a:srgbClr val="E0F2F7"/>
          </a:solidFill>
          <a:ln/>
        </p:spPr>
      </p:sp>
      <p:sp>
        <p:nvSpPr>
          <p:cNvPr id="5" name="s7_text_2"/>
          <p:cNvSpPr txBox="1"/>
          <p:nvPr/>
        </p:nvSpPr>
        <p:spPr>
          <a:xfrm>
            <a:off x="1463040" y="1161288"/>
            <a:ext cx="1302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Proxmox VE · 6 VM</a:t>
            </a:r>
            <a:endParaRPr lang="en-US" sz="1000" dirty="0"/>
          </a:p>
        </p:txBody>
      </p:sp>
      <p:sp>
        <p:nvSpPr>
          <p:cNvPr id="6" name="s7_rect_3"/>
          <p:cNvSpPr/>
          <p:nvPr/>
        </p:nvSpPr>
        <p:spPr>
          <a:xfrm>
            <a:off x="2838298" y="1161288"/>
            <a:ext cx="1433779" cy="292608"/>
          </a:xfrm>
          <a:prstGeom prst="roundRect">
            <a:avLst>
              <a:gd name="adj" fmla="val 50000"/>
            </a:avLst>
          </a:prstGeom>
          <a:solidFill>
            <a:srgbClr val="E0F2F7"/>
          </a:solidFill>
          <a:ln/>
        </p:spPr>
      </p:sp>
      <p:sp>
        <p:nvSpPr>
          <p:cNvPr id="7" name="s7_text_4"/>
          <p:cNvSpPr txBox="1"/>
          <p:nvPr/>
        </p:nvSpPr>
        <p:spPr>
          <a:xfrm>
            <a:off x="2838298" y="1161288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EC2 + WireGuard</a:t>
            </a:r>
            <a:endParaRPr lang="en-US" sz="1000" dirty="0"/>
          </a:p>
        </p:txBody>
      </p:sp>
      <p:sp>
        <p:nvSpPr>
          <p:cNvPr id="8" name="s7_rect_5"/>
          <p:cNvSpPr/>
          <p:nvPr/>
        </p:nvSpPr>
        <p:spPr>
          <a:xfrm>
            <a:off x="4345229" y="1161288"/>
            <a:ext cx="1236269" cy="292608"/>
          </a:xfrm>
          <a:prstGeom prst="roundRect">
            <a:avLst>
              <a:gd name="adj" fmla="val 50000"/>
            </a:avLst>
          </a:prstGeom>
          <a:solidFill>
            <a:srgbClr val="E0F2F7"/>
          </a:solidFill>
          <a:ln/>
        </p:spPr>
      </p:sp>
      <p:sp>
        <p:nvSpPr>
          <p:cNvPr id="9" name="s7_text_6"/>
          <p:cNvSpPr txBox="1"/>
          <p:nvPr/>
        </p:nvSpPr>
        <p:spPr>
          <a:xfrm>
            <a:off x="4345229" y="1161288"/>
            <a:ext cx="12362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pfSense CE 2.9.0</a:t>
            </a:r>
            <a:endParaRPr lang="en-US" sz="1000" dirty="0"/>
          </a:p>
        </p:txBody>
      </p:sp>
      <p:sp>
        <p:nvSpPr>
          <p:cNvPr id="10" name="s7_rect_7"/>
          <p:cNvSpPr/>
          <p:nvPr/>
        </p:nvSpPr>
        <p:spPr>
          <a:xfrm>
            <a:off x="5654650" y="1161288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E0F2F7"/>
          </a:solidFill>
          <a:ln/>
        </p:spPr>
      </p:sp>
      <p:sp>
        <p:nvSpPr>
          <p:cNvPr id="11" name="s7_text_8"/>
          <p:cNvSpPr txBox="1"/>
          <p:nvPr/>
        </p:nvSpPr>
        <p:spPr>
          <a:xfrm>
            <a:off x="5654650" y="116128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Suricata 7</a:t>
            </a:r>
            <a:endParaRPr lang="en-US" sz="1000" dirty="0"/>
          </a:p>
        </p:txBody>
      </p:sp>
      <p:sp>
        <p:nvSpPr>
          <p:cNvPr id="12" name="s7_rect_9"/>
          <p:cNvSpPr/>
          <p:nvPr/>
        </p:nvSpPr>
        <p:spPr>
          <a:xfrm>
            <a:off x="6569050" y="1161288"/>
            <a:ext cx="1367942" cy="292608"/>
          </a:xfrm>
          <a:prstGeom prst="roundRect">
            <a:avLst>
              <a:gd name="adj" fmla="val 50000"/>
            </a:avLst>
          </a:prstGeom>
          <a:solidFill>
            <a:srgbClr val="E0F2F7"/>
          </a:solidFill>
          <a:ln/>
        </p:spPr>
      </p:sp>
      <p:sp>
        <p:nvSpPr>
          <p:cNvPr id="13" name="s7_text_10"/>
          <p:cNvSpPr txBox="1"/>
          <p:nvPr/>
        </p:nvSpPr>
        <p:spPr>
          <a:xfrm>
            <a:off x="6569050" y="1161288"/>
            <a:ext cx="13679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pfBlockerNG 3.2.17</a:t>
            </a:r>
            <a:endParaRPr lang="en-US" sz="1000" dirty="0"/>
          </a:p>
        </p:txBody>
      </p:sp>
      <p:sp>
        <p:nvSpPr>
          <p:cNvPr id="14" name="s7_rect_11"/>
          <p:cNvSpPr/>
          <p:nvPr/>
        </p:nvSpPr>
        <p:spPr>
          <a:xfrm>
            <a:off x="8010144" y="1161288"/>
            <a:ext cx="1104595" cy="292608"/>
          </a:xfrm>
          <a:prstGeom prst="roundRect">
            <a:avLst>
              <a:gd name="adj" fmla="val 50000"/>
            </a:avLst>
          </a:prstGeom>
          <a:solidFill>
            <a:srgbClr val="E0F2F7"/>
          </a:solidFill>
          <a:ln/>
        </p:spPr>
      </p:sp>
      <p:sp>
        <p:nvSpPr>
          <p:cNvPr id="15" name="s7_text_12"/>
          <p:cNvSpPr txBox="1"/>
          <p:nvPr/>
        </p:nvSpPr>
        <p:spPr>
          <a:xfrm>
            <a:off x="8010144" y="1161288"/>
            <a:ext cx="11045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HAProxy 3.2.19</a:t>
            </a:r>
            <a:endParaRPr lang="en-US" sz="1000" dirty="0"/>
          </a:p>
        </p:txBody>
      </p:sp>
      <p:sp>
        <p:nvSpPr>
          <p:cNvPr id="16" name="s7_rect_13"/>
          <p:cNvSpPr/>
          <p:nvPr/>
        </p:nvSpPr>
        <p:spPr>
          <a:xfrm>
            <a:off x="9187891" y="1161288"/>
            <a:ext cx="1038758" cy="292608"/>
          </a:xfrm>
          <a:prstGeom prst="roundRect">
            <a:avLst>
              <a:gd name="adj" fmla="val 50000"/>
            </a:avLst>
          </a:prstGeom>
          <a:solidFill>
            <a:srgbClr val="E0F2F7"/>
          </a:solidFill>
          <a:ln/>
        </p:spPr>
      </p:sp>
      <p:sp>
        <p:nvSpPr>
          <p:cNvPr id="17" name="s7_text_14"/>
          <p:cNvSpPr txBox="1"/>
          <p:nvPr/>
        </p:nvSpPr>
        <p:spPr>
          <a:xfrm>
            <a:off x="9187891" y="1161288"/>
            <a:ext cx="10387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Asterisk 20.6</a:t>
            </a:r>
            <a:endParaRPr lang="en-US" sz="1000" dirty="0"/>
          </a:p>
        </p:txBody>
      </p:sp>
      <p:sp>
        <p:nvSpPr>
          <p:cNvPr id="18" name="s7_rect_15"/>
          <p:cNvSpPr/>
          <p:nvPr/>
        </p:nvSpPr>
        <p:spPr>
          <a:xfrm>
            <a:off x="10299802" y="1161288"/>
            <a:ext cx="907085" cy="292608"/>
          </a:xfrm>
          <a:prstGeom prst="roundRect">
            <a:avLst>
              <a:gd name="adj" fmla="val 50000"/>
            </a:avLst>
          </a:prstGeom>
          <a:solidFill>
            <a:srgbClr val="E0F2F7"/>
          </a:solidFill>
          <a:ln/>
        </p:spPr>
      </p:sp>
      <p:sp>
        <p:nvSpPr>
          <p:cNvPr id="19" name="s7_text_16"/>
          <p:cNvSpPr txBox="1"/>
          <p:nvPr/>
        </p:nvSpPr>
        <p:spPr>
          <a:xfrm>
            <a:off x="10299802" y="1161288"/>
            <a:ext cx="9070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</a:t>
            </a:r>
            <a:endParaRPr lang="en-US" sz="1000" dirty="0"/>
          </a:p>
        </p:txBody>
      </p:sp>
      <p:graphicFrame>
        <p:nvGraphicFramePr>
          <p:cNvPr id="8" name="s7_table_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690372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828800"/>
                <a:gridCol w="2240280"/>
                <a:gridCol w="1051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Prueba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Esperado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Obtenido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A2 Aislamiento VLAN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Accesos y bloqueos según política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de 16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A3 IPS Inline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Firmas sin errores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26.628 y 26.629; 0 fallidas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A3 Guard IPS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Cierre en menos de 1,5 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0,926 s y 1,177 s; 0 escapes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A4 Reputación y GeoIP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Bloqueo sin conexiones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2.930 paquetes; 0 estados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A5 HTTPS y límites L7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301 a HTTPS; 429 al abusar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429 tras 5 logins; DMZ sin acceso directo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A6 SQLi → kernel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 en tabla snort2c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1=1 detectada; IP bloqueada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A7–A8 Llamada al CISO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Llamada y respuesta por voz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Originate a ext. 1001; voz Gemini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A10 Tiempo 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Menos de 1,5 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Aún no medido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1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E"/>
                    </a:solidFill>
                  </a:tcPr>
                </a:tc>
              </a:tr>
            </a:tbl>
          </a:graphicData>
        </a:graphic>
      </p:graphicFrame>
      <p:sp>
        <p:nvSpPr>
          <p:cNvPr id="21" name="s7_rect_18"/>
          <p:cNvSpPr/>
          <p:nvPr/>
        </p:nvSpPr>
        <p:spPr>
          <a:xfrm>
            <a:off x="7635240" y="1645920"/>
            <a:ext cx="4069080" cy="1874520"/>
          </a:xfrm>
          <a:prstGeom prst="roundRect">
            <a:avLst>
              <a:gd name="adj" fmla="val 2927"/>
            </a:avLst>
          </a:prstGeom>
          <a:solidFill>
            <a:srgbClr val="0B1220"/>
          </a:solidFill>
          <a:ln/>
        </p:spPr>
      </p:sp>
      <p:sp>
        <p:nvSpPr>
          <p:cNvPr id="22" name="s7_text_19"/>
          <p:cNvSpPr txBox="1"/>
          <p:nvPr/>
        </p:nvSpPr>
        <p:spPr>
          <a:xfrm>
            <a:off x="7772400" y="1755648"/>
            <a:ext cx="379476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pfctl -vvs rules | grep -A1 "KRONOS A4"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@74 block drop in log quick on vtnet0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&lt;pfB_Europe_v4:13190&gt; "KRONOS A4 GeoIP RU"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Packets: 54   States: 0 ]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@76 ... &lt;pfB_KRONOS_DROP_v4:1687&gt; Spamhaus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Packets: 1296 States: 0 ]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@77 ... &lt;pfB_KRONOS_FIREHOL_v4:4623&gt; FireHOL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Packets: 1574 States: 0 ]</a:t>
            </a:r>
            <a:endParaRPr lang="en-US" sz="1000" dirty="0"/>
          </a:p>
        </p:txBody>
      </p:sp>
      <p:sp>
        <p:nvSpPr>
          <p:cNvPr id="23" name="s7_text_20"/>
          <p:cNvSpPr txBox="1"/>
          <p:nvPr/>
        </p:nvSpPr>
        <p:spPr>
          <a:xfrm>
            <a:off x="7635240" y="3575304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· consola pfSense (25-oct):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paquetes bloqueados por cada regla, sin conexiones abiertas.</a:t>
            </a:r>
            <a:endParaRPr lang="en-US" sz="1100" dirty="0"/>
          </a:p>
        </p:txBody>
      </p:sp>
      <p:pic>
        <p:nvPicPr>
          <p:cNvPr id="24" name="s7_img_21" descr="Consola de KRONOS-EDGE con pruebas curl contra HAProxy: respuestas 200, 429 y timeout a la DM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4023360"/>
            <a:ext cx="4069080" cy="1566352"/>
          </a:xfrm>
          <a:prstGeom prst="rect">
            <a:avLst/>
          </a:prstGeom>
        </p:spPr>
      </p:pic>
      <p:sp>
        <p:nvSpPr>
          <p:cNvPr id="25" name="s7_rect_22"/>
          <p:cNvSpPr/>
          <p:nvPr/>
        </p:nvSpPr>
        <p:spPr>
          <a:xfrm>
            <a:off x="7635240" y="4023360"/>
            <a:ext cx="4069080" cy="1566352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26" name="s7_text_23"/>
          <p:cNvSpPr txBox="1"/>
          <p:nvPr/>
        </p:nvSpPr>
        <p:spPr>
          <a:xfrm>
            <a:off x="7635240" y="5644576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 · consola EDGE (18-oct):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logins con 200 y luego 429; la DMZ directa da timeout.</a:t>
            </a:r>
            <a:endParaRPr lang="en-US" sz="1100" dirty="0"/>
          </a:p>
        </p:txBody>
      </p:sp>
      <p:sp>
        <p:nvSpPr>
          <p:cNvPr id="27" name="s7_text_24"/>
          <p:cNvSpPr txBox="1"/>
          <p:nvPr/>
        </p:nvSpPr>
        <p:spPr>
          <a:xfrm>
            <a:off x="457200" y="5989320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capturas originales en los anexos A a D (slides 11 a 14). «Simulado»: ataque generado en el laboratorio.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Seguridad, QoS y tendencias</a:t>
            </a:r>
            <a:endParaRPr lang="en-US" sz="3000" dirty="0"/>
          </a:p>
        </p:txBody>
      </p:sp>
      <p:sp>
        <p:nvSpPr>
          <p:cNvPr id="3" name="s8_rect_0"/>
          <p:cNvSpPr/>
          <p:nvPr/>
        </p:nvSpPr>
        <p:spPr>
          <a:xfrm>
            <a:off x="457200" y="1188720"/>
            <a:ext cx="4206240" cy="3429000"/>
          </a:xfrm>
          <a:prstGeom prst="roundRect">
            <a:avLst>
              <a:gd name="adj" fmla="val 2667"/>
            </a:avLst>
          </a:prstGeom>
          <a:solidFill>
            <a:srgbClr val="F3F4F6"/>
          </a:solidFill>
          <a:ln/>
        </p:spPr>
      </p:sp>
      <p:sp>
        <p:nvSpPr>
          <p:cNvPr id="4" name="s8_text_1"/>
          <p:cNvSpPr txBox="1"/>
          <p:nvPr/>
        </p:nvSpPr>
        <p:spPr>
          <a:xfrm>
            <a:off x="68580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5" name="s8_rect_2"/>
          <p:cNvSpPr/>
          <p:nvPr/>
        </p:nvSpPr>
        <p:spPr>
          <a:xfrm>
            <a:off x="3200400" y="141732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6F4F5"/>
          </a:solidFill>
          <a:ln/>
        </p:spPr>
      </p:sp>
      <p:sp>
        <p:nvSpPr>
          <p:cNvPr id="6" name="s8_text_3"/>
          <p:cNvSpPr txBox="1"/>
          <p:nvPr/>
        </p:nvSpPr>
        <p:spPr>
          <a:xfrm>
            <a:off x="320040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</a:t>
            </a:r>
            <a:endParaRPr lang="en-US" sz="1100" dirty="0"/>
          </a:p>
        </p:txBody>
      </p:sp>
      <p:sp>
        <p:nvSpPr>
          <p:cNvPr id="7" name="s8_text_4"/>
          <p:cNvSpPr txBox="1"/>
          <p:nvPr/>
        </p:nvSpPr>
        <p:spPr>
          <a:xfrm>
            <a:off x="685800" y="1783080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Denegación por defecto y aislamiento entre VLAN</a:t>
            </a:r>
            <a:endParaRPr lang="en-US" sz="13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IPS Suricata Inline en la WAN y el troncal, con cierre ante fallos</a:t>
            </a:r>
            <a:endParaRPr lang="en-US" sz="13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Reputación (Spamhaus DROP, FireHOL) y GeoIP en la WAN</a:t>
            </a:r>
            <a:endParaRPr lang="en-US" sz="13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con CA interna, cabeceras seguras y límites contra fuerza bruta</a:t>
            </a:r>
            <a:endParaRPr lang="en-US" sz="13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Bloqueo automático del atacante con pfctl (tabla snort2c)</a:t>
            </a:r>
            <a:endParaRPr lang="en-US" sz="13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solo por la VLAN 99 y una tailnet separada</a:t>
            </a:r>
            <a:endParaRPr lang="en-US" sz="1300" dirty="0"/>
          </a:p>
        </p:txBody>
      </p:sp>
      <p:sp>
        <p:nvSpPr>
          <p:cNvPr id="8" name="s8_rect_5"/>
          <p:cNvSpPr/>
          <p:nvPr/>
        </p:nvSpPr>
        <p:spPr>
          <a:xfrm>
            <a:off x="4892040" y="1188720"/>
            <a:ext cx="3703320" cy="3429000"/>
          </a:xfrm>
          <a:prstGeom prst="roundRect">
            <a:avLst>
              <a:gd name="adj" fmla="val 2667"/>
            </a:avLst>
          </a:prstGeom>
          <a:solidFill>
            <a:srgbClr val="F3F4F6"/>
          </a:solidFill>
          <a:ln/>
        </p:spPr>
      </p:sp>
      <p:sp>
        <p:nvSpPr>
          <p:cNvPr id="9" name="s8_text_6"/>
          <p:cNvSpPr txBox="1"/>
          <p:nvPr/>
        </p:nvSpPr>
        <p:spPr>
          <a:xfrm>
            <a:off x="512064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Tendencias</a:t>
            </a:r>
            <a:endParaRPr lang="en-US" sz="1600" dirty="0"/>
          </a:p>
        </p:txBody>
      </p:sp>
      <p:sp>
        <p:nvSpPr>
          <p:cNvPr id="10" name="s8_rect_7"/>
          <p:cNvSpPr/>
          <p:nvPr/>
        </p:nvSpPr>
        <p:spPr>
          <a:xfrm>
            <a:off x="7132320" y="141732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6F4F5"/>
          </a:solidFill>
          <a:ln/>
        </p:spPr>
      </p:sp>
      <p:sp>
        <p:nvSpPr>
          <p:cNvPr id="11" name="s8_text_8"/>
          <p:cNvSpPr txBox="1"/>
          <p:nvPr/>
        </p:nvSpPr>
        <p:spPr>
          <a:xfrm>
            <a:off x="713232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</a:t>
            </a:r>
            <a:endParaRPr lang="en-US" sz="1100" dirty="0"/>
          </a:p>
        </p:txBody>
      </p:sp>
      <p:sp>
        <p:nvSpPr>
          <p:cNvPr id="12" name="s8_text_9"/>
          <p:cNvSpPr txBox="1"/>
          <p:nvPr/>
        </p:nvSpPr>
        <p:spPr>
          <a:xfrm>
            <a:off x="5120640" y="1783080"/>
            <a:ext cx="32461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Nube: borde público en AWS EC2 con WireGuard</a:t>
            </a:r>
            <a:endParaRPr lang="en-US" sz="13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Automatización: listas y GeoIP actualizadas cada día a las 00:00, infraestructura como código y suite de pruebas</a:t>
            </a:r>
            <a:endParaRPr lang="en-US" sz="13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IA: agente de voz Gemini con herramientas SOAR</a:t>
            </a:r>
            <a:endParaRPr lang="en-US" sz="1300" dirty="0"/>
          </a:p>
        </p:txBody>
      </p:sp>
      <p:sp>
        <p:nvSpPr>
          <p:cNvPr id="13" name="s8_rect_10"/>
          <p:cNvSpPr/>
          <p:nvPr/>
        </p:nvSpPr>
        <p:spPr>
          <a:xfrm>
            <a:off x="8823960" y="1188720"/>
            <a:ext cx="2880360" cy="3429000"/>
          </a:xfrm>
          <a:prstGeom prst="roundRect">
            <a:avLst>
              <a:gd name="adj" fmla="val 3175"/>
            </a:avLst>
          </a:prstGeom>
          <a:solidFill>
            <a:srgbClr val="F3F4F6"/>
          </a:solidFill>
          <a:ln/>
        </p:spPr>
      </p:sp>
      <p:sp>
        <p:nvSpPr>
          <p:cNvPr id="14" name="s8_text_11"/>
          <p:cNvSpPr txBox="1"/>
          <p:nvPr/>
        </p:nvSpPr>
        <p:spPr>
          <a:xfrm>
            <a:off x="9052560" y="13716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QoS</a:t>
            </a:r>
            <a:endParaRPr lang="en-US" sz="1600" dirty="0"/>
          </a:p>
        </p:txBody>
      </p:sp>
      <p:sp>
        <p:nvSpPr>
          <p:cNvPr id="15" name="s8_rect_12"/>
          <p:cNvSpPr/>
          <p:nvPr/>
        </p:nvSpPr>
        <p:spPr>
          <a:xfrm>
            <a:off x="10241280" y="141732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CE7EE"/>
          </a:solidFill>
          <a:ln/>
        </p:spPr>
      </p:sp>
      <p:sp>
        <p:nvSpPr>
          <p:cNvPr id="16" name="s8_text_13"/>
          <p:cNvSpPr txBox="1"/>
          <p:nvPr/>
        </p:nvSpPr>
        <p:spPr>
          <a:xfrm>
            <a:off x="1024128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1100" dirty="0"/>
          </a:p>
        </p:txBody>
      </p:sp>
      <p:sp>
        <p:nvSpPr>
          <p:cNvPr id="17" name="s8_text_14"/>
          <p:cNvSpPr txBox="1"/>
          <p:nvPr/>
        </p:nvSpPr>
        <p:spPr>
          <a:xfrm>
            <a:off x="9052560" y="178308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30 dedicada a voz y Asterisk operativo</a:t>
            </a:r>
            <a:endParaRPr lang="en-US" sz="13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Priorización del tráfico de voz: se configura en A9 (23–29 nov)</a:t>
            </a:r>
            <a:endParaRPr lang="en-US" sz="1300" dirty="0"/>
          </a:p>
        </p:txBody>
      </p:sp>
      <p:sp>
        <p:nvSpPr>
          <p:cNvPr id="18" name="s8_rect_15"/>
          <p:cNvSpPr/>
          <p:nvPr/>
        </p:nvSpPr>
        <p:spPr>
          <a:xfrm>
            <a:off x="457200" y="48006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8_text_16"/>
          <p:cNvSpPr txBox="1"/>
          <p:nvPr/>
        </p:nvSpPr>
        <p:spPr>
          <a:xfrm>
            <a:off x="640080" y="48646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2.930</a:t>
            </a:r>
            <a:endParaRPr lang="en-US" sz="3400" dirty="0"/>
          </a:p>
        </p:txBody>
      </p:sp>
      <p:sp>
        <p:nvSpPr>
          <p:cNvPr id="20" name="s8_text_17"/>
          <p:cNvSpPr txBox="1"/>
          <p:nvPr/>
        </p:nvSpPr>
        <p:spPr>
          <a:xfrm>
            <a:off x="640080" y="5532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paquetes maliciosos reales bloqueados en la WAN (A4)</a:t>
            </a:r>
            <a:endParaRPr lang="en-US" sz="1200" dirty="0"/>
          </a:p>
        </p:txBody>
      </p:sp>
      <p:sp>
        <p:nvSpPr>
          <p:cNvPr id="21" name="s8_rect_18"/>
          <p:cNvSpPr/>
          <p:nvPr/>
        </p:nvSpPr>
        <p:spPr>
          <a:xfrm>
            <a:off x="3291840" y="48006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8_text_19"/>
          <p:cNvSpPr txBox="1"/>
          <p:nvPr/>
        </p:nvSpPr>
        <p:spPr>
          <a:xfrm>
            <a:off x="3474720" y="48646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1,2 s</a:t>
            </a:r>
            <a:endParaRPr lang="en-US" sz="3400" dirty="0"/>
          </a:p>
        </p:txBody>
      </p:sp>
      <p:sp>
        <p:nvSpPr>
          <p:cNvPr id="23" name="s8_text_20"/>
          <p:cNvSpPr txBox="1"/>
          <p:nvPr/>
        </p:nvSpPr>
        <p:spPr>
          <a:xfrm>
            <a:off x="3474720" y="5532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del tráfico si el IPS falla (A3)</a:t>
            </a:r>
            <a:endParaRPr lang="en-US" sz="1200" dirty="0"/>
          </a:p>
        </p:txBody>
      </p:sp>
      <p:sp>
        <p:nvSpPr>
          <p:cNvPr id="24" name="s8_rect_21"/>
          <p:cNvSpPr/>
          <p:nvPr/>
        </p:nvSpPr>
        <p:spPr>
          <a:xfrm>
            <a:off x="6126480" y="48006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8_text_22"/>
          <p:cNvSpPr txBox="1"/>
          <p:nvPr/>
        </p:nvSpPr>
        <p:spPr>
          <a:xfrm>
            <a:off x="6309360" y="48646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429</a:t>
            </a:r>
            <a:endParaRPr lang="en-US" sz="3400" dirty="0"/>
          </a:p>
        </p:txBody>
      </p:sp>
      <p:sp>
        <p:nvSpPr>
          <p:cNvPr id="26" name="s8_text_23"/>
          <p:cNvSpPr txBox="1"/>
          <p:nvPr/>
        </p:nvSpPr>
        <p:spPr>
          <a:xfrm>
            <a:off x="6309360" y="5532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de HAProxy desde el 6.º intento seguido de login (A5)</a:t>
            </a:r>
            <a:endParaRPr lang="en-US" sz="1200" dirty="0"/>
          </a:p>
        </p:txBody>
      </p:sp>
      <p:sp>
        <p:nvSpPr>
          <p:cNvPr id="27" name="s8_rect_24"/>
          <p:cNvSpPr/>
          <p:nvPr/>
        </p:nvSpPr>
        <p:spPr>
          <a:xfrm>
            <a:off x="8961120" y="48006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8_text_25"/>
          <p:cNvSpPr txBox="1"/>
          <p:nvPr/>
        </p:nvSpPr>
        <p:spPr>
          <a:xfrm>
            <a:off x="9144000" y="48646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26.628</a:t>
            </a:r>
            <a:endParaRPr lang="en-US" sz="3400" dirty="0"/>
          </a:p>
        </p:txBody>
      </p:sp>
      <p:sp>
        <p:nvSpPr>
          <p:cNvPr id="29" name="s8_text_26"/>
          <p:cNvSpPr txBox="1"/>
          <p:nvPr/>
        </p:nvSpPr>
        <p:spPr>
          <a:xfrm>
            <a:off x="9144000" y="5532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firmas Suricata activas en la WAN, 0 fallidas (A3)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indicadores de calidad</a:t>
            </a:r>
            <a:endParaRPr lang="en-US" sz="3000" dirty="0"/>
          </a:p>
        </p:txBody>
      </p:sp>
      <p:sp>
        <p:nvSpPr>
          <p:cNvPr id="3" name="s9_text_0"/>
          <p:cNvSpPr txBox="1"/>
          <p:nvPr/>
        </p:nvSpPr>
        <p:spPr>
          <a:xfrm>
            <a:off x="7589520" y="3840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logrados</a:t>
            </a:r>
            <a:pPr algn="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en curso</a:t>
            </a:r>
            <a:endParaRPr lang="en-US" sz="1600" dirty="0"/>
          </a:p>
        </p:txBody>
      </p:sp>
      <p:graphicFrame>
        <p:nvGraphicFramePr>
          <p:cNvPr id="10" name="s9_table_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206240"/>
                <a:gridCol w="5120640"/>
                <a:gridCol w="12801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 de calidad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 una red LAN/WAN según estándares de seguridad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 6; A2 con 16 PASS (evidencias/2026-10-02)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Logrado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Entrega evidencia de la simulación de la 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 7; colecciones fechadas en evidencias/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Logrado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 de datos convergente con calidad de servicio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VLAN 30 de voz y Asterisk (A7); QoS sin configurar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curso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Escalabilidad según el modelo de capas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 6: núcleo colapsado y VLAN por servicio; tablas PF de 2.000.000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Logrado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Tecnologías emergentes: nube y automatización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Borde AWS; listas diarias; infraestructura como código (infra/)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Logrado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Servicios de red convergentes y escalables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DMZ (HAProxy + DVWA), VoIP (Asterisk) y gestión (VLAN 99)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Logrado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de mantenimiento preventivo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Actualizaciones automáticas (pfBlockerNG, MaxMind, firmas ET); falta plan formal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curso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Tendencias en servicios de red: virtualización y nube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Proxmox VE (6 VM) y AWS EC2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Logrado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Solución con políticas de seguridad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 8; evidencias A3, A4 (25-oct) y A5 (18-oct)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Logrado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de monitoreo permanente de la seguridad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Registros de Suricata y pfBlockerNG + motor KRONOS; plan formal en A10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curso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Solución con tendencias tecnológicas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Arquitectura SOAR con IA de voz (A6–A8)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Logrado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_text_0"/>
          <p:cNvSpPr txBox="1"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 y cierre</a:t>
            </a:r>
            <a:endParaRPr lang="en-US" sz="3000" dirty="0"/>
          </a:p>
        </p:txBody>
      </p:sp>
      <p:sp>
        <p:nvSpPr>
          <p:cNvPr id="3" name="s10_text_1"/>
          <p:cNvSpPr txBox="1"/>
          <p:nvPr/>
        </p:nvSpPr>
        <p:spPr>
          <a:xfrm>
            <a:off x="548640" y="12344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Pendientes hacia el informe final</a:t>
            </a:r>
            <a:endParaRPr lang="en-US" sz="1500" dirty="0"/>
          </a:p>
        </p:txBody>
      </p:sp>
      <p:sp>
        <p:nvSpPr>
          <p:cNvPr id="4" name="s10_text_2"/>
          <p:cNvSpPr txBox="1"/>
          <p:nvPr/>
        </p:nvSpPr>
        <p:spPr>
          <a:xfrm>
            <a:off x="6903720" y="1234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 y mitigación</a:t>
            </a:r>
            <a:endParaRPr lang="en-US" sz="1500" dirty="0"/>
          </a:p>
        </p:txBody>
      </p:sp>
      <p:sp>
        <p:nvSpPr>
          <p:cNvPr id="5" name="s10_rect_3"/>
          <p:cNvSpPr/>
          <p:nvPr/>
        </p:nvSpPr>
        <p:spPr>
          <a:xfrm>
            <a:off x="548640" y="1691640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1B2436"/>
          </a:solidFill>
          <a:ln/>
        </p:spPr>
      </p:sp>
      <p:sp>
        <p:nvSpPr>
          <p:cNvPr id="6" name="s10_text_4"/>
          <p:cNvSpPr txBox="1"/>
          <p:nvPr/>
        </p:nvSpPr>
        <p:spPr>
          <a:xfrm>
            <a:off x="731520" y="1746504"/>
            <a:ext cx="5715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de acceso a DVWA desde Internet por el borde AWS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Cristóbal · antes del 3-nov</a:t>
            </a:r>
            <a:endParaRPr lang="en-US" sz="1300" dirty="0"/>
          </a:p>
        </p:txBody>
      </p:sp>
      <p:sp>
        <p:nvSpPr>
          <p:cNvPr id="7" name="s10_rect_5"/>
          <p:cNvSpPr/>
          <p:nvPr/>
        </p:nvSpPr>
        <p:spPr>
          <a:xfrm>
            <a:off x="548640" y="2350008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1B2436"/>
          </a:solidFill>
          <a:ln/>
        </p:spPr>
      </p:sp>
      <p:sp>
        <p:nvSpPr>
          <p:cNvPr id="8" name="s10_text_6"/>
          <p:cNvSpPr txBox="1"/>
          <p:nvPr/>
        </p:nvSpPr>
        <p:spPr>
          <a:xfrm>
            <a:off x="731520" y="2404872"/>
            <a:ext cx="5715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Justificar o ampliar el alcance GeoIP (RU y KP de 6 países)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y Bruno · antes del 3-nov</a:t>
            </a:r>
            <a:endParaRPr lang="en-US" sz="1300" dirty="0"/>
          </a:p>
        </p:txBody>
      </p:sp>
      <p:sp>
        <p:nvSpPr>
          <p:cNvPr id="9" name="s10_rect_7"/>
          <p:cNvSpPr/>
          <p:nvPr/>
        </p:nvSpPr>
        <p:spPr>
          <a:xfrm>
            <a:off x="548640" y="3008376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1B2436"/>
          </a:solidFill>
          <a:ln/>
        </p:spPr>
      </p:sp>
      <p:sp>
        <p:nvSpPr>
          <p:cNvPr id="10" name="s10_text_8"/>
          <p:cNvSpPr txBox="1"/>
          <p:nvPr/>
        </p:nvSpPr>
        <p:spPr>
          <a:xfrm>
            <a:off x="731520" y="3063240"/>
            <a:ext cx="5715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nativa del bloqueo en la tabla snort2c (A6)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Bruno · antes del 3-nov</a:t>
            </a:r>
            <a:endParaRPr lang="en-US" sz="1300" dirty="0"/>
          </a:p>
        </p:txBody>
      </p:sp>
      <p:sp>
        <p:nvSpPr>
          <p:cNvPr id="11" name="s10_rect_9"/>
          <p:cNvSpPr/>
          <p:nvPr/>
        </p:nvSpPr>
        <p:spPr>
          <a:xfrm>
            <a:off x="548640" y="3666744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1B2436"/>
          </a:solidFill>
          <a:ln/>
        </p:spPr>
      </p:sp>
      <p:sp>
        <p:nvSpPr>
          <p:cNvPr id="12" name="s10_text_10"/>
          <p:cNvSpPr txBox="1"/>
          <p:nvPr/>
        </p:nvSpPr>
        <p:spPr>
          <a:xfrm>
            <a:off x="731520" y="3721608"/>
            <a:ext cx="5715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QoS de voz, softphones y ACL de acceso remoto (A9)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Freddy · 23–29 nov</a:t>
            </a:r>
            <a:endParaRPr lang="en-US" sz="1300" dirty="0"/>
          </a:p>
        </p:txBody>
      </p:sp>
      <p:sp>
        <p:nvSpPr>
          <p:cNvPr id="13" name="s10_rect_11"/>
          <p:cNvSpPr/>
          <p:nvPr/>
        </p:nvSpPr>
        <p:spPr>
          <a:xfrm>
            <a:off x="548640" y="4325112"/>
            <a:ext cx="6035040" cy="868680"/>
          </a:xfrm>
          <a:prstGeom prst="roundRect">
            <a:avLst>
              <a:gd name="adj" fmla="val 6316"/>
            </a:avLst>
          </a:prstGeom>
          <a:solidFill>
            <a:srgbClr val="1B2436"/>
          </a:solidFill>
          <a:ln/>
        </p:spPr>
      </p:sp>
      <p:sp>
        <p:nvSpPr>
          <p:cNvPr id="14" name="s10_text_12"/>
          <p:cNvSpPr txBox="1"/>
          <p:nvPr/>
        </p:nvSpPr>
        <p:spPr>
          <a:xfrm>
            <a:off x="731520" y="4379976"/>
            <a:ext cx="5715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integral: tiempo total menor a 1,5 s, supresión de más de 50 % y SQLi a través de HAProxy; planes de mantenimiento y monitoreo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y equipo · 30-nov al 20-dic</a:t>
            </a:r>
            <a:endParaRPr lang="en-US" sz="1300" dirty="0"/>
          </a:p>
        </p:txBody>
      </p:sp>
      <p:sp>
        <p:nvSpPr>
          <p:cNvPr id="15" name="s10_rect_13"/>
          <p:cNvSpPr/>
          <p:nvPr/>
        </p:nvSpPr>
        <p:spPr>
          <a:xfrm>
            <a:off x="6903720" y="169164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1B2436"/>
          </a:solidFill>
          <a:ln/>
        </p:spPr>
      </p:sp>
      <p:sp>
        <p:nvSpPr>
          <p:cNvPr id="16" name="s10_text_14"/>
          <p:cNvSpPr txBox="1"/>
          <p:nvPr/>
        </p:nvSpPr>
        <p:spPr>
          <a:xfrm>
            <a:off x="7086600" y="176479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Falla del laboratorio remoto el día de la defensa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Capturas y salidas nativas de respaldo; guion de pruebas ensayado</a:t>
            </a:r>
            <a:endParaRPr lang="en-US" sz="1300" dirty="0"/>
          </a:p>
        </p:txBody>
      </p:sp>
      <p:sp>
        <p:nvSpPr>
          <p:cNvPr id="17" name="s10_rect_15"/>
          <p:cNvSpPr/>
          <p:nvPr/>
        </p:nvSpPr>
        <p:spPr>
          <a:xfrm>
            <a:off x="6903720" y="2715768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1B2436"/>
          </a:solidFill>
          <a:ln/>
        </p:spPr>
      </p:sp>
      <p:sp>
        <p:nvSpPr>
          <p:cNvPr id="18" name="s10_text_16"/>
          <p:cNvSpPr txBox="1"/>
          <p:nvPr/>
        </p:nvSpPr>
        <p:spPr>
          <a:xfrm>
            <a:off x="7086600" y="27889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Cuota o latencia de la API de Gemini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en A10 y definir un modo degradado</a:t>
            </a:r>
            <a:endParaRPr lang="en-US" sz="1300" dirty="0"/>
          </a:p>
        </p:txBody>
      </p:sp>
      <p:sp>
        <p:nvSpPr>
          <p:cNvPr id="19" name="s10_rect_17"/>
          <p:cNvSpPr/>
          <p:nvPr/>
        </p:nvSpPr>
        <p:spPr>
          <a:xfrm>
            <a:off x="6903720" y="3739896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1B2436"/>
          </a:solidFill>
          <a:ln/>
        </p:spPr>
      </p:sp>
      <p:sp>
        <p:nvSpPr>
          <p:cNvPr id="20" name="s10_text_18"/>
          <p:cNvSpPr txBox="1"/>
          <p:nvPr/>
        </p:nvSpPr>
        <p:spPr>
          <a:xfrm>
            <a:off x="7086600" y="381304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de amenazas que cambian a diario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 automática a las 00:00 y revisión de alertas</a:t>
            </a:r>
            <a:endParaRPr lang="en-US" sz="1300" dirty="0"/>
          </a:p>
        </p:txBody>
      </p:sp>
      <p:sp>
        <p:nvSpPr>
          <p:cNvPr id="21" name="s10_text_19"/>
          <p:cNvSpPr txBox="1"/>
          <p:nvPr/>
        </p:nvSpPr>
        <p:spPr>
          <a:xfrm>
            <a:off x="6903720" y="48463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KRONOS SENTINEL ya detecta, bloquea y avisa en el laboratorio. La Fase 3 debe demostrar que lo hace en menos de 1,5 s y de forma confiable.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A · pfSense y segmentación (A1–A2)</a:t>
            </a:r>
            <a:endParaRPr lang="en-US" sz="3000" dirty="0"/>
          </a:p>
        </p:txBody>
      </p:sp>
      <p:pic>
        <p:nvPicPr>
          <p:cNvPr id="3" name="s11_img_0" descr="Captura de pfSense: lista de VLAN 10, 20, 30 y 99 sobre vtnet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486400" cy="1814052"/>
          </a:xfrm>
          <a:prstGeom prst="rect">
            <a:avLst/>
          </a:prstGeom>
        </p:spPr>
      </p:pic>
      <p:sp>
        <p:nvSpPr>
          <p:cNvPr id="4" name="s11_rect_1"/>
          <p:cNvSpPr/>
          <p:nvPr/>
        </p:nvSpPr>
        <p:spPr>
          <a:xfrm>
            <a:off x="457200" y="1188720"/>
            <a:ext cx="5486400" cy="1814052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5" name="s11_text_2"/>
          <p:cNvSpPr txBox="1"/>
          <p:nvPr/>
        </p:nvSpPr>
        <p:spPr>
          <a:xfrm>
            <a:off x="457200" y="305763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› VLANs: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4 VLAN 802.1Q (10, 20, 30 y 99) sobre el troncal vtnet1.</a:t>
            </a:r>
            <a:endParaRPr lang="en-US" sz="1100" dirty="0"/>
          </a:p>
        </p:txBody>
      </p:sp>
      <p:pic>
        <p:nvPicPr>
          <p:cNvPr id="6" name="s11_img_3" descr="Captura de pfSense: casillas de offloading de hardware desactivad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05692"/>
            <a:ext cx="5486400" cy="1588168"/>
          </a:xfrm>
          <a:prstGeom prst="rect">
            <a:avLst/>
          </a:prstGeom>
        </p:spPr>
      </p:pic>
      <p:sp>
        <p:nvSpPr>
          <p:cNvPr id="7" name="s11_rect_4"/>
          <p:cNvSpPr/>
          <p:nvPr/>
        </p:nvSpPr>
        <p:spPr>
          <a:xfrm>
            <a:off x="457200" y="3505692"/>
            <a:ext cx="5486400" cy="1588168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s11_text_5"/>
          <p:cNvSpPr txBox="1"/>
          <p:nvPr/>
        </p:nvSpPr>
        <p:spPr>
          <a:xfrm>
            <a:off x="457200" y="514872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› Advanced › Networking: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offloading de hardware desactivado, requisito del IPS Inline (A1).</a:t>
            </a:r>
            <a:endParaRPr lang="en-US" sz="1100" dirty="0"/>
          </a:p>
        </p:txBody>
      </p:sp>
      <p:pic>
        <p:nvPicPr>
          <p:cNvPr id="9" name="s11_img_6" descr="Captura de pfSense: reglas de la VLAN COR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2831690"/>
          </a:xfrm>
          <a:prstGeom prst="rect">
            <a:avLst/>
          </a:prstGeom>
        </p:spPr>
      </p:pic>
      <p:sp>
        <p:nvSpPr>
          <p:cNvPr id="10" name="s11_rect_7"/>
          <p:cNvSpPr/>
          <p:nvPr/>
        </p:nvSpPr>
        <p:spPr>
          <a:xfrm>
            <a:off x="6217920" y="1188720"/>
            <a:ext cx="5486400" cy="283169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1" name="s11_text_8"/>
          <p:cNvSpPr txBox="1"/>
          <p:nvPr/>
        </p:nvSpPr>
        <p:spPr>
          <a:xfrm>
            <a:off x="6217920" y="407527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› Rules › CORP: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DNS, NTP y diagnóstico al gateway; bloquea las demás redes privadas y deja salir a Internet.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B · IPS y reputación (A3–A4)</a:t>
            </a:r>
            <a:endParaRPr lang="en-US" sz="3000" dirty="0"/>
          </a:p>
        </p:txBody>
      </p:sp>
      <p:pic>
        <p:nvPicPr>
          <p:cNvPr id="3" name="s12_img_0" descr="Captura de pfSense: Suricata con WAN y DMZ en modo Inline I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486400" cy="1504335"/>
          </a:xfrm>
          <a:prstGeom prst="rect">
            <a:avLst/>
          </a:prstGeom>
        </p:spPr>
      </p:pic>
      <p:sp>
        <p:nvSpPr>
          <p:cNvPr id="4" name="s12_rect_1"/>
          <p:cNvSpPr/>
          <p:nvPr/>
        </p:nvSpPr>
        <p:spPr>
          <a:xfrm>
            <a:off x="457200" y="1188720"/>
            <a:ext cx="5486400" cy="1504335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5" name="s12_text_2"/>
          <p:cNvSpPr txBox="1"/>
          <p:nvPr/>
        </p:nvSpPr>
        <p:spPr>
          <a:xfrm>
            <a:off x="457200" y="2747919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› Suricata: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IPS en modo INLINE en la WAN y en el troncal interno, ambos activos.</a:t>
            </a:r>
            <a:endParaRPr lang="en-US" sz="1100" dirty="0"/>
          </a:p>
        </p:txBody>
      </p:sp>
      <p:pic>
        <p:nvPicPr>
          <p:cNvPr id="6" name="s12_img_3" descr="Captura de pfSense: reglas WAN de pfBlocker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95975"/>
            <a:ext cx="5486400" cy="2212258"/>
          </a:xfrm>
          <a:prstGeom prst="rect">
            <a:avLst/>
          </a:prstGeom>
        </p:spPr>
      </p:pic>
      <p:sp>
        <p:nvSpPr>
          <p:cNvPr id="7" name="s12_rect_4"/>
          <p:cNvSpPr/>
          <p:nvPr/>
        </p:nvSpPr>
        <p:spPr>
          <a:xfrm>
            <a:off x="457200" y="3195975"/>
            <a:ext cx="5486400" cy="2212258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s12_text_5"/>
          <p:cNvSpPr txBox="1"/>
          <p:nvPr/>
        </p:nvSpPr>
        <p:spPr>
          <a:xfrm>
            <a:off x="457200" y="546309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› Rules › WAN: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4 reglas A4 bloquean GeoIP (RU y KP), Spamhaus DROP y FireHOL.</a:t>
            </a:r>
            <a:endParaRPr lang="en-US" sz="1100" dirty="0"/>
          </a:p>
        </p:txBody>
      </p:sp>
      <p:pic>
        <p:nvPicPr>
          <p:cNvPr id="9" name="s12_img_6" descr="Captura de pfBlockerNG: alertas de bloqueo con IP de origen, país y lis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2636322"/>
          </a:xfrm>
          <a:prstGeom prst="rect">
            <a:avLst/>
          </a:prstGeom>
        </p:spPr>
      </p:pic>
      <p:sp>
        <p:nvSpPr>
          <p:cNvPr id="10" name="s12_rect_7"/>
          <p:cNvSpPr/>
          <p:nvPr/>
        </p:nvSpPr>
        <p:spPr>
          <a:xfrm>
            <a:off x="6217920" y="1188720"/>
            <a:ext cx="5486400" cy="2636322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1" name="s12_text_8"/>
          <p:cNvSpPr txBox="1"/>
          <p:nvPr/>
        </p:nvSpPr>
        <p:spPr>
          <a:xfrm>
            <a:off x="6217920" y="387990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pfBlockerNG › Alerts (25-oct):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ataques reales bloqueados, con país y lista de origen.</a:t>
            </a:r>
            <a:endParaRPr lang="en-US" sz="1100" dirty="0"/>
          </a:p>
        </p:txBody>
      </p:sp>
      <p:sp>
        <p:nvSpPr>
          <p:cNvPr id="12" name="s12_rect_9"/>
          <p:cNvSpPr/>
          <p:nvPr/>
        </p:nvSpPr>
        <p:spPr>
          <a:xfrm>
            <a:off x="6217920" y="4327962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0B1220"/>
          </a:solidFill>
          <a:ln/>
        </p:spPr>
      </p:sp>
      <p:sp>
        <p:nvSpPr>
          <p:cNvPr id="13" name="s12_text_10"/>
          <p:cNvSpPr txBox="1"/>
          <p:nvPr/>
        </p:nvSpPr>
        <p:spPr>
          <a:xfrm>
            <a:off x="6355080" y="4437690"/>
            <a:ext cx="52120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tail /var/log/pfblockerng/pfblockerng.log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UPDATE PROCESS START [ v3.2.17_1 ] [ 10/25/26 00:00:03 ]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KRONOS_SPAMHAUS_DROP_v4 ] Downloading update .. 200 OK.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Updating: pfB_KRONOS_FIREHOL_v4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15 addresses added. 23 addresses deleted.</a:t>
            </a:r>
            <a:endParaRPr lang="en-US" sz="1000" dirty="0"/>
          </a:p>
        </p:txBody>
      </p:sp>
      <p:sp>
        <p:nvSpPr>
          <p:cNvPr id="14" name="s12_text_11"/>
          <p:cNvSpPr txBox="1"/>
          <p:nvPr/>
        </p:nvSpPr>
        <p:spPr>
          <a:xfrm>
            <a:off x="6217920" y="552582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pfBlockerNG: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listas se actualizan solas cada día a las 00:00.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C · HAProxy HTTPS y DVWA (A5)</a:t>
            </a:r>
            <a:endParaRPr lang="en-US" sz="3000" dirty="0"/>
          </a:p>
        </p:txBody>
      </p:sp>
      <p:pic>
        <p:nvPicPr>
          <p:cNvPr id="3" name="s13_img_0" descr="Captura de pfSense: frontend de HAProxy fe_kronos_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486400" cy="1706073"/>
          </a:xfrm>
          <a:prstGeom prst="rect">
            <a:avLst/>
          </a:prstGeom>
        </p:spPr>
      </p:pic>
      <p:sp>
        <p:nvSpPr>
          <p:cNvPr id="4" name="s13_rect_1"/>
          <p:cNvSpPr/>
          <p:nvPr/>
        </p:nvSpPr>
        <p:spPr>
          <a:xfrm>
            <a:off x="457200" y="1188720"/>
            <a:ext cx="5486400" cy="1706073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5" name="s13_text_2"/>
          <p:cNvSpPr txBox="1"/>
          <p:nvPr/>
        </p:nvSpPr>
        <p:spPr>
          <a:xfrm>
            <a:off x="457200" y="2949657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› HAProxy › Frontend: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fe_kronos_wan escucha en 443 (TLS) y 80 y envía el tráfico a DVWA en la DMZ.</a:t>
            </a:r>
            <a:endParaRPr lang="en-US" sz="1100" dirty="0"/>
          </a:p>
        </p:txBody>
      </p:sp>
      <p:pic>
        <p:nvPicPr>
          <p:cNvPr id="6" name="s13_img_3" descr="Captura de pfSense: backend bk_dvwa_dmz con el servidor dvwa_node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97713"/>
            <a:ext cx="5486400" cy="1398799"/>
          </a:xfrm>
          <a:prstGeom prst="rect">
            <a:avLst/>
          </a:prstGeom>
        </p:spPr>
      </p:pic>
      <p:sp>
        <p:nvSpPr>
          <p:cNvPr id="7" name="s13_rect_4"/>
          <p:cNvSpPr/>
          <p:nvPr/>
        </p:nvSpPr>
        <p:spPr>
          <a:xfrm>
            <a:off x="457200" y="3397713"/>
            <a:ext cx="5486400" cy="1398799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s13_text_5"/>
          <p:cNvSpPr txBox="1"/>
          <p:nvPr/>
        </p:nvSpPr>
        <p:spPr>
          <a:xfrm>
            <a:off x="457200" y="485137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› HAProxy › Backend: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servidor dvwa_node1 apunta a 192.168.20.50:80, en la DMZ.</a:t>
            </a:r>
            <a:endParaRPr lang="en-US" sz="1100" dirty="0"/>
          </a:p>
        </p:txBody>
      </p:sp>
      <p:pic>
        <p:nvPicPr>
          <p:cNvPr id="9" name="s13_img_6" descr="Captura de pfSense: certificado kronos-dvwa emitido por KRONOS-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1241033"/>
          </a:xfrm>
          <a:prstGeom prst="rect">
            <a:avLst/>
          </a:prstGeom>
        </p:spPr>
      </p:pic>
      <p:sp>
        <p:nvSpPr>
          <p:cNvPr id="10" name="s13_rect_7"/>
          <p:cNvSpPr/>
          <p:nvPr/>
        </p:nvSpPr>
        <p:spPr>
          <a:xfrm>
            <a:off x="6217920" y="1188720"/>
            <a:ext cx="5486400" cy="1241033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1" name="s13_text_8"/>
          <p:cNvSpPr txBox="1"/>
          <p:nvPr/>
        </p:nvSpPr>
        <p:spPr>
          <a:xfrm>
            <a:off x="6217920" y="2484617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› Certificates: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kronos-dvwa firmado por la CA interna KRONOS-CA, en uso por HAProxy.</a:t>
            </a:r>
            <a:endParaRPr lang="en-US" sz="1100" dirty="0"/>
          </a:p>
        </p:txBody>
      </p:sp>
      <p:pic>
        <p:nvPicPr>
          <p:cNvPr id="12" name="s13_img_9" descr="Salida de pfSense: haproxy -c con código de salida 0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932673"/>
            <a:ext cx="5486400" cy="528810"/>
          </a:xfrm>
          <a:prstGeom prst="rect">
            <a:avLst/>
          </a:prstGeom>
        </p:spPr>
      </p:pic>
      <p:sp>
        <p:nvSpPr>
          <p:cNvPr id="13" name="s13_rect_10"/>
          <p:cNvSpPr/>
          <p:nvPr/>
        </p:nvSpPr>
        <p:spPr>
          <a:xfrm>
            <a:off x="6217920" y="2932673"/>
            <a:ext cx="5486400" cy="52881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4" name="s13_text_11"/>
          <p:cNvSpPr txBox="1"/>
          <p:nvPr/>
        </p:nvSpPr>
        <p:spPr>
          <a:xfrm>
            <a:off x="6217920" y="3516347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Prompt: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haproxy -c valida la configuración sin errores (código 0).</a:t>
            </a:r>
            <a:endParaRPr lang="en-US" sz="1100" dirty="0"/>
          </a:p>
        </p:txBody>
      </p:sp>
      <p:pic>
        <p:nvPicPr>
          <p:cNvPr id="15" name="s13_img_12" descr="Captura de HAProxy: stick-tables fe_kronos_wan y bk_dvwa_dmz_ipvAN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964403"/>
            <a:ext cx="5486400" cy="890954"/>
          </a:xfrm>
          <a:prstGeom prst="rect">
            <a:avLst/>
          </a:prstGeom>
        </p:spPr>
      </p:pic>
      <p:sp>
        <p:nvSpPr>
          <p:cNvPr id="16" name="s13_rect_13"/>
          <p:cNvSpPr/>
          <p:nvPr/>
        </p:nvSpPr>
        <p:spPr>
          <a:xfrm>
            <a:off x="6217920" y="3964403"/>
            <a:ext cx="5486400" cy="890954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7" name="s13_text_14"/>
          <p:cNvSpPr txBox="1"/>
          <p:nvPr/>
        </p:nvSpPr>
        <p:spPr>
          <a:xfrm>
            <a:off x="6217920" y="49102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HAProxy › stick-tables: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 que cuentan las peticiones por IP para aplicar los límites (429).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D · Motor KRONOS y llamada de emergencia (A6–A8)</a:t>
            </a:r>
            <a:endParaRPr lang="en-US" sz="3000" dirty="0"/>
          </a:p>
        </p:txBody>
      </p:sp>
      <p:pic>
        <p:nvPicPr>
          <p:cNvPr id="3" name="s14_img_0" descr="Salida de Asterisk: endpoints PJSIP con la extensión 1001 disponi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486400" cy="2420471"/>
          </a:xfrm>
          <a:prstGeom prst="rect">
            <a:avLst/>
          </a:prstGeom>
        </p:spPr>
      </p:pic>
      <p:sp>
        <p:nvSpPr>
          <p:cNvPr id="4" name="s14_rect_1"/>
          <p:cNvSpPr/>
          <p:nvPr/>
        </p:nvSpPr>
        <p:spPr>
          <a:xfrm>
            <a:off x="457200" y="1188720"/>
            <a:ext cx="5486400" cy="2420471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5" name="s14_text_2"/>
          <p:cNvSpPr txBox="1"/>
          <p:nvPr/>
        </p:nvSpPr>
        <p:spPr>
          <a:xfrm>
            <a:off x="457200" y="3664055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Asterisk 20.6 (VM103):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extensión 1001 del CISO está registrada desde la VLAN de gestión.</a:t>
            </a:r>
            <a:endParaRPr lang="en-US" sz="1100" dirty="0"/>
          </a:p>
        </p:txBody>
      </p:sp>
      <p:sp>
        <p:nvSpPr>
          <p:cNvPr id="6" name="s14_rect_3"/>
          <p:cNvSpPr/>
          <p:nvPr/>
        </p:nvSpPr>
        <p:spPr>
          <a:xfrm>
            <a:off x="457200" y="4112111"/>
            <a:ext cx="5486400" cy="1325880"/>
          </a:xfrm>
          <a:prstGeom prst="roundRect">
            <a:avLst>
              <a:gd name="adj" fmla="val 4138"/>
            </a:avLst>
          </a:prstGeom>
          <a:solidFill>
            <a:srgbClr val="0B1220"/>
          </a:solidFill>
          <a:ln/>
        </p:spPr>
      </p:sp>
      <p:sp>
        <p:nvSpPr>
          <p:cNvPr id="7" name="s14_text_4"/>
          <p:cNvSpPr txBox="1"/>
          <p:nvPr/>
        </p:nvSpPr>
        <p:spPr>
          <a:xfrm>
            <a:off x="594360" y="4221839"/>
            <a:ext cx="52120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docs/obsidian_vault/incident_memory.json  (extracto)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"185.220.101.5": { "count": 13,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"first_seen": "2026-10-26T00:54:12Z",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"target_services": ["DVWA en DMZ (192.168.20.50)"],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"actions": ["DROP &amp; BLOCK en Firewall pfSense"] }</a:t>
            </a:r>
            <a:endParaRPr lang="en-US" sz="1000" dirty="0"/>
          </a:p>
        </p:txBody>
      </p:sp>
      <p:sp>
        <p:nvSpPr>
          <p:cNvPr id="8" name="s14_text_5"/>
          <p:cNvSpPr txBox="1"/>
          <p:nvPr/>
        </p:nvSpPr>
        <p:spPr>
          <a:xfrm>
            <a:off x="457200" y="5492855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de incidentes: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IP atacante simulada reincidió 13 veces y quedó bloqueada con pfctl.</a:t>
            </a:r>
            <a:endParaRPr lang="en-US" sz="1100" dirty="0"/>
          </a:p>
        </p:txBody>
      </p:sp>
      <p:sp>
        <p:nvSpPr>
          <p:cNvPr id="9" name="s14_rect_6"/>
          <p:cNvSpPr/>
          <p:nvPr/>
        </p:nvSpPr>
        <p:spPr>
          <a:xfrm>
            <a:off x="6217920" y="118872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0B1220"/>
          </a:solidFill>
          <a:ln/>
        </p:spPr>
      </p:sp>
      <p:sp>
        <p:nvSpPr>
          <p:cNvPr id="10" name="s14_text_7"/>
          <p:cNvSpPr txBox="1"/>
          <p:nvPr/>
        </p:nvSpPr>
        <p:spPr>
          <a:xfrm>
            <a:off x="6355080" y="1298448"/>
            <a:ext cx="521208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docs/QA_AUDIT_REPORT_A1_A7.json  (extracto)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"GATE_2_AST_ANALYSIS": { "status": "PASSED",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"tautologies": ["1=1"], "confidence": 0.85 }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"GATE_3_PFCTL_KERNEL": { "status": "PASSED",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"table": "snort2c", "is_blocked": true }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"GATE_7_GEMINI_LIVE": { "status": "PASSED",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"voice": "Aoede" }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"GATE_8_ASTERISK_A7": { "status": "PASSED",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"ami_host": "192.168.30.50:5038" }</a:t>
            </a:r>
            <a:endParaRPr lang="en-US" sz="1000" dirty="0"/>
          </a:p>
        </p:txBody>
      </p:sp>
      <p:sp>
        <p:nvSpPr>
          <p:cNvPr id="11" name="s14_text_8"/>
          <p:cNvSpPr txBox="1"/>
          <p:nvPr/>
        </p:nvSpPr>
        <p:spPr>
          <a:xfrm>
            <a:off x="6217920" y="32552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1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 de pruebas (26-oct):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 detectado, IP bloqueada en snort2c y llamada por AMI. Ataque simulado.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RONOS SENTINEL">
  <a:themeElements>
    <a:clrScheme name="KRONOS SENTINEL">
      <a:dk1>
        <a:srgbClr val="0F1626"/>
      </a:dk1>
      <a:lt1>
        <a:srgbClr val="FFFFFF"/>
      </a:lt1>
      <a:dk2>
        <a:srgbClr val="1F2937"/>
      </a:dk2>
      <a:lt2>
        <a:srgbClr val="F3F4F6"/>
      </a:lt2>
      <a:accent1>
        <a:srgbClr val="C81E4E"/>
      </a:accent1>
      <a:accent2>
        <a:srgbClr val="0891B2"/>
      </a:accent2>
      <a:accent3>
        <a:srgbClr val="0E7C86"/>
      </a:accent3>
      <a:accent4>
        <a:srgbClr val="B45309"/>
      </a:accent4>
      <a:accent5>
        <a:srgbClr val="6B7280"/>
      </a:accent5>
      <a:accent6>
        <a:srgbClr val="22D3EE"/>
      </a:accent6>
      <a:hlink>
        <a:srgbClr val="0891B2"/>
      </a:hlink>
      <a:folHlink>
        <a:srgbClr val="0E7C86"/>
      </a:folHlink>
    </a:clrScheme>
    <a:fontScheme name="KRONOS SENTINE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Duoc 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KRONOS SENTINEL · Avance Fase 2</dc:title>
  <dc:subject>PptxGenJS Presentation</dc:subject>
  <dc:creator>Equipo 5 KRONOS SENTINEL</dc:creator>
  <cp:lastModifiedBy>Equipo 5 KRONOS SENTINEL</cp:lastModifiedBy>
  <cp:revision>1</cp:revision>
  <dcterms:created xsi:type="dcterms:W3CDTF">2026-10-27T14:47:15Z</dcterms:created>
  <dcterms:modified xsi:type="dcterms:W3CDTF">2026-10-27T14:47:15Z</dcterms:modified>
</cp:coreProperties>
</file>