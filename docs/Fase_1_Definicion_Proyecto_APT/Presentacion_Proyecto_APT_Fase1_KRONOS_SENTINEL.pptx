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94360"/>
            <a:ext cx="4023360" cy="274320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594360"/>
            <a:ext cx="2286000" cy="274320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34D399"/>
                </a:solidFill>
                <a:latin typeface="Consolas"/>
              </a:defRPr>
            </a:pPr>
            <a:r>
              <a:t>DEFENSA EN PROFUNDIDAD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KRONOS SENTINEL</a:t>
            </a:r>
          </a:p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Autonomous AI-IPS &amp; Real-Time Incident Voice Response SOAR Architecture</a:t>
            </a:r>
          </a:p>
          <a:p>
            <a:pPr>
              <a:defRPr sz="1050">
                <a:solidFill>
                  <a:srgbClr val="C4B5FD"/>
                </a:solidFill>
                <a:latin typeface="Segoe UI"/>
              </a:defRPr>
            </a:pPr>
            <a:r>
              <a:t>Mitigación Atómica en Kernel FreeBSD + Orquestación de Voz en Tiempo Real con IA Multimodal</a:t>
            </a:r>
          </a:p>
        </p:txBody>
      </p:sp>
      <p:pic>
        <p:nvPicPr>
          <p:cNvPr id="6" name="Picture 5" descr="sentinel_shiel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685800"/>
            <a:ext cx="2194560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971800"/>
            <a:ext cx="5212080" cy="32461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DATOS ACADÉMICOS E INSTITUCIONALES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0F0FF"/>
                </a:solidFill>
                <a:latin typeface="Segoe UI"/>
              </a:rPr>
              <a:t>Institución: </a:t>
            </a:r>
            <a:r>
              <a:rPr sz="950">
                <a:solidFill>
                  <a:srgbClr val="EDE9FE"/>
                </a:solidFill>
                <a:latin typeface="Segoe UI"/>
              </a:rPr>
              <a:t>Duoc UC — Sede San Joaquín</a:t>
            </a:r>
          </a:p>
          <a:p>
            <a:r>
              <a:rPr b="1" sz="950">
                <a:solidFill>
                  <a:srgbClr val="00F0FF"/>
                </a:solidFill>
                <a:latin typeface="Segoe UI"/>
              </a:rPr>
              <a:t>Escuela: </a:t>
            </a:r>
            <a:r>
              <a:rPr sz="950">
                <a:solidFill>
                  <a:srgbClr val="EDE9FE"/>
                </a:solidFill>
                <a:latin typeface="Segoe UI"/>
              </a:rPr>
              <a:t>Escuela de Informática y Telecomunicaciones</a:t>
            </a:r>
          </a:p>
          <a:p>
            <a:r>
              <a:rPr b="1" sz="950">
                <a:solidFill>
                  <a:srgbClr val="00F0FF"/>
                </a:solidFill>
                <a:latin typeface="Segoe UI"/>
              </a:rPr>
              <a:t>Carrera: </a:t>
            </a:r>
            <a:r>
              <a:rPr sz="950">
                <a:solidFill>
                  <a:srgbClr val="EDE9FE"/>
                </a:solidFill>
                <a:latin typeface="Segoe UI"/>
              </a:rPr>
              <a:t>Ingeniería en Conectividad y Redes</a:t>
            </a:r>
          </a:p>
          <a:p>
            <a:r>
              <a:rPr b="1" sz="950">
                <a:solidFill>
                  <a:srgbClr val="00F0FF"/>
                </a:solidFill>
                <a:latin typeface="Segoe UI"/>
              </a:rPr>
              <a:t>Asignatura: </a:t>
            </a:r>
            <a:r>
              <a:rPr sz="950">
                <a:solidFill>
                  <a:srgbClr val="EDE9FE"/>
                </a:solidFill>
                <a:latin typeface="Segoe UI"/>
              </a:rPr>
              <a:t>Portafolio de Título (APT122)</a:t>
            </a:r>
          </a:p>
          <a:p>
            <a:r>
              <a:rPr b="1" sz="950">
                <a:solidFill>
                  <a:srgbClr val="00F0FF"/>
                </a:solidFill>
                <a:latin typeface="Segoe UI"/>
              </a:rPr>
              <a:t>Estudiante: </a:t>
            </a:r>
            <a:r>
              <a:rPr sz="950">
                <a:solidFill>
                  <a:srgbClr val="EDE9FE"/>
                </a:solidFill>
                <a:latin typeface="Segoe UI"/>
              </a:rPr>
              <a:t>Bruno Urrea Ortiz (RUT: 21.543.637-3)</a:t>
            </a:r>
          </a:p>
          <a:p>
            <a:r>
              <a:rPr b="1" sz="950">
                <a:solidFill>
                  <a:srgbClr val="00F0FF"/>
                </a:solidFill>
                <a:latin typeface="Segoe UI"/>
              </a:rPr>
              <a:t>Fecha Exposición: </a:t>
            </a:r>
            <a:r>
              <a:rPr sz="950">
                <a:solidFill>
                  <a:srgbClr val="EDE9FE"/>
                </a:solidFill>
                <a:latin typeface="Segoe UI"/>
              </a:rPr>
              <a:t>8 de Septiembre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971800"/>
            <a:ext cx="5212080" cy="32461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8095" y="29718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EQUIPO DE INGENIERÍA Y ROLES ASIGNADOS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FFFFF"/>
                </a:solidFill>
                <a:latin typeface="Segoe UI"/>
              </a:rPr>
              <a:t>• Bruno Urrea Ortiz
</a:t>
            </a:r>
            <a:r>
              <a:rPr sz="850">
                <a:solidFill>
                  <a:srgbClr val="00F0FF"/>
                </a:solidFill>
                <a:latin typeface="Segoe UI"/>
              </a:rPr>
              <a:t>   Líder de Ciberseguridad, Motor KRONOS y Gemini Live
</a:t>
            </a:r>
          </a:p>
          <a:p>
            <a:r>
              <a:rPr b="1" sz="950">
                <a:solidFill>
                  <a:srgbClr val="FFFFFF"/>
                </a:solidFill>
                <a:latin typeface="Segoe UI"/>
              </a:rPr>
              <a:t>• Freddy Vásquez Cortés
</a:t>
            </a:r>
            <a:r>
              <a:rPr sz="850">
                <a:solidFill>
                  <a:srgbClr val="38BDF8"/>
                </a:solidFill>
                <a:latin typeface="Segoe UI"/>
              </a:rPr>
              <a:t>   Ingeniería de Routing, Switching L2/L3 y Telefonía Asterisk
</a:t>
            </a:r>
          </a:p>
          <a:p>
            <a:r>
              <a:rPr b="1" sz="950">
                <a:solidFill>
                  <a:srgbClr val="FFFFFF"/>
                </a:solidFill>
                <a:latin typeface="Segoe UI"/>
              </a:rPr>
              <a:t>• Cristóbal Quezada
</a:t>
            </a:r>
            <a:r>
              <a:rPr sz="850">
                <a:solidFill>
                  <a:srgbClr val="FBBF24"/>
                </a:solidFill>
                <a:latin typeface="Segoe UI"/>
              </a:rPr>
              <a:t>   Administración de Servicios Web, Proxy HAProxy y DMZ
</a:t>
            </a:r>
          </a:p>
          <a:p>
            <a:r>
              <a:rPr b="1" sz="950">
                <a:solidFill>
                  <a:srgbClr val="FFFFFF"/>
                </a:solidFill>
                <a:latin typeface="Segoe UI"/>
              </a:rPr>
              <a:t>• Kevin Retamales
</a:t>
            </a:r>
            <a:r>
              <a:rPr sz="850">
                <a:solidFill>
                  <a:srgbClr val="34D399"/>
                </a:solidFill>
                <a:latin typeface="Segoe UI"/>
              </a:rPr>
              <a:t>   Hardening Perimetral, Inteligencia pfBlockerNG y QA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Agenda de la Presentación (10 Secciones)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37160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87171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Contexto y Problemática
</a:t>
            </a:r>
            <a:r>
              <a:rPr sz="850">
                <a:solidFill>
                  <a:srgbClr val="C4B5FD"/>
                </a:solidFill>
                <a:latin typeface="Segoe UI"/>
              </a:rPr>
              <a:t>Crisis de falsos positivos y colapso cognitivo del operador.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37744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0F0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Descripción del Proyecto
</a:t>
            </a:r>
            <a:r>
              <a:rPr sz="850">
                <a:solidFill>
                  <a:srgbClr val="C4B5FD"/>
                </a:solidFill>
                <a:latin typeface="Segoe UI"/>
              </a:rPr>
              <a:t>Defensa en profundidad y arquitectura SOAR a costo $0 CLP.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3756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Vínculo con el Perfil de Egreso
</a:t>
            </a:r>
            <a:r>
              <a:rPr sz="850">
                <a:solidFill>
                  <a:srgbClr val="C4B5FD"/>
                </a:solidFill>
                <a:latin typeface="Segoe UI"/>
              </a:rPr>
              <a:t>Mapeo de 6 competencias troncales de Conectividad y Redes.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38912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C084F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Intereses Profesionales
</a:t>
            </a:r>
            <a:r>
              <a:rPr sz="850">
                <a:solidFill>
                  <a:srgbClr val="C4B5FD"/>
                </a:solidFill>
                <a:latin typeface="Segoe UI"/>
              </a:rPr>
              <a:t>Especialización en Ciberseguridad, SecOps y trayecto DevSec.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539496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4924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Factibilidad y Gestión de Riesgos
</a:t>
            </a:r>
            <a:r>
              <a:rPr sz="850">
                <a:solidFill>
                  <a:srgbClr val="C4B5FD"/>
                </a:solidFill>
                <a:latin typeface="Segoe UI"/>
              </a:rPr>
              <a:t>Semestre académico, recursos Open Source y evasión de CGNAT.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23444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85255" y="137160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00F0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132588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Objetivos General y Específicos
</a:t>
            </a:r>
            <a:r>
              <a:rPr sz="850">
                <a:solidFill>
                  <a:srgbClr val="C4B5FD"/>
                </a:solidFill>
                <a:latin typeface="Segoe UI"/>
              </a:rPr>
              <a:t>8 metas técnicas medibles de ingeniería y arquitectura.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224028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5255" y="237744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34D399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9615" y="233172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Metodología y Roles del Equipo
</a:t>
            </a:r>
            <a:r>
              <a:rPr sz="850">
                <a:solidFill>
                  <a:srgbClr val="C4B5FD"/>
                </a:solidFill>
                <a:latin typeface="Segoe UI"/>
              </a:rPr>
              <a:t>Ciclo iterativo e incremental de 4 fases operativas.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095" y="324612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85255" y="338328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9615" y="333756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Evidencias Comprometidas
</a:t>
            </a:r>
            <a:r>
              <a:rPr sz="850">
                <a:solidFill>
                  <a:srgbClr val="C4B5FD"/>
                </a:solidFill>
                <a:latin typeface="Segoe UI"/>
              </a:rPr>
              <a:t>Entregables de avance, código IaC y demostración en vivo.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8095" y="425196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85255" y="438912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9615" y="434340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Plan de Trabajo y Carta Gantt
</a:t>
            </a:r>
            <a:r>
              <a:rPr sz="850">
                <a:solidFill>
                  <a:srgbClr val="C4B5FD"/>
                </a:solidFill>
                <a:latin typeface="Segoe UI"/>
              </a:rPr>
              <a:t>Cronograma de 18 semanas académicas y dependencias.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095" y="5257800"/>
            <a:ext cx="5212080" cy="8686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85255" y="5394960"/>
            <a:ext cx="50292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34D399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9615" y="5349240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FFFF"/>
                </a:solidFill>
                <a:latin typeface="Segoe UI"/>
              </a:rPr>
              <a:t>Cierre y Próximos Pasos (Fase 2)
</a:t>
            </a:r>
            <a:r>
              <a:rPr sz="850">
                <a:solidFill>
                  <a:srgbClr val="C4B5FD"/>
                </a:solidFill>
                <a:latin typeface="Segoe UI"/>
              </a:rPr>
              <a:t>Hitos de implementación perimetral y ronda de preguntas.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Contexto y Problemática en la Industria de Ciberseguridad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41732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2286000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7171"/>
                </a:solidFill>
                <a:latin typeface="Segoe UI"/>
              </a:defRPr>
            </a:pPr>
            <a:r>
              <a:t>&gt;50%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Falsos Positivos</a:t>
            </a:r>
          </a:p>
          <a:p>
            <a:pPr>
              <a:defRPr sz="800">
                <a:solidFill>
                  <a:srgbClr val="C4B5FD"/>
                </a:solidFill>
                <a:latin typeface="Segoe UI"/>
              </a:defRPr>
            </a:pPr>
            <a:r>
              <a:t>Fatiga extrema en analistas SOC N1/N2 por firmas genéricas.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468880" cy="141732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07592"/>
            <a:ext cx="2286000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BBF24"/>
                </a:solidFill>
                <a:latin typeface="Segoe UI"/>
              </a:defRPr>
            </a:pPr>
            <a:r>
              <a:t>0.05ms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Visión de Túnel</a:t>
            </a:r>
          </a:p>
          <a:p>
            <a:pPr>
              <a:defRPr sz="800">
                <a:solidFill>
                  <a:srgbClr val="C4B5FD"/>
                </a:solidFill>
                <a:latin typeface="Segoe UI"/>
              </a:defRPr>
            </a:pPr>
            <a:r>
              <a:t>El humano colapsa al intentar aislar firewall y reportar al CISO.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120640" cy="24231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12064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PROPUESTA DE VALOR: KRONOS 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DE9FE"/>
                </a:solidFill>
                <a:latin typeface="Segoe UI"/>
              </a:defRPr>
            </a:pPr>
            <a:r>
              <a:t>• Extracción del Factor Humano: Desacopla la contención atómica en kernel de la notificación.</a:t>
            </a:r>
            <a:br/>
            <a:r>
              <a:t>• Doble Acción Simultánea:</a:t>
            </a:r>
            <a:br/>
            <a:r>
              <a:t>   1. Drop instantáneo en FreeBSD vía pfctl -k y tabla &lt;snort2c&gt; (&lt;100ms).</a:t>
            </a:r>
            <a:br/>
            <a:r>
              <a:t>   2. Llamada interactiva por voz mediante Asterisk y Gemini Live (&lt;1.5s).</a:t>
            </a:r>
          </a:p>
        </p:txBody>
      </p:sp>
      <p:pic>
        <p:nvPicPr>
          <p:cNvPr id="13" name="Picture 12" descr="pfctl_decis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333695" cy="30175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349240"/>
            <a:ext cx="10728655" cy="96012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00F0FF"/>
                </a:solidFill>
                <a:latin typeface="Consolas"/>
              </a:rPr>
              <a:t>ÁMBITO &amp; POBLACIÓN DE IMPACTO: </a:t>
            </a:r>
            <a:r>
              <a:rPr sz="850">
                <a:solidFill>
                  <a:srgbClr val="EDE9FE"/>
                </a:solidFill>
                <a:latin typeface="Segoe UI"/>
              </a:rPr>
              <a:t>Datacenters, plataformas web expuestas e infraestructuras corporativas en Chile y LATAM. Beneficia directamente a Analistas SOC, CISOs y Administradores de Redes.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Descripción del Proyecto KRONOS SENTINEL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68580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00F0FF"/>
                </a:solidFill>
                <a:latin typeface="Consolas"/>
              </a:rPr>
              <a:t>OBJETIVO CENTRAL ($0 CLP): </a:t>
            </a:r>
            <a:r>
              <a:rPr sz="919" b="1">
                <a:solidFill>
                  <a:srgbClr val="FFFFFF"/>
                </a:solidFill>
                <a:latin typeface="Segoe UI"/>
              </a:rPr>
              <a:t>“Arquitectura SOAR autónoma de costo cero que contiene intrusiones en kernel FreeBSD en microsegundos e interactúa por voz en tiempo real con el CISO mediante Inteligencia Artificial.”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30352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074920"/>
            <a:ext cx="5303520" cy="123444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5303520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DEFENSA MULTI-CAPA ZERO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t>• 4 VLANs 802.1Q aisladas (Corp 10, DMZ 20, VoIP 30, Mgmt 99).</a:t>
            </a:r>
            <a:br/>
            <a:r>
              <a:t>• Aislamiento estricto de DMZ con proxy inverso HAProxy y terminación HTTPS.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057400"/>
            <a:ext cx="5212080" cy="98755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2057400"/>
            <a:ext cx="5212080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01. PERÍMETRO INLINE 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5255" y="2386584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t>pfSense CE 2.9.0 + Suricata 7.x Inline Netmap (Hardware Drop ring-buffer) y pfBlockerNG GeoIP MaxMind.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118104"/>
            <a:ext cx="5212080" cy="98755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3118104"/>
            <a:ext cx="5212080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02. CAPA WEB DMZ &amp;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55" y="3447288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t>HAProxy 2.8+ SSL y Stick-Tables anti-fuzzing L7 protegiendo servidor vulnerable DVWA en VLAN 20.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4178808"/>
            <a:ext cx="5212080" cy="98755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8095" y="4178808"/>
            <a:ext cx="5212080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03. MOTOR KRONOS 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5255" y="4507992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t>Python 3.12 AST parser (supresión &gt;50% ruido) y control de kernel FreeBSD pfctl (Kill States y &lt;snort2c&gt;).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5239512"/>
            <a:ext cx="5212080" cy="987552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8095" y="5239512"/>
            <a:ext cx="5212080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04. SOAR VOZ GEMINI &amp; PBX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5255" y="5568696"/>
            <a:ext cx="4937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EDE9FE"/>
                </a:solidFill>
                <a:latin typeface="Segoe UI"/>
              </a:defRPr>
            </a:pPr>
            <a:r>
              <a:t>Asterisk 20 LTS en Docker con auto-dialer AMI y Google Gemini Live Flash 3.1 para debriefing hablado.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Vínculo con el Perfil de Egreso (6 Competencias Troncales APT)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00F0FF"/>
                </a:solidFill>
                <a:latin typeface="Segoe UI"/>
              </a:rPr>
              <a:t>Comp. 8: Planes de Prevención y Respuesta a Riesgos
</a:t>
            </a:r>
            <a:r>
              <a:rPr b="1" sz="819">
                <a:solidFill>
                  <a:srgbClr val="C4B5FD"/>
                </a:solidFill>
                <a:latin typeface="Segoe UI"/>
              </a:rPr>
              <a:t>Área de Desempeño: Ciberseguridad Defensiva
</a:t>
            </a:r>
            <a:r>
              <a:rPr sz="800">
                <a:solidFill>
                  <a:srgbClr val="EDE9FE"/>
                </a:solidFill>
                <a:latin typeface="Segoe UI"/>
              </a:rPr>
              <a:t>Diseño de topología perimetral en pfSense CE 2.9.0, reglas Zero Trust, Suricata Inline Netmap IPS y mitigación atómica de ataques en kernel con pfctl.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234440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325880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38BDF8"/>
                </a:solidFill>
                <a:latin typeface="Segoe UI"/>
              </a:rPr>
              <a:t>Comp. 6: Automatizar Procesos y Gestión de Red
</a:t>
            </a:r>
            <a:r>
              <a:rPr b="1" sz="819">
                <a:solidFill>
                  <a:srgbClr val="C4B5FD"/>
                </a:solidFill>
                <a:latin typeface="Segoe UI"/>
              </a:rPr>
              <a:t>Área de Desempeño: Automatización &amp; SecOps
</a:t>
            </a:r>
            <a:r>
              <a:rPr sz="800">
                <a:solidFill>
                  <a:srgbClr val="EDE9FE"/>
                </a:solidFill>
                <a:latin typeface="Segoe UI"/>
              </a:rPr>
              <a:t>Desarrollo en Python 3.12 del Motor de Correlación KRONOS, parsing estructurado EVE JSON, análisis sintáctico AST y despacho asíncrono de webhooks.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07791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34D399"/>
                </a:solidFill>
                <a:latin typeface="Segoe UI"/>
              </a:rPr>
              <a:t>Comp. 5: Unificar Servicios de Voz, Datos y Video
</a:t>
            </a:r>
            <a:r>
              <a:rPr b="1" sz="819">
                <a:solidFill>
                  <a:srgbClr val="C4B5FD"/>
                </a:solidFill>
                <a:latin typeface="Segoe UI"/>
              </a:rPr>
              <a:t>Área de Desempeño: Telecomunicaciones &amp; VoIP
</a:t>
            </a:r>
            <a:r>
              <a:rPr sz="800">
                <a:solidFill>
                  <a:srgbClr val="EDE9FE"/>
                </a:solidFill>
                <a:latin typeface="Segoe UI"/>
              </a:rPr>
              <a:t>Despliegue de centralita Asterisk 20 LTS en Docker, troncales PJSIP, configuración de Dialplans y conexión RTP streaming con agentes de voz.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907791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999232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FBBF24"/>
                </a:solidFill>
                <a:latin typeface="Segoe UI"/>
              </a:rPr>
              <a:t>Comp. 4: Controlar y Operar Redes Corporativas
</a:t>
            </a:r>
            <a:r>
              <a:rPr b="1" sz="819">
                <a:solidFill>
                  <a:srgbClr val="C4B5FD"/>
                </a:solidFill>
                <a:latin typeface="Segoe UI"/>
              </a:rPr>
              <a:t>Área de Desempeño: Infraestructura de Redes
</a:t>
            </a:r>
            <a:r>
              <a:rPr sz="800">
                <a:solidFill>
                  <a:srgbClr val="EDE9FE"/>
                </a:solidFill>
                <a:latin typeface="Segoe UI"/>
              </a:rPr>
              <a:t>Segmentación L2/L3 en 4 VLANs 802.1Q (Corp 10, DMZ 20, VoIP 30, Mgmt 99), direccionamiento CIDR, DHCP relay y conmutación virtualizada.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81144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3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C084FC"/>
                </a:solidFill>
                <a:latin typeface="Segoe UI"/>
              </a:rPr>
              <a:t>Comp. 3: Adaptar Tecnologías de Punta y Tendencias
</a:t>
            </a:r>
            <a:r>
              <a:rPr b="1" sz="819">
                <a:solidFill>
                  <a:srgbClr val="C4B5FD"/>
                </a:solidFill>
                <a:latin typeface="Segoe UI"/>
              </a:rPr>
              <a:t>Área de Desempeño: Innovación &amp; Ciberdefensa
</a:t>
            </a:r>
            <a:r>
              <a:rPr sz="800">
                <a:solidFill>
                  <a:srgbClr val="EDE9FE"/>
                </a:solidFill>
                <a:latin typeface="Segoe UI"/>
              </a:rPr>
              <a:t>Integración de IA Generativa Multimodal en tiempo real (Google Gemini Live Flash 3.1) y túneles Zero Trust Mesh con Tailscale Subnet Router.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81144"/>
            <a:ext cx="5248656" cy="1508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4672583"/>
            <a:ext cx="49743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F87171"/>
                </a:solidFill>
                <a:latin typeface="Segoe UI"/>
              </a:rPr>
              <a:t>Comp. 7: Gestionar Seguridad ante Vulnerabilidades
</a:t>
            </a:r>
            <a:r>
              <a:rPr b="1" sz="819">
                <a:solidFill>
                  <a:srgbClr val="C4B5FD"/>
                </a:solidFill>
                <a:latin typeface="Segoe UI"/>
              </a:rPr>
              <a:t>Área de Desempeño: Seguridad Ofensiva/Defensiva
</a:t>
            </a:r>
            <a:r>
              <a:rPr sz="800">
                <a:solidFill>
                  <a:srgbClr val="EDE9FE"/>
                </a:solidFill>
                <a:latin typeface="Segoe UI"/>
              </a:rPr>
              <a:t>Análisis de vectores de ataque web (SQLi, RCE, Fuzzing), despliegue de laboratorio DVWA y hardening de HAProxy con Stick-Tables dinámicas en RAM.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Relación con Intereses y Proyección Profesional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749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ESPECIALIZACIÓN EN CIBERSEGURIDAD Y SECOPS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EDE9FE"/>
                </a:solidFill>
                <a:latin typeface="Segoe UI"/>
              </a:defRPr>
            </a:pPr>
            <a:r>
              <a:t>• Pasión por la Arquitectura Defensiva:</a:t>
            </a:r>
            <a:br/>
            <a:r>
              <a:t>Consolidación de competencias en Hardening Perimetral, Prevención de Intrusiones (IPS) y Sistemas Autónomos SOAR.</a:t>
            </a:r>
            <a:br/>
            <a:br/>
            <a:r>
              <a:t>• Experiencia Práctica y Trayectoria:</a:t>
            </a:r>
            <a:br/>
            <a:r>
              <a:t>Aprendizajes aplicados en Home Labs Proxmox VE, administración de firewalls pfSense en producción y liderazgo en torneos CTF con el equipo DevSec.</a:t>
            </a:r>
            <a:br/>
            <a:br/>
            <a:r>
              <a:t>• Proyección Laboral a 5 Años:</a:t>
            </a:r>
            <a:br/>
            <a:r>
              <a:t>Desempeñarse como Ingeniero de Ciberseguridad / Arquitecto SecOps liderando equipos de respuesta ante incidentes (CSIRT/SOC).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34440"/>
            <a:ext cx="5212080" cy="50749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8095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APORTE AL DESARROLLO DEL EQUIPO DUOC 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EDE9FE"/>
                </a:solidFill>
                <a:latin typeface="Segoe UI"/>
              </a:defRPr>
            </a:pPr>
            <a:r>
              <a:t>• Dominio de Entornos Enterprise $0 CLP:</a:t>
            </a:r>
            <a:br/>
            <a:r>
              <a:t>Capacidad de implementar arquitecturas de seguridad de nivel corporativo utilizando 100% tecnologías Open Source sin costos de licenciamiento.</a:t>
            </a:r>
            <a:br/>
            <a:br/>
            <a:r>
              <a:t>• Interoperabilidad Multi-Disciplina:</a:t>
            </a:r>
            <a:br/>
            <a:r>
              <a:t>Convergencia real entre Redes L2/L3 (VLANs 802.1Q), Telefonía IP empresarial (Asterisk PBX), Hardening Unix (FreeBSD) e Inteligencia Artificial.</a:t>
            </a:r>
            <a:br/>
            <a:br/>
            <a:r>
              <a:t>• Alineación con Estándares Industriales:</a:t>
            </a:r>
            <a:br/>
            <a:r>
              <a:t>Alineación directa con certificaciones Cisco CCNA (200-301), CompTIA Security+ y marco Zero Trust NIST SP 800-207.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Factibilidad Técnica, Recursos y Gestión de Riesgos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32588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2286000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Segoe UI"/>
              </a:defRPr>
            </a:pPr>
            <a:r>
              <a:t>$0 CLP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100% Open Source</a:t>
            </a:r>
          </a:p>
          <a:p>
            <a:pPr>
              <a:defRPr sz="800">
                <a:solidFill>
                  <a:srgbClr val="C4B5FD"/>
                </a:solidFill>
                <a:latin typeface="Segoe UI"/>
              </a:defRPr>
            </a:pPr>
            <a:r>
              <a:t>FreeBSD 14, pfSense, Suricata, Docker, Asterisk.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468880" cy="1325880"/>
          </a:xfrm>
          <a:prstGeom prst="roundRect">
            <a:avLst/>
          </a:prstGeom>
          <a:solidFill>
            <a:srgbClr val="140B29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07592"/>
            <a:ext cx="2286000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t>18 Sem.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Temporalidad</a:t>
            </a:r>
          </a:p>
          <a:p>
            <a:pPr>
              <a:defRPr sz="800">
                <a:solidFill>
                  <a:srgbClr val="C4B5FD"/>
                </a:solidFill>
                <a:latin typeface="Segoe UI"/>
              </a:defRPr>
            </a:pPr>
            <a:r>
              <a:t>72h taller presencial + 144h laboratorio autónomo.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120640" cy="36118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512064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INFRAESTRUCTURA &amp; CAPAS GRATUITAS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DE9FE"/>
                </a:solidFill>
                <a:latin typeface="Segoe UI"/>
              </a:defRPr>
            </a:pPr>
            <a:r>
              <a:t>• Infraestructura de Redes:</a:t>
            </a:r>
            <a:br/>
            <a:r>
              <a:t>   - Laboratorios Duoc UC San Joaquín y plataforma Proxmox VE.</a:t>
            </a:r>
            <a:br/>
            <a:br/>
            <a:r>
              <a:t>• Capas Gratuitas Comunitarias:</a:t>
            </a:r>
            <a:br/>
            <a:r>
              <a:t>   - Google AI Studio (Gemini Live Flash 3.1 Free Tier).</a:t>
            </a:r>
            <a:br/>
            <a:r>
              <a:t>   - MaxMind GeoLite2 (Listas GeoIP actualizadas).</a:t>
            </a:r>
            <a:br/>
            <a:br/>
            <a:r>
              <a:t>• Validación Presupuestaria:</a:t>
            </a:r>
            <a:br/>
            <a:r>
              <a:t>   - Cero inversión en hardware privativo o licencias comerciales.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234440"/>
            <a:ext cx="5212080" cy="50749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MATRIZ DE RIESGOS Y MITIGACIONES TÉCNICAS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0975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EDE9FE"/>
                </a:solidFill>
                <a:latin typeface="Segoe UI"/>
              </a:defRPr>
            </a:pPr>
            <a:r>
              <a:t>🔴 Riesgo 1: Bloqueo de Puertos / CGNAT en Redes Remotas</a:t>
            </a:r>
            <a:br/>
            <a:r>
              <a:t>   -&gt; Mitigación: Despliegue de Tailscale Subnet Router. Publica la VLAN VoIP vía túnel WireGuard Zero Trust sin requerir IP pública.</a:t>
            </a:r>
            <a:br/>
            <a:br/>
            <a:r>
              <a:t>🔴 Riesgo 2: Falsos Positivos Saturando Llamadas al CISO</a:t>
            </a:r>
            <a:br/>
            <a:r>
              <a:t>   -&gt; Mitigación: Algoritmo heurístico AST en Python 3.12 que valida sintaxis SQLi real y exige confirmación en tabla &lt;snort2c&gt;.</a:t>
            </a:r>
            <a:br/>
            <a:br/>
            <a:r>
              <a:t>🟠 Riesgo 3: Latencia en la Interacción de Voz de IA</a:t>
            </a:r>
            <a:br/>
            <a:r>
              <a:t>   -&gt; Mitigación: Conexión directa por WebSocket bidireccional (PCM 24kHz) hacia Gemini Live Flash 3.1 (&lt;400ms).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Objetivos General y Específicos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14300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OBJETIVO GENERAL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280160"/>
            <a:ext cx="2011680" cy="256032"/>
          </a:xfrm>
          <a:prstGeom prst="roundRect">
            <a:avLst/>
          </a:prstGeom>
          <a:solidFill>
            <a:srgbClr val="231448"/>
          </a:solidFill>
          <a:ln w="1016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t>META ARQUITECTÓNICA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Diseñar, implementar y validar una arquitectura de defensa en profundidad y respuesta autónoma ante incidentes (SOAR) de costo cero ($0 CLP) denominada KRONOS SENTINEL, integrando prevención de intrusiones en kernel, supresión heurística de falsos positivos e interacción de voz en tiempo real con Inteligencia Artificial hacia el CISO.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5212080" cy="3794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OBJETIVOS ESPECÍFICOS (1 A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38BDF8"/>
                </a:solidFill>
                <a:latin typeface="Consolas"/>
              </a:rPr>
              <a:t>[OBJ-01] Segmentación L2/L3: </a:t>
            </a:r>
            <a:r>
              <a:rPr sz="830">
                <a:solidFill>
                  <a:srgbClr val="EDE9FE"/>
                </a:solidFill>
                <a:latin typeface="Segoe UI"/>
              </a:rPr>
              <a:t>Implementar 4 VLANs 802.1Q (Corp 10, DMZ 20, VoIP 30, Mgmt 99) en pfSense CE 2.9.0.
</a:t>
            </a:r>
          </a:p>
          <a:p>
            <a:r>
              <a:rPr b="1" sz="900">
                <a:solidFill>
                  <a:srgbClr val="38BDF8"/>
                </a:solidFill>
                <a:latin typeface="Consolas"/>
              </a:rPr>
              <a:t>[OBJ-02] Prevención Netmap IPS: </a:t>
            </a:r>
            <a:r>
              <a:rPr sz="830">
                <a:solidFill>
                  <a:srgbClr val="EDE9FE"/>
                </a:solidFill>
                <a:latin typeface="Segoe UI"/>
              </a:rPr>
              <a:t>Configurar Suricata 7.x en modo Inline IPS con descarte en hardware ring-buffer.
</a:t>
            </a:r>
          </a:p>
          <a:p>
            <a:r>
              <a:rPr b="1" sz="900">
                <a:solidFill>
                  <a:srgbClr val="38BDF8"/>
                </a:solidFill>
                <a:latin typeface="Consolas"/>
              </a:rPr>
              <a:t>[OBJ-03] Capa DMZ Segura: </a:t>
            </a:r>
            <a:r>
              <a:rPr sz="830">
                <a:solidFill>
                  <a:srgbClr val="EDE9FE"/>
                </a:solidFill>
                <a:latin typeface="Segoe UI"/>
              </a:rPr>
              <a:t>Desplegar HAProxy 2.8+ SSL y Stick-Tables anti-fuzzing L7 protegiendo servidor DVWA.
</a:t>
            </a:r>
          </a:p>
          <a:p>
            <a:r>
              <a:rPr b="1" sz="900">
                <a:solidFill>
                  <a:srgbClr val="38BDF8"/>
                </a:solidFill>
                <a:latin typeface="Consolas"/>
              </a:rPr>
              <a:t>[OBJ-04] Motor KRONOS AST: </a:t>
            </a:r>
            <a:r>
              <a:rPr sz="830">
                <a:solidFill>
                  <a:srgbClr val="EDE9FE"/>
                </a:solidFill>
                <a:latin typeface="Segoe UI"/>
              </a:rPr>
              <a:t>Desarrollar en Python 3.12 el analizador sintáctico para suprimir &gt;50% de falsos positivos.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2514600"/>
            <a:ext cx="5212080" cy="37947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251460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OBJETIVOS ESPECÍFICOS (5 A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0975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34D399"/>
                </a:solidFill>
                <a:latin typeface="Consolas"/>
              </a:rPr>
              <a:t>[OBJ-05] Kernel FreeBSD pfctl: </a:t>
            </a:r>
            <a:r>
              <a:rPr sz="830">
                <a:solidFill>
                  <a:srgbClr val="EDE9FE"/>
                </a:solidFill>
                <a:latin typeface="Segoe UI"/>
              </a:rPr>
              <a:t>Integrar terminación de estados (pfctl -k) y verificación atómica en tabla &lt;snort2c&gt;.
</a:t>
            </a:r>
          </a:p>
          <a:p>
            <a:r>
              <a:rPr b="1" sz="900">
                <a:solidFill>
                  <a:srgbClr val="34D399"/>
                </a:solidFill>
                <a:latin typeface="Consolas"/>
              </a:rPr>
              <a:t>[OBJ-06] Telefonía Asterisk PBX: </a:t>
            </a:r>
            <a:r>
              <a:rPr sz="830">
                <a:solidFill>
                  <a:srgbClr val="EDE9FE"/>
                </a:solidFill>
                <a:latin typeface="Segoe UI"/>
              </a:rPr>
              <a:t>Desplegar Asterisk 20 LTS en Docker con canal PJSIP y auto-dialer AMI al softphone.
</a:t>
            </a:r>
          </a:p>
          <a:p>
            <a:r>
              <a:rPr b="1" sz="900">
                <a:solidFill>
                  <a:srgbClr val="34D399"/>
                </a:solidFill>
                <a:latin typeface="Consolas"/>
              </a:rPr>
              <a:t>[OBJ-07] Agente de Voz Gemini Live: </a:t>
            </a:r>
            <a:r>
              <a:rPr sz="830">
                <a:solidFill>
                  <a:srgbClr val="EDE9FE"/>
                </a:solidFill>
                <a:latin typeface="Segoe UI"/>
              </a:rPr>
              <a:t>Construir cliente WebSocket (PCM 24kHz) para debriefing táctico hablado en tiempo real.
</a:t>
            </a:r>
          </a:p>
          <a:p>
            <a:r>
              <a:rPr b="1" sz="900">
                <a:solidFill>
                  <a:srgbClr val="34D399"/>
                </a:solidFill>
                <a:latin typeface="Consolas"/>
              </a:rPr>
              <a:t>[OBJ-08] Validación QA Integral: </a:t>
            </a:r>
            <a:r>
              <a:rPr sz="830">
                <a:solidFill>
                  <a:srgbClr val="EDE9FE"/>
                </a:solidFill>
                <a:latin typeface="Segoe UI"/>
              </a:rPr>
              <a:t>Ejecutar matrices de penetración y latencia total de respuesta &lt;1.5 segundos.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Metodología de Trabajo y Roles del Equipo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1: DISEÑO &amp; TOPOLOGÍA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Modelamiento IP, VLANs 802.1Q y tuning de pfSense CE 2.9.0.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2: PERÍMETRO &amp; 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Suricata Netmap IPS, pfBlockerNG GeoIP y HAProxy SSL DMZ.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3: KRONOS &amp; VOZ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Motor Python AST, wrappers pfctl FreeBSD, Asterisk y Gemini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234440"/>
            <a:ext cx="2542032" cy="155448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6256" y="123444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4: INTEGRACIÓN &amp;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1627632"/>
            <a:ext cx="23225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Simulación SQLi en vivo, latencia (&lt;1.5s) y documentación formal.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ROL: BRUNO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FFFFF"/>
                </a:solidFill>
                <a:latin typeface="Segoe UI"/>
              </a:rPr>
              <a:t>Bruno Urrea Ortiz
</a:t>
            </a:r>
            <a:r>
              <a:rPr b="1" sz="850">
                <a:solidFill>
                  <a:srgbClr val="00F0FF"/>
                </a:solidFill>
                <a:latin typeface="Segoe UI"/>
              </a:rPr>
              <a:t>Líder de Ciberseguridad &amp; Motor KRONOS
</a:t>
            </a:r>
            <a:r>
              <a:rPr sz="800">
                <a:solidFill>
                  <a:srgbClr val="C4B5FD"/>
                </a:solidFill>
                <a:latin typeface="Segoe UI"/>
              </a:rPr>
              <a:t>Arquitectura global, log_correlator.py, algoritmo AST anti-ruido, control en kernel pfctl y cliente Gemini Live.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56432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ROL: FREDDY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FFFFF"/>
                </a:solidFill>
                <a:latin typeface="Segoe UI"/>
              </a:rPr>
              <a:t>Freddy Vásquez Cortés
</a:t>
            </a:r>
            <a:r>
              <a:rPr b="1" sz="850">
                <a:solidFill>
                  <a:srgbClr val="38BDF8"/>
                </a:solidFill>
                <a:latin typeface="Segoe UI"/>
              </a:rPr>
              <a:t>Ingeniería de Routing, Switching &amp; VoIP
</a:t>
            </a:r>
            <a:r>
              <a:rPr sz="800">
                <a:solidFill>
                  <a:srgbClr val="C4B5FD"/>
                </a:solidFill>
                <a:latin typeface="Segoe UI"/>
              </a:rPr>
              <a:t>Troncal 802.1Q en pfSense, centralita Asterisk 20 LTS Docker, auto-dialer AMI y Tailscale Mesh.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ROL: CRISTÓBAL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FFFFF"/>
                </a:solidFill>
                <a:latin typeface="Segoe UI"/>
              </a:rPr>
              <a:t>Cristóbal Quezada
</a:t>
            </a:r>
            <a:r>
              <a:rPr b="1" sz="850">
                <a:solidFill>
                  <a:srgbClr val="FBBF24"/>
                </a:solidFill>
                <a:latin typeface="Segoe UI"/>
              </a:rPr>
              <a:t>Servicios Web &amp; Proxy Inverso DMZ
</a:t>
            </a:r>
            <a:r>
              <a:rPr sz="800">
                <a:solidFill>
                  <a:srgbClr val="C4B5FD"/>
                </a:solidFill>
                <a:latin typeface="Segoe UI"/>
              </a:rPr>
              <a:t>HAProxy 2.8+ SSL, Stick-Tables anti-fuzzing y administración de DVWA en VLAN 20.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2971800"/>
            <a:ext cx="2542032" cy="33375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06256" y="297180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ROL: KEVIN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3383280"/>
            <a:ext cx="23225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FFFFF"/>
                </a:solidFill>
                <a:latin typeface="Segoe UI"/>
              </a:rPr>
              <a:t>Kevin Retamales
</a:t>
            </a:r>
            <a:r>
              <a:rPr b="1" sz="850">
                <a:solidFill>
                  <a:srgbClr val="34D399"/>
                </a:solidFill>
                <a:latin typeface="Segoe UI"/>
              </a:rPr>
              <a:t>Hardening Perimetral, GeoIP &amp; QA Lead
</a:t>
            </a:r>
            <a:r>
              <a:rPr sz="800">
                <a:solidFill>
                  <a:srgbClr val="C4B5FD"/>
                </a:solidFill>
                <a:latin typeface="Segoe UI"/>
              </a:rPr>
              <a:t>Políticas Zero Trust en pfSense, pfBlockerNG-devel GeoIP y diseño de matrices QA.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Evidencias Comprometidas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251460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2064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EVIDENCIAS DE AVANCE (FASE 1 Y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• [F1] Informe de Definición y Topología: Diseño L2/L3, direccionamiento IP y fundamentación.</a:t>
            </a:r>
            <a:br/>
            <a:r>
              <a:t>• [F2] Repositorio Git e IaC: Código Python KRONOS, Dockerfiles de Asterisk/DVWA y XML pfSense.</a:t>
            </a:r>
            <a:br/>
            <a:r>
              <a:t>• [F2] Manuales Técnicos PDF: Manual pfSense 2.9.0 y Tutorial Paso a Paso con WebGUI mockups.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120640" cy="242316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2064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EVIDENCIAS FINALES Y DEMO EN VIVO (FASE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• [F3] Demostración en Vivo SOAR: Inyección SQL en DVWA ➔ Bloqueo Netmap ➔ pfctl Kill States ➔ Llamada Gemini Live al CISO.</a:t>
            </a:r>
            <a:br/>
            <a:r>
              <a:t>• [F3] Matrices QA y Logs: EVE JSON, tablas snort2c y latencia &lt;1.5s.</a:t>
            </a:r>
            <a:br/>
            <a:r>
              <a:t>• [F3] Informe Final Consolidado y Defensa ante Comisión.</a:t>
            </a:r>
          </a:p>
        </p:txBody>
      </p:sp>
      <p:pic>
        <p:nvPicPr>
          <p:cNvPr id="12" name="Picture 11" descr="voice_soa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333695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26480" y="4434840"/>
            <a:ext cx="5333695" cy="1874519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4434840"/>
            <a:ext cx="5333695" cy="292608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TELEMETRÍA Y RESPUESTA EN TIEMPO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006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30">
                <a:solidFill>
                  <a:srgbClr val="EDE9FE"/>
                </a:solidFill>
                <a:latin typeface="Segoe UI"/>
              </a:defRPr>
            </a:pPr>
            <a:r>
              <a:t>• Protocolo de Voz: Streaming PCM 24kHz dúplex directo con Google Gemini Live.</a:t>
            </a:r>
            <a:br/>
            <a:r>
              <a:t>• Interacción Táctica: El CISO escucha el vector mitigado y puede autorizar acciones de respuesta adicionales por voz en lenguaje natural.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Plan de Trabajo y Carta Gantt (18 Semanas)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ntt_fase1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28655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89120"/>
            <a:ext cx="2542032" cy="192024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1 (S1-S4)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Setup pfSense &amp; VLANs 802.1Q (Corp 10, DMZ 20, VoIP 30). Informe EA1.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389120"/>
            <a:ext cx="2542032" cy="192024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438912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2A (S5-S10)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8006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Suricata Netmap IPS, GeoIP pfBlockerNG y HAProxy SSL DMZ.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389120"/>
            <a:ext cx="2542032" cy="192024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438912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2B (S11-S15)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8006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Motor KRONOS AST, Asterisk PBX, Gemini Live Voice y Tailscale.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4389120"/>
            <a:ext cx="2542032" cy="192024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06256" y="4389120"/>
            <a:ext cx="2542032" cy="320040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FASE 3 (S16-S18)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8006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DE9FE"/>
                </a:solidFill>
                <a:latin typeface="Segoe UI"/>
              </a:defRPr>
            </a:pPr>
            <a:r>
              <a:t>Pruebas QA &lt;1.5s, Manuales PDF y Defensa Portafolio APT122.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fi_purple_wave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PORTAFOLIO DE TÍTULO (APT122) • FASE 1: 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Cierre, Próximos Pasos (Fase 2) y 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749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PRÓXIMOS PASOS HACIA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EDE9FE"/>
                </a:solidFill>
                <a:latin typeface="Segoe UI"/>
              </a:defRPr>
            </a:pPr>
            <a:r>
              <a:t>1. Despliegue de Suricata Inline Netmap:</a:t>
            </a:r>
            <a:br/>
            <a:r>
              <a:t>• Configurar dropsid.conf para conversión automática de alertas a drops en hardware ring-buffer.</a:t>
            </a:r>
            <a:br/>
            <a:br/>
            <a:r>
              <a:t>2. Hardening de HAProxy en DMZ:</a:t>
            </a:r>
            <a:br/>
            <a:r>
              <a:t>• Parametrizar Stick-Tables para rate-limiting dinámico anti-fuzzing L7.</a:t>
            </a:r>
            <a:br/>
            <a:br/>
            <a:r>
              <a:t>3. Desarrollo del Motor KRONOS (Python 3.12):</a:t>
            </a:r>
            <a:br/>
            <a:r>
              <a:t>• Implementar AST parser heurístico y llamadas subprocess a pfctl -k.</a:t>
            </a:r>
            <a:br/>
            <a:br/>
            <a:r>
              <a:t>4. Pruebas de Integración Asterisk &amp; Gemini Live:</a:t>
            </a:r>
            <a:br/>
            <a:r>
              <a:t>• Validar streaming de audio bidireccional PCM 24kHz y timbrado a PJSIP/1001.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34440"/>
            <a:ext cx="5212080" cy="5074920"/>
          </a:xfrm>
          <a:prstGeom prst="roundRect">
            <a:avLst/>
          </a:prstGeom>
          <a:solidFill>
            <a:srgbClr val="140B2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8095" y="1234440"/>
            <a:ext cx="5212080" cy="347472"/>
          </a:xfrm>
          <a:prstGeom prst="roundRect">
            <a:avLst/>
          </a:prstGeom>
          <a:solidFill>
            <a:srgbClr val="2314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ESPACIO DE PREGUNTAS Y CONSULTAS</a:t>
            </a:r>
          </a:p>
        </p:txBody>
      </p:sp>
      <p:pic>
        <p:nvPicPr>
          <p:cNvPr id="11" name="Picture 10" descr="sentinel_shiel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615" y="178308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30975" y="33832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KRONOS SENTINEL</a:t>
            </a:r>
            <a:br/>
          </a:p>
          <a:p>
            <a:pPr>
              <a:defRPr sz="900">
                <a:solidFill>
                  <a:srgbClr val="EDE9FE"/>
                </a:solidFill>
                <a:latin typeface="Segoe UI"/>
              </a:defRPr>
            </a:pPr>
            <a:r>
              <a:t>“Innovación en Ciberdefensa: Desacoplando la contención atómica en kernel de la comunicación estratégica de voz en tiempo real.”</a:t>
            </a:r>
            <a:br/>
            <a:br/>
            <a:r>
              <a:t>¡Muchas gracias por su atención!</a:t>
            </a:r>
            <a:br/>
            <a:r>
              <a:t>Quedamos a disposición de la Comisión Evaluadora de Duoc UC.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B5CF6"/>
                </a:solidFill>
                <a:latin typeface="Consolas"/>
              </a:defRPr>
            </a:pPr>
            <a:r>
              <a:t>DUOC UC SAN JOAQUÍN • ESCUELA DE INFORMÁTICA Y TELECOMUNICACIONES  |  KRONOS SENTINEL  |  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