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94360"/>
            <a:ext cx="4023360" cy="274320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594360"/>
            <a:ext cx="2286000" cy="274320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34D399"/>
                </a:solidFill>
                <a:latin typeface="Consolas"/>
              </a:defRPr>
            </a:pPr>
            <a:r>
              <a:rPr lang="es-CL" noProof="0" dirty="0"/>
              <a:t>DEFENSA EN PROFUNDIDAD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772400" cy="108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KRONOS SENTINEL</a:t>
            </a:r>
          </a:p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rPr lang="es-CL" noProof="0" dirty="0" err="1"/>
              <a:t>Autonomous</a:t>
            </a:r>
            <a:r>
              <a:rPr lang="es-CL" noProof="0" dirty="0"/>
              <a:t> AI-IPS &amp; Real-Time </a:t>
            </a:r>
            <a:r>
              <a:rPr lang="es-CL" noProof="0" dirty="0" err="1"/>
              <a:t>Incident</a:t>
            </a:r>
            <a:r>
              <a:rPr lang="es-CL" noProof="0" dirty="0"/>
              <a:t> Voice Response SOAR </a:t>
            </a:r>
            <a:r>
              <a:rPr lang="es-CL" noProof="0" dirty="0" err="1"/>
              <a:t>Architecture</a:t>
            </a:r>
            <a:endParaRPr lang="es-CL" noProof="0" dirty="0"/>
          </a:p>
          <a:p>
            <a:pPr>
              <a:lnSpc>
                <a:spcPct val="150000"/>
              </a:lnSpc>
              <a:defRPr sz="1050">
                <a:solidFill>
                  <a:srgbClr val="C4B5FD"/>
                </a:solidFill>
                <a:latin typeface="Segoe UI"/>
              </a:defRPr>
            </a:pPr>
            <a:r>
              <a:rPr lang="es-CL" noProof="0" dirty="0"/>
              <a:t>Mitigación Atómica en </a:t>
            </a:r>
            <a:r>
              <a:rPr lang="es-CL" noProof="0" dirty="0" err="1"/>
              <a:t>Kernel</a:t>
            </a:r>
            <a:r>
              <a:rPr lang="es-CL" noProof="0" dirty="0"/>
              <a:t> FreeBSD + Orquestación de Voz en Tiempo Real con IA Multimodal</a:t>
            </a:r>
          </a:p>
        </p:txBody>
      </p:sp>
      <p:pic>
        <p:nvPicPr>
          <p:cNvPr id="6" name="Picture 5" descr="sentinel_shiel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685800"/>
            <a:ext cx="2194560" cy="2194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971800"/>
            <a:ext cx="5212080" cy="2373109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DATOS ACADÉMICOS E INSTITUCIONALES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705" y="3429000"/>
            <a:ext cx="4846320" cy="1330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00F0FF"/>
                </a:solidFill>
                <a:latin typeface="Segoe UI"/>
              </a:rPr>
              <a:t>Institución: </a:t>
            </a:r>
            <a:r>
              <a:rPr lang="es-CL" sz="1100" noProof="0" dirty="0">
                <a:solidFill>
                  <a:srgbClr val="EDE9FE"/>
                </a:solidFill>
                <a:latin typeface="Segoe UI"/>
              </a:rPr>
              <a:t>Duoc UC — Sede San Joaquín</a:t>
            </a:r>
          </a:p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00F0FF"/>
                </a:solidFill>
                <a:latin typeface="Segoe UI"/>
              </a:rPr>
              <a:t>Escuela: </a:t>
            </a:r>
            <a:r>
              <a:rPr lang="es-CL" sz="1100" noProof="0" dirty="0">
                <a:solidFill>
                  <a:srgbClr val="EDE9FE"/>
                </a:solidFill>
                <a:latin typeface="Segoe UI"/>
              </a:rPr>
              <a:t>Escuela de Informática y Telecomunicaciones</a:t>
            </a:r>
          </a:p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00F0FF"/>
                </a:solidFill>
                <a:latin typeface="Segoe UI"/>
              </a:rPr>
              <a:t>Carrera: </a:t>
            </a:r>
            <a:r>
              <a:rPr lang="es-CL" sz="1100" noProof="0" dirty="0">
                <a:solidFill>
                  <a:srgbClr val="EDE9FE"/>
                </a:solidFill>
                <a:latin typeface="Segoe UI"/>
              </a:rPr>
              <a:t>Ingeniería en Conectividad y Redes</a:t>
            </a:r>
          </a:p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00F0FF"/>
                </a:solidFill>
                <a:latin typeface="Segoe UI"/>
              </a:rPr>
              <a:t>Asignatura: </a:t>
            </a:r>
            <a:r>
              <a:rPr lang="es-CL" sz="1100" noProof="0" dirty="0">
                <a:solidFill>
                  <a:srgbClr val="EDE9FE"/>
                </a:solidFill>
                <a:latin typeface="Segoe UI"/>
              </a:rPr>
              <a:t>Portafolio de Título (APT122)</a:t>
            </a:r>
          </a:p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00F0FF"/>
                </a:solidFill>
                <a:latin typeface="Segoe UI"/>
              </a:rPr>
              <a:t>Fecha Exposición: </a:t>
            </a:r>
            <a:r>
              <a:rPr lang="es-CL" sz="1100" noProof="0" dirty="0">
                <a:solidFill>
                  <a:srgbClr val="EDE9FE"/>
                </a:solidFill>
                <a:latin typeface="Segoe UI"/>
              </a:rPr>
              <a:t>8 de Septiembre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971800"/>
            <a:ext cx="5212080" cy="2373109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248095" y="29718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EQUIPO DE INGENIERÍA Y ROLES ASIGNADOS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3429000"/>
            <a:ext cx="484632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• Bruno Urrea Ortiz
</a:t>
            </a:r>
            <a:r>
              <a:rPr lang="es-CL" sz="1000" noProof="0" dirty="0">
                <a:solidFill>
                  <a:srgbClr val="00F0FF"/>
                </a:solidFill>
                <a:latin typeface="Segoe UI"/>
              </a:rPr>
              <a:t>   Líder de Ciberseguridad, Motor KRONOS y Gemini Live
</a:t>
            </a:r>
          </a:p>
          <a:p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• Freddy Vásquez Cortés
</a:t>
            </a:r>
            <a:r>
              <a:rPr lang="es-CL" sz="1000" noProof="0" dirty="0">
                <a:solidFill>
                  <a:srgbClr val="38BDF8"/>
                </a:solidFill>
                <a:latin typeface="Segoe UI"/>
              </a:rPr>
              <a:t>   Ingeniería de </a:t>
            </a:r>
            <a:r>
              <a:rPr lang="es-CL" sz="1000" noProof="0" dirty="0" err="1">
                <a:solidFill>
                  <a:srgbClr val="38BDF8"/>
                </a:solidFill>
                <a:latin typeface="Segoe UI"/>
              </a:rPr>
              <a:t>Routing</a:t>
            </a:r>
            <a:r>
              <a:rPr lang="es-CL" sz="1000" noProof="0" dirty="0">
                <a:solidFill>
                  <a:srgbClr val="38BDF8"/>
                </a:solidFill>
                <a:latin typeface="Segoe UI"/>
              </a:rPr>
              <a:t>, </a:t>
            </a:r>
            <a:r>
              <a:rPr lang="es-CL" sz="1000" noProof="0" dirty="0" err="1">
                <a:solidFill>
                  <a:srgbClr val="38BDF8"/>
                </a:solidFill>
                <a:latin typeface="Segoe UI"/>
              </a:rPr>
              <a:t>Switching</a:t>
            </a:r>
            <a:r>
              <a:rPr lang="es-CL" sz="1000" noProof="0" dirty="0">
                <a:solidFill>
                  <a:srgbClr val="38BDF8"/>
                </a:solidFill>
                <a:latin typeface="Segoe UI"/>
              </a:rPr>
              <a:t> L2/L3 y Telefonía Asterisk
</a:t>
            </a:r>
          </a:p>
          <a:p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• Cristóbal Quezada
</a:t>
            </a:r>
            <a:r>
              <a:rPr lang="es-CL" sz="1000" noProof="0" dirty="0">
                <a:solidFill>
                  <a:srgbClr val="FBBF24"/>
                </a:solidFill>
                <a:latin typeface="Segoe UI"/>
              </a:rPr>
              <a:t>   Administración de Servicios Web, Proxy </a:t>
            </a:r>
            <a:r>
              <a:rPr lang="es-CL" sz="1000" noProof="0" dirty="0" err="1">
                <a:solidFill>
                  <a:srgbClr val="FBBF24"/>
                </a:solidFill>
                <a:latin typeface="Segoe UI"/>
              </a:rPr>
              <a:t>HAProxy</a:t>
            </a:r>
            <a:r>
              <a:rPr lang="es-CL" sz="1000" noProof="0" dirty="0">
                <a:solidFill>
                  <a:srgbClr val="FBBF24"/>
                </a:solidFill>
                <a:latin typeface="Segoe UI"/>
              </a:rPr>
              <a:t> y DMZ
</a:t>
            </a:r>
          </a:p>
          <a:p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• Kevin Retamales
</a:t>
            </a:r>
            <a:r>
              <a:rPr lang="es-CL" sz="1000" noProof="0" dirty="0">
                <a:solidFill>
                  <a:srgbClr val="34D399"/>
                </a:solidFill>
                <a:latin typeface="Segoe UI"/>
              </a:rPr>
              <a:t>   </a:t>
            </a:r>
            <a:r>
              <a:rPr lang="es-CL" sz="1000" noProof="0" dirty="0" err="1">
                <a:solidFill>
                  <a:srgbClr val="34D399"/>
                </a:solidFill>
                <a:latin typeface="Segoe UI"/>
              </a:rPr>
              <a:t>Hardening</a:t>
            </a:r>
            <a:r>
              <a:rPr lang="es-CL" sz="1000" noProof="0" dirty="0">
                <a:solidFill>
                  <a:srgbClr val="34D399"/>
                </a:solidFill>
                <a:latin typeface="Segoe UI"/>
              </a:rPr>
              <a:t> Perimetral, Inteligencia </a:t>
            </a:r>
            <a:r>
              <a:rPr lang="es-CL" sz="1000" noProof="0" dirty="0" err="1">
                <a:solidFill>
                  <a:srgbClr val="34D399"/>
                </a:solidFill>
                <a:latin typeface="Segoe UI"/>
              </a:rPr>
              <a:t>pfBlockerNG</a:t>
            </a:r>
            <a:r>
              <a:rPr lang="es-CL" sz="1000" noProof="0" dirty="0">
                <a:solidFill>
                  <a:srgbClr val="34D399"/>
                </a:solidFill>
                <a:latin typeface="Segoe UI"/>
              </a:rPr>
              <a:t> y QA</a:t>
            </a:r>
            <a:r>
              <a:rPr lang="es-CL" sz="850" noProof="0" dirty="0">
                <a:solidFill>
                  <a:srgbClr val="34D399"/>
                </a:solidFill>
                <a:latin typeface="Segoe UI"/>
              </a:rP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Agenda de la Presentación (10 Secciones)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37160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F87171"/>
                </a:solidFill>
                <a:latin typeface="Consolas"/>
              </a:defRPr>
            </a:pPr>
            <a:r>
              <a:rPr lang="es-CL" noProof="0" dirty="0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7207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Contexto y Problemática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Crisis de falsos positivos y colapso cognitivo del operador.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868680" y="237744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7791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Descripción del Proyecto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Defensa en profundidad y arquitectura SOAR a costo $0 CLP.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rPr lang="es-CL" noProof="0" dirty="0"/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8375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Vínculo con el Perfil de Egreso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Mapeo de 6 competencias troncales de Conectividad y Redes.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868680" y="438912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C084FC"/>
                </a:solidFill>
                <a:latin typeface="Consolas"/>
              </a:defRPr>
            </a:pPr>
            <a:r>
              <a:rPr lang="es-CL" noProof="0" dirty="0"/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8959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Intereses Profesionales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Especialización en Ciberseguridad, </a:t>
            </a:r>
            <a:r>
              <a:rPr lang="es-CL" sz="1000" noProof="0" dirty="0" err="1">
                <a:solidFill>
                  <a:srgbClr val="C4B5FD"/>
                </a:solidFill>
                <a:latin typeface="Segoe UI"/>
              </a:rPr>
              <a:t>SecOps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 y trayecto </a:t>
            </a:r>
            <a:r>
              <a:rPr lang="es-CL" sz="1000" noProof="0" dirty="0" err="1">
                <a:solidFill>
                  <a:srgbClr val="C4B5FD"/>
                </a:solidFill>
                <a:latin typeface="Segoe UI"/>
              </a:rPr>
              <a:t>DevSec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868680" y="539496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rPr lang="es-CL" noProof="0" dirty="0"/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9543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Factibilidad y Gestión de Riesgos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Semestre académico, recursos Open </a:t>
            </a:r>
            <a:r>
              <a:rPr lang="es-CL" sz="1000" noProof="0" dirty="0" err="1">
                <a:solidFill>
                  <a:srgbClr val="C4B5FD"/>
                </a:solidFill>
                <a:latin typeface="Segoe UI"/>
              </a:rPr>
              <a:t>Source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 y evasión de CGNAT.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23444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385255" y="137160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127207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Objetivos General y Específicos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8 metas técnicas medibles de ingeniería y arquitectura.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095" y="224028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ounded Rectangle 24"/>
          <p:cNvSpPr/>
          <p:nvPr/>
        </p:nvSpPr>
        <p:spPr>
          <a:xfrm>
            <a:off x="6385255" y="237744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34D399"/>
                </a:solidFill>
                <a:latin typeface="Consolas"/>
              </a:defRPr>
            </a:pPr>
            <a:r>
              <a:rPr lang="es-CL" noProof="0" dirty="0"/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9615" y="227791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Metodología y Roles del Equipo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Ciclo iterativo e incremental de 4 fases operativas.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095" y="324612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6385255" y="338328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rPr lang="es-CL" noProof="0" dirty="0"/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9615" y="328375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Evidencias Comprometidas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Entregables de avance, código </a:t>
            </a:r>
            <a:r>
              <a:rPr lang="es-CL" sz="1000" noProof="0" dirty="0" err="1">
                <a:solidFill>
                  <a:srgbClr val="C4B5FD"/>
                </a:solidFill>
                <a:latin typeface="Segoe UI"/>
              </a:rPr>
              <a:t>IaC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 y demostración en vivo.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095" y="425196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1" name="Rounded Rectangle 30"/>
          <p:cNvSpPr/>
          <p:nvPr/>
        </p:nvSpPr>
        <p:spPr>
          <a:xfrm>
            <a:off x="6385255" y="438912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rPr lang="es-CL" noProof="0" dirty="0"/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9615" y="428959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Plan de Trabajo y Carta Gantt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Cronograma de 18 semanas académicas y dependencias.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095" y="525780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4" name="Rounded Rectangle 33"/>
          <p:cNvSpPr/>
          <p:nvPr/>
        </p:nvSpPr>
        <p:spPr>
          <a:xfrm>
            <a:off x="6385255" y="539496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50" b="1">
                <a:solidFill>
                  <a:srgbClr val="34D399"/>
                </a:solidFill>
                <a:latin typeface="Consolas"/>
              </a:defRPr>
            </a:pPr>
            <a:r>
              <a:rPr lang="es-CL" noProof="0" dirty="0"/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9615" y="5295430"/>
            <a:ext cx="4343400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Cierre y Próximos Pasos (Fase 2)
</a:t>
            </a:r>
            <a:r>
              <a:rPr lang="es-CL" sz="1000" noProof="0" dirty="0">
                <a:solidFill>
                  <a:srgbClr val="C4B5FD"/>
                </a:solidFill>
                <a:latin typeface="Segoe UI"/>
              </a:rPr>
              <a:t>Hitos de implementación perimetral y ronda de preguntas.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Contexto y Problemática en la Industria de Ciberseguridad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813272" cy="98298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1644195" cy="8348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7171"/>
                </a:solidFill>
                <a:latin typeface="Segoe UI"/>
              </a:defRPr>
            </a:pPr>
            <a:r>
              <a:rPr lang="es-CL" noProof="0" dirty="0"/>
              <a:t>&gt;50%</a:t>
            </a:r>
          </a:p>
          <a:p>
            <a:pPr>
              <a:lnSpc>
                <a:spcPct val="150000"/>
              </a:lnSpc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Falsos Positivos</a:t>
            </a:r>
          </a:p>
          <a:p>
            <a:pPr>
              <a:defRPr sz="800">
                <a:solidFill>
                  <a:srgbClr val="C4B5FD"/>
                </a:solidFill>
                <a:latin typeface="Segoe UI"/>
              </a:defRPr>
            </a:pPr>
            <a:r>
              <a:rPr lang="es-CL" sz="900" noProof="0" dirty="0"/>
              <a:t>Fatiga extrema en analistas SOC N1/N2 por firmas genéricas.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632" y="1238529"/>
            <a:ext cx="1813272" cy="98298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2880072" y="1311681"/>
            <a:ext cx="1614865" cy="8348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BBF24"/>
                </a:solidFill>
                <a:latin typeface="Segoe UI"/>
              </a:defRPr>
            </a:pPr>
            <a:r>
              <a:rPr lang="es-CL" noProof="0" dirty="0"/>
              <a:t>0.05ms</a:t>
            </a:r>
          </a:p>
          <a:p>
            <a:pPr>
              <a:lnSpc>
                <a:spcPct val="150000"/>
              </a:lnSpc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Visión de Túnel</a:t>
            </a:r>
          </a:p>
          <a:p>
            <a:pPr>
              <a:defRPr sz="800">
                <a:solidFill>
                  <a:srgbClr val="C4B5FD"/>
                </a:solidFill>
                <a:latin typeface="Segoe UI"/>
              </a:defRPr>
            </a:pPr>
            <a:r>
              <a:rPr lang="es-CL" sz="900" noProof="0" dirty="0"/>
              <a:t>El humano colapsa al intentar aislar firewall y reportar al CISO.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80114"/>
            <a:ext cx="3870384" cy="2400843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680115"/>
            <a:ext cx="3870384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PROPUESTA DE VALOR: KRONOS 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91595"/>
            <a:ext cx="37332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• Extracción del Factor Humano: Desacopla la contención atómica en </a:t>
            </a:r>
            <a:r>
              <a:rPr lang="es-CL" sz="1000" noProof="0" dirty="0" err="1"/>
              <a:t>kernel</a:t>
            </a:r>
            <a:r>
              <a:rPr lang="es-CL" sz="1000" noProof="0" dirty="0"/>
              <a:t> de la notificación.</a:t>
            </a:r>
            <a:br>
              <a:rPr lang="es-CL" sz="1000" noProof="0" dirty="0"/>
            </a:br>
            <a:r>
              <a:rPr lang="es-CL" sz="1000" noProof="0" dirty="0"/>
              <a:t>• Doble Acción Simultánea:</a:t>
            </a:r>
            <a:br>
              <a:rPr lang="es-CL" sz="1000" noProof="0" dirty="0"/>
            </a:br>
            <a:r>
              <a:rPr lang="es-CL" sz="1000" noProof="0" dirty="0"/>
              <a:t>   1. Drop instantáneo en FreeBSD vía </a:t>
            </a:r>
            <a:r>
              <a:rPr lang="es-CL" sz="1000" noProof="0" dirty="0" err="1"/>
              <a:t>pfctl</a:t>
            </a:r>
            <a:r>
              <a:rPr lang="es-CL" sz="1000" noProof="0" dirty="0"/>
              <a:t> -k y tabla &lt;snort2c&gt;   (&lt;100ms).</a:t>
            </a:r>
            <a:br>
              <a:rPr lang="es-CL" sz="1000" noProof="0" dirty="0"/>
            </a:br>
            <a:r>
              <a:rPr lang="es-CL" sz="1000" noProof="0" dirty="0"/>
              <a:t>   2. Llamada interactiva por voz mediante Asterisk y Gemini Live (&lt;1.5s).</a:t>
            </a:r>
          </a:p>
        </p:txBody>
      </p:sp>
      <p:pic>
        <p:nvPicPr>
          <p:cNvPr id="13" name="Picture 12" descr="pfctl_decis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65" y="1239622"/>
            <a:ext cx="6259614" cy="384133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349240"/>
            <a:ext cx="10728655" cy="96012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b="1" noProof="0" dirty="0">
                <a:solidFill>
                  <a:srgbClr val="00F0FF"/>
                </a:solidFill>
                <a:latin typeface="Consolas"/>
              </a:rPr>
              <a:t>ÁMBITO &amp; POBLACIÓN DE IMPACTO: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Datacenters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, plataformas web expuestas e infraestructuras corporativas en Chile y LATAM. Beneficia directamente a Analistas SOC,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CISOs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y Administradores de Redes.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Descripción del Proyecto KRONOS SENTINEL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493776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b="1" noProof="0" dirty="0">
                <a:solidFill>
                  <a:srgbClr val="00F0FF"/>
                </a:solidFill>
                <a:latin typeface="Consolas"/>
              </a:rPr>
              <a:t>OBJETIVO CENTRAL ($0 CLP): </a:t>
            </a: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“Arquitectura SOAR autónoma de costo cero que contiene intrusiones en </a:t>
            </a:r>
            <a:r>
              <a:rPr lang="es-CL" sz="1000" b="1" noProof="0" dirty="0" err="1">
                <a:solidFill>
                  <a:srgbClr val="FFFFFF"/>
                </a:solidFill>
                <a:latin typeface="Segoe UI"/>
              </a:rPr>
              <a:t>kernel</a:t>
            </a:r>
            <a:r>
              <a:rPr lang="es-CL" sz="1000" b="1" noProof="0" dirty="0">
                <a:solidFill>
                  <a:srgbClr val="FFFFFF"/>
                </a:solidFill>
                <a:latin typeface="Segoe UI"/>
              </a:rPr>
              <a:t> FreeBSD en microsegundos e interactúa por voz en tiempo real con el CISO mediante Inteligencia Artificial.”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1096"/>
            <a:ext cx="5897878" cy="33658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19" y="5360372"/>
            <a:ext cx="5897878" cy="912157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731519" y="5360372"/>
            <a:ext cx="5897878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DEFENSA MULTI-CAPA ZERO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8" y="5680412"/>
            <a:ext cx="5652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• 4 </a:t>
            </a:r>
            <a:r>
              <a:rPr lang="es-CL" sz="1000" noProof="0" dirty="0" err="1"/>
              <a:t>VLANs</a:t>
            </a:r>
            <a:r>
              <a:rPr lang="es-CL" sz="1000" noProof="0" dirty="0"/>
              <a:t> 802.1Q aisladas (Corp 10, DMZ 20, VoIP 30, </a:t>
            </a:r>
            <a:r>
              <a:rPr lang="es-CL" sz="1000" noProof="0" dirty="0" err="1"/>
              <a:t>Mgmt</a:t>
            </a:r>
            <a:r>
              <a:rPr lang="es-CL" sz="1000" noProof="0" dirty="0"/>
              <a:t> 99).</a:t>
            </a:r>
            <a:br>
              <a:rPr lang="es-CL" sz="1000" noProof="0" dirty="0"/>
            </a:br>
            <a:r>
              <a:rPr lang="es-CL" sz="1000" noProof="0" dirty="0"/>
              <a:t>• Aislamiento estricto de DMZ con proxy inverso </a:t>
            </a:r>
            <a:r>
              <a:rPr lang="es-CL" sz="1000" noProof="0" dirty="0" err="1"/>
              <a:t>HAProxy</a:t>
            </a:r>
            <a:r>
              <a:rPr lang="es-CL" sz="1000" noProof="0" dirty="0"/>
              <a:t> y terminación HTTPS.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59" y="1914649"/>
            <a:ext cx="4693616" cy="845734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6766559" y="1906610"/>
            <a:ext cx="4693616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01. PERÍMETRO INLINE 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235794"/>
            <a:ext cx="4556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rPr lang="es-CL" sz="1000" dirty="0"/>
              <a:t>P</a:t>
            </a:r>
            <a:r>
              <a:rPr lang="es-CL" sz="1000" noProof="0" dirty="0" err="1"/>
              <a:t>fSense</a:t>
            </a:r>
            <a:r>
              <a:rPr lang="es-CL" sz="1000" noProof="0" dirty="0"/>
              <a:t> CE 2.9.0 + Suricata 7.x </a:t>
            </a:r>
            <a:r>
              <a:rPr lang="es-CL" sz="1000" noProof="0" dirty="0" err="1"/>
              <a:t>Inline</a:t>
            </a:r>
            <a:r>
              <a:rPr lang="es-CL" sz="1000" noProof="0" dirty="0"/>
              <a:t> </a:t>
            </a:r>
            <a:r>
              <a:rPr lang="es-CL" sz="1000" noProof="0" dirty="0" err="1"/>
              <a:t>Netmap</a:t>
            </a:r>
            <a:r>
              <a:rPr lang="es-CL" sz="1000" noProof="0" dirty="0"/>
              <a:t> (Hardware Drop ring-buffer) y </a:t>
            </a:r>
            <a:r>
              <a:rPr lang="es-CL" sz="1000" noProof="0" dirty="0" err="1"/>
              <a:t>pfBlockerNG</a:t>
            </a:r>
            <a:r>
              <a:rPr lang="es-CL" sz="1000" noProof="0" dirty="0"/>
              <a:t> </a:t>
            </a:r>
            <a:r>
              <a:rPr lang="es-CL" sz="1000" noProof="0" dirty="0" err="1"/>
              <a:t>GeoIP</a:t>
            </a:r>
            <a:r>
              <a:rPr lang="es-CL" sz="1000" noProof="0" dirty="0"/>
              <a:t> </a:t>
            </a:r>
            <a:r>
              <a:rPr lang="es-CL" sz="1000" noProof="0" dirty="0" err="1"/>
              <a:t>MaxMind</a:t>
            </a:r>
            <a:r>
              <a:rPr lang="es-CL" sz="1000" noProof="0"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59" y="3063714"/>
            <a:ext cx="4693616" cy="843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6766559" y="3048591"/>
            <a:ext cx="4693616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02. CAPA WEB DMZ &amp;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377775"/>
            <a:ext cx="4556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 err="1"/>
              <a:t>HAProxy</a:t>
            </a:r>
            <a:r>
              <a:rPr lang="es-CL" sz="1000" noProof="0" dirty="0"/>
              <a:t> 2.8+ SSL y Stick-Tables </a:t>
            </a:r>
            <a:r>
              <a:rPr lang="es-CL" sz="1000" noProof="0" dirty="0" err="1"/>
              <a:t>anti-fuzzing</a:t>
            </a:r>
            <a:r>
              <a:rPr lang="es-CL" sz="1000" noProof="0" dirty="0"/>
              <a:t> L7 protegiendo servidor vulnerable DVWA en VLAN 20.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59" y="4160338"/>
            <a:ext cx="4693616" cy="843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6766559" y="4146227"/>
            <a:ext cx="4693616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03. MOTOR KRONOS 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4475411"/>
            <a:ext cx="4556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Python 3.12 AST </a:t>
            </a:r>
            <a:r>
              <a:rPr lang="es-CL" sz="1000" noProof="0" dirty="0" err="1"/>
              <a:t>parser</a:t>
            </a:r>
            <a:r>
              <a:rPr lang="es-CL" sz="1000" noProof="0" dirty="0"/>
              <a:t> (supresión &gt;50% ruido) y control de </a:t>
            </a:r>
            <a:r>
              <a:rPr lang="es-CL" sz="1000" noProof="0" dirty="0" err="1"/>
              <a:t>kernel</a:t>
            </a:r>
            <a:r>
              <a:rPr lang="es-CL" sz="1000" noProof="0" dirty="0"/>
              <a:t> FreeBSD </a:t>
            </a:r>
            <a:r>
              <a:rPr lang="es-CL" sz="1000" noProof="0" dirty="0" err="1"/>
              <a:t>pfctl</a:t>
            </a:r>
            <a:r>
              <a:rPr lang="es-CL" sz="1000" noProof="0" dirty="0"/>
              <a:t> (Kill States y &lt;snort2c&gt;).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59" y="5354372"/>
            <a:ext cx="4693616" cy="908146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766559" y="5354372"/>
            <a:ext cx="4693616" cy="26908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04. SOAR VOZ GEMINI &amp; PBX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5683556"/>
            <a:ext cx="4556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Asterisk 20 LTS en Docker con </a:t>
            </a:r>
            <a:r>
              <a:rPr lang="es-CL" sz="1000" noProof="0" dirty="0" err="1"/>
              <a:t>auto-dialer</a:t>
            </a:r>
            <a:r>
              <a:rPr lang="es-CL" sz="1000" noProof="0" dirty="0"/>
              <a:t> AMI y Google Gemini Live Flash 3.1 para </a:t>
            </a:r>
            <a:r>
              <a:rPr lang="es-CL" sz="1000" noProof="0" dirty="0" err="1"/>
              <a:t>debriefing</a:t>
            </a:r>
            <a:r>
              <a:rPr lang="es-CL" sz="1000" noProof="0" dirty="0"/>
              <a:t> hablado.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Vínculo con el Perfil de Egreso (6 Competencias Troncales APT)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974336" cy="9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00F0FF"/>
                </a:solidFill>
                <a:latin typeface="Segoe UI"/>
              </a:rPr>
              <a:t>Comp. 8: Planes de Prevención y Respuesta a Riesgos</a:t>
            </a:r>
            <a:r>
              <a:rPr lang="es-CL" sz="919" b="1" noProof="0" dirty="0">
                <a:solidFill>
                  <a:srgbClr val="00F0FF"/>
                </a:solidFill>
                <a:latin typeface="Segoe UI"/>
              </a:rPr>
              <a:t>
</a:t>
            </a:r>
            <a:r>
              <a:rPr lang="es-CL" sz="1000" b="1" noProof="0" dirty="0">
                <a:solidFill>
                  <a:srgbClr val="C4B5FD"/>
                </a:solidFill>
                <a:latin typeface="Segoe UI"/>
              </a:rPr>
              <a:t>Área de Desempeño: Ciberseguridad Defensiva</a:t>
            </a:r>
            <a:r>
              <a:rPr lang="es-CL" sz="819" b="1" noProof="0" dirty="0">
                <a:solidFill>
                  <a:srgbClr val="C4B5FD"/>
                </a:solidFill>
                <a:latin typeface="Segoe UI"/>
              </a:rPr>
              <a:t>
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Diseño de topología perimetral en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pfSense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CE 2.9.0, reglas Zero Trust, Suricata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Inline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Netmap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IPS y mitigación atómica de ataques en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kernel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con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pfctl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234440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345936" y="1325880"/>
            <a:ext cx="4974336" cy="9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38BDF8"/>
                </a:solidFill>
                <a:latin typeface="Segoe UI"/>
              </a:rPr>
              <a:t>Comp. 6: Automatizar Procesos y Gestión de Red</a:t>
            </a:r>
            <a:r>
              <a:rPr lang="es-CL" sz="919" b="1" noProof="0" dirty="0">
                <a:solidFill>
                  <a:srgbClr val="38BDF8"/>
                </a:solidFill>
                <a:latin typeface="Segoe UI"/>
              </a:rPr>
              <a:t>
</a:t>
            </a:r>
            <a:r>
              <a:rPr lang="es-CL" sz="1000" b="1" noProof="0" dirty="0">
                <a:solidFill>
                  <a:srgbClr val="C4B5FD"/>
                </a:solidFill>
                <a:latin typeface="Segoe UI"/>
              </a:rPr>
              <a:t>Área de Desempeño: Automatización &amp; </a:t>
            </a:r>
            <a:r>
              <a:rPr lang="es-CL" sz="1000" b="1" noProof="0" dirty="0" err="1">
                <a:solidFill>
                  <a:srgbClr val="C4B5FD"/>
                </a:solidFill>
                <a:latin typeface="Segoe UI"/>
              </a:rPr>
              <a:t>SecOps</a:t>
            </a:r>
            <a:r>
              <a:rPr lang="es-CL" sz="819" b="1" noProof="0" dirty="0">
                <a:solidFill>
                  <a:srgbClr val="C4B5FD"/>
                </a:solidFill>
                <a:latin typeface="Segoe UI"/>
              </a:rPr>
              <a:t>
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Desarrollo en Python 3.12 del Motor de Correlación KRONOS,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parsing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estructurado EVE JSON, análisis sintáctico AST y despacho asíncrono de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webhooks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07791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68680" y="2999232"/>
            <a:ext cx="4974336" cy="9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34D399"/>
                </a:solidFill>
                <a:latin typeface="Segoe UI"/>
              </a:rPr>
              <a:t>Comp. 5: Unificar Servicios de Voz, Datos y Video</a:t>
            </a:r>
            <a:r>
              <a:rPr lang="es-CL" sz="919" b="1" noProof="0" dirty="0">
                <a:solidFill>
                  <a:srgbClr val="34D399"/>
                </a:solidFill>
                <a:latin typeface="Segoe UI"/>
              </a:rPr>
              <a:t>
</a:t>
            </a:r>
            <a:r>
              <a:rPr lang="es-CL" sz="1000" b="1" noProof="0" dirty="0">
                <a:solidFill>
                  <a:srgbClr val="C4B5FD"/>
                </a:solidFill>
                <a:latin typeface="Segoe UI"/>
              </a:rPr>
              <a:t>Área de Desempeño: Telecomunicaciones &amp; VoIP</a:t>
            </a:r>
            <a:r>
              <a:rPr lang="es-CL" sz="819" b="1" noProof="0" dirty="0">
                <a:solidFill>
                  <a:srgbClr val="C4B5FD"/>
                </a:solidFill>
                <a:latin typeface="Segoe UI"/>
              </a:rPr>
              <a:t>
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Despliegue de centralita Asterisk 20 LTS en Docker, troncales PJSIP, configuración de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Dialplans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y conexión RTP streaming con agentes de voz.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907791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345936" y="2999232"/>
            <a:ext cx="4974336" cy="9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FBBF24"/>
                </a:solidFill>
                <a:latin typeface="Segoe UI"/>
              </a:rPr>
              <a:t>Comp. 4: Controlar y Operar Redes Corporativas</a:t>
            </a:r>
            <a:r>
              <a:rPr lang="es-CL" sz="919" b="1" noProof="0" dirty="0">
                <a:solidFill>
                  <a:srgbClr val="FBBF24"/>
                </a:solidFill>
                <a:latin typeface="Segoe UI"/>
              </a:rPr>
              <a:t>
</a:t>
            </a:r>
            <a:r>
              <a:rPr lang="es-CL" sz="1000" b="1" noProof="0" dirty="0">
                <a:solidFill>
                  <a:srgbClr val="C4B5FD"/>
                </a:solidFill>
                <a:latin typeface="Segoe UI"/>
              </a:rPr>
              <a:t>Área de Desempeño: Infraestructura de Redes</a:t>
            </a:r>
            <a:r>
              <a:rPr lang="es-CL" sz="819" b="1" noProof="0" dirty="0">
                <a:solidFill>
                  <a:srgbClr val="C4B5FD"/>
                </a:solidFill>
                <a:latin typeface="Segoe UI"/>
              </a:rPr>
              <a:t>
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Segmentación L2/L3 en 4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VLANs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802.1Q (Corp 10, DMZ 20, VoIP 30,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Mgmt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99), direccionamiento CIDR, DHCP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relay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y conmutación virtualizada.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81144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3"/>
            <a:ext cx="4974336" cy="9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C084FC"/>
                </a:solidFill>
                <a:latin typeface="Segoe UI"/>
              </a:rPr>
              <a:t>Comp. 3: Adaptar Tecnologías de Punta y Tendencias</a:t>
            </a:r>
            <a:r>
              <a:rPr lang="es-CL" sz="919" b="1" noProof="0" dirty="0">
                <a:solidFill>
                  <a:srgbClr val="C084FC"/>
                </a:solidFill>
                <a:latin typeface="Segoe UI"/>
              </a:rPr>
              <a:t>
</a:t>
            </a:r>
            <a:r>
              <a:rPr lang="es-CL" sz="1000" b="1" noProof="0" dirty="0">
                <a:solidFill>
                  <a:srgbClr val="C4B5FD"/>
                </a:solidFill>
                <a:latin typeface="Segoe UI"/>
              </a:rPr>
              <a:t>Área de Desempeño: Innovación &amp; Ciberdefensa</a:t>
            </a:r>
            <a:r>
              <a:rPr lang="es-CL" sz="819" b="1" noProof="0" dirty="0">
                <a:solidFill>
                  <a:srgbClr val="C4B5FD"/>
                </a:solidFill>
                <a:latin typeface="Segoe UI"/>
              </a:rPr>
              <a:t>
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Integración de IA Generativa Multimodal en tiempo real (Google Gemini Live Flash 3.1) y túneles Zero Trust Mesh con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Tailscale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Subnet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Router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81144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345936" y="4672583"/>
            <a:ext cx="4974336" cy="9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L" sz="1100" b="1" noProof="0" dirty="0">
                <a:solidFill>
                  <a:srgbClr val="F87171"/>
                </a:solidFill>
                <a:latin typeface="Segoe UI"/>
              </a:rPr>
              <a:t>Comp. 7: Gestionar Seguridad ante Vulnerabilidades</a:t>
            </a:r>
            <a:r>
              <a:rPr lang="es-CL" sz="919" b="1" noProof="0" dirty="0">
                <a:solidFill>
                  <a:srgbClr val="F87171"/>
                </a:solidFill>
                <a:latin typeface="Segoe UI"/>
              </a:rPr>
              <a:t>
</a:t>
            </a:r>
            <a:r>
              <a:rPr lang="es-CL" sz="1000" b="1" noProof="0" dirty="0">
                <a:solidFill>
                  <a:srgbClr val="C4B5FD"/>
                </a:solidFill>
                <a:latin typeface="Segoe UI"/>
              </a:rPr>
              <a:t>Área de Desempeño: Seguridad Ofensiva/Defensiva</a:t>
            </a:r>
            <a:r>
              <a:rPr lang="es-CL" sz="819" b="1" noProof="0" dirty="0">
                <a:solidFill>
                  <a:srgbClr val="C4B5FD"/>
                </a:solidFill>
                <a:latin typeface="Segoe UI"/>
              </a:rPr>
              <a:t>
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Análisis de vectores de ataque web (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SQLi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, RCE,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Fuzzing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), despliegue de laboratorio DVWA y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hardening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de </a:t>
            </a:r>
            <a:r>
              <a:rPr lang="es-CL" sz="950" noProof="0" dirty="0" err="1">
                <a:solidFill>
                  <a:srgbClr val="EDE9FE"/>
                </a:solidFill>
                <a:latin typeface="Segoe UI"/>
              </a:rPr>
              <a:t>HAProxy</a:t>
            </a:r>
            <a:r>
              <a:rPr lang="es-CL" sz="950" noProof="0" dirty="0">
                <a:solidFill>
                  <a:srgbClr val="EDE9FE"/>
                </a:solidFill>
                <a:latin typeface="Segoe UI"/>
              </a:rPr>
              <a:t> con Stick-Tables dinámicas en RAM.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Relación con Intereses y Proyección Profesional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3259922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2976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ESPECIALIZACIÓN EN CIBERSEGURIDAD Y SECOPS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260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919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• Pasión por la Arquitectura Defensiva:</a:t>
            </a:r>
            <a:br>
              <a:rPr lang="es-CL" sz="1000" noProof="0" dirty="0"/>
            </a:br>
            <a:r>
              <a:rPr lang="es-CL" sz="1000" noProof="0" dirty="0"/>
              <a:t>Consolidación de competencias en </a:t>
            </a:r>
            <a:r>
              <a:rPr lang="es-CL" sz="1000" noProof="0" dirty="0" err="1"/>
              <a:t>Hardening</a:t>
            </a:r>
            <a:r>
              <a:rPr lang="es-CL" sz="1000" noProof="0" dirty="0"/>
              <a:t> Perimetral, Prevención de Intrusiones (IPS) y Sistemas Autónomos SOAR.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• Experiencia Práctica y Trayectoria:</a:t>
            </a:r>
            <a:br>
              <a:rPr lang="es-CL" sz="1000" noProof="0" dirty="0"/>
            </a:br>
            <a:r>
              <a:rPr lang="es-CL" sz="1000" noProof="0" dirty="0"/>
              <a:t>Aprendizajes aplicados en Home Labs </a:t>
            </a:r>
            <a:r>
              <a:rPr lang="es-CL" sz="1000" noProof="0" dirty="0" err="1"/>
              <a:t>Proxmox</a:t>
            </a:r>
            <a:r>
              <a:rPr lang="es-CL" sz="1000" noProof="0" dirty="0"/>
              <a:t> VE, administración de firewalls </a:t>
            </a:r>
            <a:r>
              <a:rPr lang="es-CL" sz="1000" noProof="0" dirty="0" err="1"/>
              <a:t>pfSense</a:t>
            </a:r>
            <a:r>
              <a:rPr lang="es-CL" sz="1000" noProof="0" dirty="0"/>
              <a:t> en producción y liderazgo en torneos CTF con el equipo </a:t>
            </a:r>
            <a:r>
              <a:rPr lang="es-CL" sz="1000" noProof="0" dirty="0" err="1"/>
              <a:t>DevSec</a:t>
            </a:r>
            <a:r>
              <a:rPr lang="es-CL" sz="1000" noProof="0" dirty="0"/>
              <a:t>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• Proyección Laboral a 5 Años:</a:t>
            </a:r>
            <a:br>
              <a:rPr lang="es-CL" sz="1000" noProof="0" dirty="0"/>
            </a:br>
            <a:r>
              <a:rPr lang="es-CL" sz="1000" noProof="0" dirty="0"/>
              <a:t>Desempeñarse como Ingeniero de Ciberseguridad / Arquitecto </a:t>
            </a:r>
            <a:r>
              <a:rPr lang="es-CL" sz="1000" noProof="0" dirty="0" err="1"/>
              <a:t>SecOps</a:t>
            </a:r>
            <a:r>
              <a:rPr lang="es-CL" sz="1000" noProof="0" dirty="0"/>
              <a:t> liderando equipos de respuesta ante incidentes (CSIRT/SOC).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34440"/>
            <a:ext cx="5212080" cy="3259922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6248095" y="1234440"/>
            <a:ext cx="5212080" cy="443484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APORTE AL DESARROLLO DEL EQUIPO DUOC 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1691640"/>
            <a:ext cx="4846320" cy="260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919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• Dominio de Entornos Enterprise $0 CLP:</a:t>
            </a:r>
            <a:br>
              <a:rPr lang="es-CL" sz="1000" noProof="0" dirty="0"/>
            </a:br>
            <a:r>
              <a:rPr lang="es-CL" sz="1000" noProof="0" dirty="0"/>
              <a:t>Capacidad de implementar arquitecturas de seguridad de nivel corporativo utilizando 100% tecnologías Open </a:t>
            </a:r>
            <a:r>
              <a:rPr lang="es-CL" sz="1000" noProof="0" dirty="0" err="1"/>
              <a:t>Source</a:t>
            </a:r>
            <a:r>
              <a:rPr lang="es-CL" sz="1000" noProof="0" dirty="0"/>
              <a:t> sin costos de licenciamiento.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• Interoperabilidad Multi-Disciplina:</a:t>
            </a:r>
            <a:br>
              <a:rPr lang="es-CL" sz="1000" noProof="0" dirty="0"/>
            </a:br>
            <a:r>
              <a:rPr lang="es-CL" sz="1000" noProof="0" dirty="0"/>
              <a:t>Convergencia real entre Redes L2/L3 (</a:t>
            </a:r>
            <a:r>
              <a:rPr lang="es-CL" sz="1000" noProof="0" dirty="0" err="1"/>
              <a:t>VLANs</a:t>
            </a:r>
            <a:r>
              <a:rPr lang="es-CL" sz="1000" noProof="0" dirty="0"/>
              <a:t> 802.1Q), Telefonía IP empresarial (Asterisk PBX), </a:t>
            </a:r>
            <a:r>
              <a:rPr lang="es-CL" sz="1000" noProof="0" dirty="0" err="1"/>
              <a:t>Hardening</a:t>
            </a:r>
            <a:r>
              <a:rPr lang="es-CL" sz="1000" noProof="0" dirty="0"/>
              <a:t> Unix (FreeBSD) e Inteligencia Artificial.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• Alineación con Estándares Industriales:</a:t>
            </a:r>
            <a:br>
              <a:rPr lang="es-CL" sz="1000" noProof="0" dirty="0"/>
            </a:br>
            <a:r>
              <a:rPr lang="es-CL" sz="1000" noProof="0" dirty="0"/>
              <a:t>Alineación directa con certificaciones Cisco CCNA (200-301), </a:t>
            </a:r>
            <a:r>
              <a:rPr lang="es-CL" sz="1000" noProof="0" dirty="0" err="1"/>
              <a:t>CompTIA</a:t>
            </a:r>
            <a:r>
              <a:rPr lang="es-CL" sz="1000" noProof="0" dirty="0"/>
              <a:t> Security+ y marco Zero Trust NIST SP 800-207.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Factibilidad Técnica, Recursos y Gestión de Riesgos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32588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2286000" cy="874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4D399"/>
                </a:solidFill>
                <a:latin typeface="Segoe UI"/>
              </a:defRPr>
            </a:pPr>
            <a:r>
              <a:rPr lang="es-CL" noProof="0" dirty="0"/>
              <a:t>$0 CLP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lang="es-CL" sz="1000" noProof="0" dirty="0"/>
              <a:t>100% Open </a:t>
            </a:r>
            <a:r>
              <a:rPr lang="es-CL" sz="1000" noProof="0" dirty="0" err="1"/>
              <a:t>Source</a:t>
            </a:r>
            <a:endParaRPr lang="es-CL" sz="1000" noProof="0" dirty="0"/>
          </a:p>
          <a:p>
            <a:pPr>
              <a:lnSpc>
                <a:spcPct val="150000"/>
              </a:lnSpc>
              <a:defRPr sz="800">
                <a:solidFill>
                  <a:srgbClr val="C4B5FD"/>
                </a:solidFill>
                <a:latin typeface="Segoe UI"/>
              </a:defRPr>
            </a:pPr>
            <a:r>
              <a:rPr lang="es-CL" sz="900" noProof="0" dirty="0"/>
              <a:t>FreeBSD 14, </a:t>
            </a:r>
            <a:r>
              <a:rPr lang="es-CL" sz="900" noProof="0" dirty="0" err="1"/>
              <a:t>pfSense</a:t>
            </a:r>
            <a:r>
              <a:rPr lang="es-CL" sz="900" noProof="0" dirty="0"/>
              <a:t>, Suricata, Docker, Asterisk.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468880" cy="132588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3474720" y="1307592"/>
            <a:ext cx="2286000" cy="882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18 </a:t>
            </a:r>
            <a:r>
              <a:rPr lang="es-CL" noProof="0" dirty="0" err="1"/>
              <a:t>Sem</a:t>
            </a:r>
            <a:r>
              <a:rPr lang="es-CL" dirty="0" err="1"/>
              <a:t>anas</a:t>
            </a:r>
            <a:endParaRPr lang="es-CL" noProof="0" dirty="0"/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lang="es-CL" sz="1000" noProof="0" dirty="0"/>
              <a:t>Temporalidad</a:t>
            </a:r>
          </a:p>
          <a:p>
            <a:pPr>
              <a:lnSpc>
                <a:spcPct val="150000"/>
              </a:lnSpc>
              <a:defRPr sz="800">
                <a:solidFill>
                  <a:srgbClr val="C4B5FD"/>
                </a:solidFill>
                <a:latin typeface="Segoe UI"/>
              </a:defRPr>
            </a:pPr>
            <a:r>
              <a:rPr lang="es-CL" sz="900" noProof="0" dirty="0"/>
              <a:t>72h taller presencial + 144h laboratorio autónomo.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120640" cy="2747772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512064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INFRAESTRUCTURA &amp; CAPAS GRATUITAS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4846320" cy="2141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8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• Infraestructura de Redes:</a:t>
            </a:r>
            <a:br>
              <a:rPr lang="es-CL" sz="1000" noProof="0" dirty="0"/>
            </a:br>
            <a:r>
              <a:rPr lang="es-CL" sz="1000" noProof="0" dirty="0"/>
              <a:t>   - Laboratorios Duoc UC San Joaquín y plataforma </a:t>
            </a:r>
            <a:r>
              <a:rPr lang="es-CL" sz="1000" noProof="0" dirty="0" err="1"/>
              <a:t>Proxmox</a:t>
            </a:r>
            <a:r>
              <a:rPr lang="es-CL" sz="1000" noProof="0" dirty="0"/>
              <a:t> VE.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• Capas Gratuitas Comunitarias:</a:t>
            </a:r>
            <a:br>
              <a:rPr lang="es-CL" sz="1000" noProof="0" dirty="0"/>
            </a:br>
            <a:r>
              <a:rPr lang="es-CL" sz="1000" noProof="0" dirty="0"/>
              <a:t>   - Google AI Studio (Gemini Live Flash 3.1 Free Tier).</a:t>
            </a:r>
            <a:br>
              <a:rPr lang="es-CL" sz="1000" noProof="0" dirty="0"/>
            </a:br>
            <a:r>
              <a:rPr lang="es-CL" sz="1000" noProof="0" dirty="0"/>
              <a:t>   - </a:t>
            </a:r>
            <a:r>
              <a:rPr lang="es-CL" sz="1000" noProof="0" dirty="0" err="1"/>
              <a:t>MaxMind</a:t>
            </a:r>
            <a:r>
              <a:rPr lang="es-CL" sz="1000" noProof="0" dirty="0"/>
              <a:t> GeoLite2 (Listas </a:t>
            </a:r>
            <a:r>
              <a:rPr lang="es-CL" sz="1000" noProof="0" dirty="0" err="1"/>
              <a:t>GeoIP</a:t>
            </a:r>
            <a:r>
              <a:rPr lang="es-CL" sz="1000" noProof="0" dirty="0"/>
              <a:t> actualizadas).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• Validación Presupuestaria:</a:t>
            </a:r>
            <a:br>
              <a:rPr lang="es-CL" sz="1000" noProof="0" dirty="0"/>
            </a:br>
            <a:r>
              <a:rPr lang="es-CL" sz="1000" noProof="0" dirty="0"/>
              <a:t>   - Cero inversión en hardware privativo o licencias comerciales.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6960" y="1764792"/>
            <a:ext cx="5212080" cy="3151714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156960" y="1764792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MATRIZ DE RIESGOS Y MITIGACIONES TÉCNICAS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840" y="2127586"/>
            <a:ext cx="4846320" cy="260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8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🔴 Riesgo 1: Bloqueo de Puertos / CGNAT en Redes Remotas</a:t>
            </a:r>
            <a:br>
              <a:rPr lang="es-CL" sz="1000" noProof="0" dirty="0"/>
            </a:br>
            <a:r>
              <a:rPr lang="es-CL" sz="1000" noProof="0" dirty="0"/>
              <a:t>   -&gt; Mitigación: Despliegue de </a:t>
            </a:r>
            <a:r>
              <a:rPr lang="es-CL" sz="1000" noProof="0" dirty="0" err="1"/>
              <a:t>Tailscale</a:t>
            </a:r>
            <a:r>
              <a:rPr lang="es-CL" sz="1000" noProof="0" dirty="0"/>
              <a:t> </a:t>
            </a:r>
            <a:r>
              <a:rPr lang="es-CL" sz="1000" noProof="0" dirty="0" err="1"/>
              <a:t>Subnet</a:t>
            </a:r>
            <a:r>
              <a:rPr lang="es-CL" sz="1000" noProof="0" dirty="0"/>
              <a:t> </a:t>
            </a:r>
            <a:r>
              <a:rPr lang="es-CL" sz="1000" noProof="0" dirty="0" err="1"/>
              <a:t>Router</a:t>
            </a:r>
            <a:r>
              <a:rPr lang="es-CL" sz="1000" noProof="0" dirty="0"/>
              <a:t>. Publica la VLAN VoIP vía túnel </a:t>
            </a:r>
            <a:r>
              <a:rPr lang="es-CL" sz="1000" noProof="0" dirty="0" err="1"/>
              <a:t>WireGuard</a:t>
            </a:r>
            <a:r>
              <a:rPr lang="es-CL" sz="1000" noProof="0" dirty="0"/>
              <a:t> Zero Trust sin requerir IP pública.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🔴 Riesgo 2: Falsos Positivos Saturando Llamadas al CISO</a:t>
            </a:r>
            <a:br>
              <a:rPr lang="es-CL" sz="1000" noProof="0" dirty="0"/>
            </a:br>
            <a:r>
              <a:rPr lang="es-CL" sz="1000" noProof="0" dirty="0"/>
              <a:t>   -&gt; Mitigación: Algoritmo heurístico AST en Python 3.12 que valida sintaxis </a:t>
            </a:r>
            <a:r>
              <a:rPr lang="es-CL" sz="1000" noProof="0" dirty="0" err="1"/>
              <a:t>SQLi</a:t>
            </a:r>
            <a:r>
              <a:rPr lang="es-CL" sz="1000" noProof="0" dirty="0"/>
              <a:t> real y exige confirmación en tabla &lt;snort2c&gt;.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🟠 Riesgo 3: Latencia en la Interacción de Voz de IA</a:t>
            </a:r>
            <a:br>
              <a:rPr lang="es-CL" sz="1000" noProof="0" dirty="0"/>
            </a:br>
            <a:r>
              <a:rPr lang="es-CL" sz="1000" noProof="0" dirty="0"/>
              <a:t>   -&gt; Mitigación: Conexión directa por </a:t>
            </a:r>
            <a:r>
              <a:rPr lang="es-CL" sz="1000" noProof="0" dirty="0" err="1"/>
              <a:t>WebSocket</a:t>
            </a:r>
            <a:r>
              <a:rPr lang="es-CL" sz="1000" noProof="0" dirty="0"/>
              <a:t> bidireccional (PCM 24kHz) hacia Gemini Live Flash 3.1 (&lt;400ms).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Objetivos General y Específicos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14300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OBJETIVO GENERAL DEL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280160"/>
            <a:ext cx="201168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META ARQUITECTÓNICA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62895" cy="50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Diseñar, implementar y validar una arquitectura de defensa en profundidad y respuesta autónoma ante incidentes (SOAR) de costo cero ($0 CLP) denominada KRONOS SENTINEL, integrando prevención de intrusiones en </a:t>
            </a:r>
            <a:r>
              <a:rPr lang="es-CL" noProof="0" dirty="0" err="1"/>
              <a:t>kernel</a:t>
            </a:r>
            <a:r>
              <a:rPr lang="es-CL" noProof="0" dirty="0"/>
              <a:t>, supresión heurística de falsos positivos e interacción de voz en tiempo real con Inteligencia Artificial hacia el CISO.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5212080" cy="2842404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OBJETIVOS ESPECÍFICOS (1 A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6320" cy="2502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b="1" noProof="0" dirty="0">
                <a:solidFill>
                  <a:srgbClr val="38BDF8"/>
                </a:solidFill>
                <a:latin typeface="Consolas"/>
              </a:rPr>
              <a:t>[OBJ-01] Segmentación L2/L3: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Implementar 4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VLANs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802.1Q (Corp 10, DMZ 20, VoIP 30,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Mgmt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99) en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pfSense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CE 2.9.0.
</a:t>
            </a:r>
          </a:p>
          <a:p>
            <a:r>
              <a:rPr lang="es-CL" sz="1000" b="1" noProof="0" dirty="0">
                <a:solidFill>
                  <a:srgbClr val="38BDF8"/>
                </a:solidFill>
                <a:latin typeface="Consolas"/>
              </a:rPr>
              <a:t>[OBJ-02] Prevención </a:t>
            </a:r>
            <a:r>
              <a:rPr lang="es-CL" sz="1000" b="1" noProof="0" dirty="0" err="1">
                <a:solidFill>
                  <a:srgbClr val="38BDF8"/>
                </a:solidFill>
                <a:latin typeface="Consolas"/>
              </a:rPr>
              <a:t>Netmap</a:t>
            </a:r>
            <a:r>
              <a:rPr lang="es-CL" sz="1000" b="1" noProof="0" dirty="0">
                <a:solidFill>
                  <a:srgbClr val="38BDF8"/>
                </a:solidFill>
                <a:latin typeface="Consolas"/>
              </a:rPr>
              <a:t> IPS: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Configurar Suricata 7.x en modo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Inline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IPS con descarte en hardware ring-buffer.
</a:t>
            </a:r>
          </a:p>
          <a:p>
            <a:r>
              <a:rPr lang="es-CL" sz="1000" b="1" noProof="0" dirty="0">
                <a:solidFill>
                  <a:srgbClr val="38BDF8"/>
                </a:solidFill>
                <a:latin typeface="Consolas"/>
              </a:rPr>
              <a:t>[OBJ-03] Capa DMZ Segura: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Desplegar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HAProxy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2.8+ SSL y Stick-Tables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anti-fuzzing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L7 protegiendo servidor DVWA.
</a:t>
            </a:r>
          </a:p>
          <a:p>
            <a:r>
              <a:rPr lang="es-CL" sz="1000" b="1" noProof="0" dirty="0">
                <a:solidFill>
                  <a:srgbClr val="38BDF8"/>
                </a:solidFill>
                <a:latin typeface="Consolas"/>
              </a:rPr>
              <a:t>[OBJ-04] Motor KRONOS AST: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Desarrollar en Python 3.12 el analizador sintáctico para suprimir &gt;50% de falsos positivos.</a:t>
            </a:r>
            <a:r>
              <a:rPr lang="es-CL" sz="830" noProof="0" dirty="0">
                <a:solidFill>
                  <a:srgbClr val="EDE9FE"/>
                </a:solidFill>
                <a:latin typeface="Segoe UI"/>
              </a:rPr>
              <a:t>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2514600"/>
            <a:ext cx="5212080" cy="2842404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248095" y="25146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OBJETIVOS ESPECÍFICOS (5 A 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0975" y="2926080"/>
            <a:ext cx="4846320" cy="2502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b="1" noProof="0" dirty="0">
                <a:solidFill>
                  <a:srgbClr val="34D399"/>
                </a:solidFill>
                <a:latin typeface="Consolas"/>
              </a:rPr>
              <a:t>[OBJ-05] </a:t>
            </a:r>
            <a:r>
              <a:rPr lang="es-CL" sz="1000" b="1" noProof="0" dirty="0" err="1">
                <a:solidFill>
                  <a:srgbClr val="34D399"/>
                </a:solidFill>
                <a:latin typeface="Consolas"/>
              </a:rPr>
              <a:t>Kernel</a:t>
            </a:r>
            <a:r>
              <a:rPr lang="es-CL" sz="1000" b="1" noProof="0" dirty="0">
                <a:solidFill>
                  <a:srgbClr val="34D399"/>
                </a:solidFill>
                <a:latin typeface="Consolas"/>
              </a:rPr>
              <a:t> FreeBSD </a:t>
            </a:r>
            <a:r>
              <a:rPr lang="es-CL" sz="1000" b="1" noProof="0" dirty="0" err="1">
                <a:solidFill>
                  <a:srgbClr val="34D399"/>
                </a:solidFill>
                <a:latin typeface="Consolas"/>
              </a:rPr>
              <a:t>pfctl</a:t>
            </a:r>
            <a:r>
              <a:rPr lang="es-CL" sz="1000" b="1" noProof="0" dirty="0">
                <a:solidFill>
                  <a:srgbClr val="34D399"/>
                </a:solidFill>
                <a:latin typeface="Consolas"/>
              </a:rPr>
              <a:t>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Integrar terminación de estados (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pfctl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-k) y verificación atómica en tabla &lt;snort2c&gt;.
</a:t>
            </a:r>
          </a:p>
          <a:p>
            <a:r>
              <a:rPr lang="es-CL" sz="1000" b="1" noProof="0" dirty="0">
                <a:solidFill>
                  <a:srgbClr val="34D399"/>
                </a:solidFill>
                <a:latin typeface="Consolas"/>
              </a:rPr>
              <a:t>[OBJ-06] Telefonía Asterisk PBX: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Desplegar Asterisk 20 LTS en Docker con canal PJSIP y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auto-dialer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AMI al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softphone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.
</a:t>
            </a:r>
          </a:p>
          <a:p>
            <a:r>
              <a:rPr lang="es-CL" sz="1000" b="1" noProof="0" dirty="0">
                <a:solidFill>
                  <a:srgbClr val="34D399"/>
                </a:solidFill>
                <a:latin typeface="Consolas"/>
              </a:rPr>
              <a:t>[OBJ-07] Agente de Voz Gemini Live: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Construir cliente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WebSocket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(PCM 24kHz) para </a:t>
            </a:r>
            <a:r>
              <a:rPr lang="es-CL" sz="1000" noProof="0" dirty="0" err="1">
                <a:solidFill>
                  <a:srgbClr val="EDE9FE"/>
                </a:solidFill>
                <a:latin typeface="Segoe UI"/>
              </a:rPr>
              <a:t>debriefing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 táctico hablado en tiempo real.
</a:t>
            </a:r>
          </a:p>
          <a:p>
            <a:r>
              <a:rPr lang="es-CL" sz="1000" b="1" noProof="0" dirty="0">
                <a:solidFill>
                  <a:srgbClr val="34D399"/>
                </a:solidFill>
                <a:latin typeface="Consolas"/>
              </a:rPr>
              <a:t>[OBJ-08] Validación QA Integral: </a:t>
            </a:r>
            <a:r>
              <a:rPr lang="es-CL" sz="1000" noProof="0" dirty="0">
                <a:solidFill>
                  <a:srgbClr val="EDE9FE"/>
                </a:solidFill>
                <a:latin typeface="Segoe UI"/>
              </a:rPr>
              <a:t>Ejecutar matrices de penetración y latencia total de respuesta &lt;1.5 segundos.</a:t>
            </a:r>
            <a:r>
              <a:rPr lang="es-CL" sz="830" noProof="0" dirty="0">
                <a:solidFill>
                  <a:srgbClr val="EDE9FE"/>
                </a:solidFill>
                <a:latin typeface="Segoe UI"/>
              </a:rPr>
              <a:t>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Metodología de Trabajo y Roles del Equipo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1: DISEÑO &amp; TOPOLOGÍA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noProof="0" dirty="0"/>
              <a:t>Modelamiento IP, </a:t>
            </a:r>
            <a:r>
              <a:rPr lang="es-CL" noProof="0" dirty="0" err="1"/>
              <a:t>VLANs</a:t>
            </a:r>
            <a:r>
              <a:rPr lang="es-CL" noProof="0" dirty="0"/>
              <a:t> 802.1Q y </a:t>
            </a:r>
            <a:r>
              <a:rPr lang="es-CL" noProof="0" dirty="0" err="1"/>
              <a:t>tuning</a:t>
            </a:r>
            <a:r>
              <a:rPr lang="es-CL" noProof="0" dirty="0"/>
              <a:t> de </a:t>
            </a:r>
            <a:r>
              <a:rPr lang="es-CL" noProof="0" dirty="0" err="1"/>
              <a:t>pfSense</a:t>
            </a:r>
            <a:r>
              <a:rPr lang="es-CL" noProof="0" dirty="0"/>
              <a:t> CE 2.9.0.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3456432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2: PERÍMETRO &amp; DMZ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noProof="0" dirty="0"/>
              <a:t>Suricata </a:t>
            </a:r>
            <a:r>
              <a:rPr lang="es-CL" noProof="0" dirty="0" err="1"/>
              <a:t>Netmap</a:t>
            </a:r>
            <a:r>
              <a:rPr lang="es-CL" noProof="0" dirty="0"/>
              <a:t> IPS, </a:t>
            </a:r>
            <a:r>
              <a:rPr lang="es-CL" noProof="0" dirty="0" err="1"/>
              <a:t>pfBlockerNG</a:t>
            </a:r>
            <a:r>
              <a:rPr lang="es-CL" noProof="0" dirty="0"/>
              <a:t> </a:t>
            </a:r>
            <a:r>
              <a:rPr lang="es-CL" noProof="0" dirty="0" err="1"/>
              <a:t>GeoIP</a:t>
            </a:r>
            <a:r>
              <a:rPr lang="es-CL" noProof="0" dirty="0"/>
              <a:t> y </a:t>
            </a:r>
            <a:r>
              <a:rPr lang="es-CL" noProof="0" dirty="0" err="1"/>
              <a:t>HAProxy</a:t>
            </a:r>
            <a:r>
              <a:rPr lang="es-CL" noProof="0" dirty="0"/>
              <a:t> SSL DMZ.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6181344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3: KRONOS &amp; VOZ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noProof="0" dirty="0"/>
              <a:t>Motor Python AST, </a:t>
            </a:r>
            <a:r>
              <a:rPr lang="es-CL" noProof="0" dirty="0" err="1"/>
              <a:t>wrappers</a:t>
            </a:r>
            <a:r>
              <a:rPr lang="es-CL" noProof="0" dirty="0"/>
              <a:t> </a:t>
            </a:r>
            <a:r>
              <a:rPr lang="es-CL" noProof="0" dirty="0" err="1"/>
              <a:t>pfctl</a:t>
            </a:r>
            <a:r>
              <a:rPr lang="es-CL" noProof="0" dirty="0"/>
              <a:t> FreeBSD, Asterisk y Gemini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8906256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4: INTEGRACIÓN &amp;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noProof="0" dirty="0"/>
              <a:t>Simulación </a:t>
            </a:r>
            <a:r>
              <a:rPr lang="es-CL" noProof="0" dirty="0" err="1"/>
              <a:t>SQLi</a:t>
            </a:r>
            <a:r>
              <a:rPr lang="es-CL" noProof="0" dirty="0"/>
              <a:t> en vivo, latencia (&lt;1.5s) y documentación formal.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731520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ROL: BRUNO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950" b="1" noProof="0" dirty="0">
                <a:solidFill>
                  <a:srgbClr val="FFFFFF"/>
                </a:solidFill>
                <a:latin typeface="Segoe UI"/>
              </a:rPr>
              <a:t>Bruno Urrea Ortiz
</a:t>
            </a:r>
            <a:r>
              <a:rPr lang="es-CL" sz="850" b="1" noProof="0" dirty="0">
                <a:solidFill>
                  <a:srgbClr val="00F0FF"/>
                </a:solidFill>
                <a:latin typeface="Segoe UI"/>
              </a:rPr>
              <a:t>Líder de Ciberseguridad &amp; Motor KRONOS
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Arquitectura global, log_correlator.py, algoritmo AST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anti-ruido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, control en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kernel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pfctl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y cliente Gemini Live.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3456432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ROL: FREDDY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950" b="1" noProof="0" dirty="0">
                <a:solidFill>
                  <a:srgbClr val="FFFFFF"/>
                </a:solidFill>
                <a:latin typeface="Segoe UI"/>
              </a:rPr>
              <a:t>Freddy Vásquez Cortés
</a:t>
            </a:r>
            <a:r>
              <a:rPr lang="es-CL" sz="850" b="1" noProof="0" dirty="0">
                <a:solidFill>
                  <a:srgbClr val="38BDF8"/>
                </a:solidFill>
                <a:latin typeface="Segoe UI"/>
              </a:rPr>
              <a:t>Ingeniería de </a:t>
            </a:r>
            <a:r>
              <a:rPr lang="es-CL" sz="850" b="1" noProof="0" dirty="0" err="1">
                <a:solidFill>
                  <a:srgbClr val="38BDF8"/>
                </a:solidFill>
                <a:latin typeface="Segoe UI"/>
              </a:rPr>
              <a:t>Routing</a:t>
            </a:r>
            <a:r>
              <a:rPr lang="es-CL" sz="850" b="1" noProof="0" dirty="0">
                <a:solidFill>
                  <a:srgbClr val="38BDF8"/>
                </a:solidFill>
                <a:latin typeface="Segoe UI"/>
              </a:rPr>
              <a:t>, </a:t>
            </a:r>
            <a:r>
              <a:rPr lang="es-CL" sz="850" b="1" noProof="0" dirty="0" err="1">
                <a:solidFill>
                  <a:srgbClr val="38BDF8"/>
                </a:solidFill>
                <a:latin typeface="Segoe UI"/>
              </a:rPr>
              <a:t>Switching</a:t>
            </a:r>
            <a:r>
              <a:rPr lang="es-CL" sz="850" b="1" noProof="0" dirty="0">
                <a:solidFill>
                  <a:srgbClr val="38BDF8"/>
                </a:solidFill>
                <a:latin typeface="Segoe UI"/>
              </a:rPr>
              <a:t> &amp; VoIP
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Troncal 802.1Q en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pfSense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, centralita Asterisk 20 LTS Docker,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auto-dialer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AMI y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Tailscale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Mesh.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ounded Rectangle 24"/>
          <p:cNvSpPr/>
          <p:nvPr/>
        </p:nvSpPr>
        <p:spPr>
          <a:xfrm>
            <a:off x="6181344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ROL: CRISTÓBAL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950" b="1" noProof="0" dirty="0">
                <a:solidFill>
                  <a:srgbClr val="FFFFFF"/>
                </a:solidFill>
                <a:latin typeface="Segoe UI"/>
              </a:rPr>
              <a:t>Cristóbal Quezada
</a:t>
            </a:r>
            <a:r>
              <a:rPr lang="es-CL" sz="850" b="1" noProof="0" dirty="0">
                <a:solidFill>
                  <a:srgbClr val="FBBF24"/>
                </a:solidFill>
                <a:latin typeface="Segoe UI"/>
              </a:rPr>
              <a:t>Servicios Web &amp; Proxy Inverso DMZ
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HAProxy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2.8+ SSL, Stick-Tables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anti-fuzzing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y administración de DVWA en VLAN 20.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8906256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ROL: KEVIN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950" b="1" noProof="0" dirty="0">
                <a:solidFill>
                  <a:srgbClr val="FFFFFF"/>
                </a:solidFill>
                <a:latin typeface="Segoe UI"/>
              </a:rPr>
              <a:t>Kevin Retamales
</a:t>
            </a:r>
            <a:r>
              <a:rPr lang="es-CL" sz="850" b="1" noProof="0" dirty="0" err="1">
                <a:solidFill>
                  <a:srgbClr val="34D399"/>
                </a:solidFill>
                <a:latin typeface="Segoe UI"/>
              </a:rPr>
              <a:t>Hardening</a:t>
            </a:r>
            <a:r>
              <a:rPr lang="es-CL" sz="850" b="1" noProof="0" dirty="0">
                <a:solidFill>
                  <a:srgbClr val="34D399"/>
                </a:solidFill>
                <a:latin typeface="Segoe UI"/>
              </a:rPr>
              <a:t> Perimetral, </a:t>
            </a:r>
            <a:r>
              <a:rPr lang="es-CL" sz="850" b="1" noProof="0" dirty="0" err="1">
                <a:solidFill>
                  <a:srgbClr val="34D399"/>
                </a:solidFill>
                <a:latin typeface="Segoe UI"/>
              </a:rPr>
              <a:t>GeoIP</a:t>
            </a:r>
            <a:r>
              <a:rPr lang="es-CL" sz="850" b="1" noProof="0" dirty="0">
                <a:solidFill>
                  <a:srgbClr val="34D399"/>
                </a:solidFill>
                <a:latin typeface="Segoe UI"/>
              </a:rPr>
              <a:t> &amp; QA Lead
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Políticas Zero Trust en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pfSense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,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pfBlockerNG-devel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</a:t>
            </a:r>
            <a:r>
              <a:rPr lang="es-CL" sz="800" noProof="0" dirty="0" err="1">
                <a:solidFill>
                  <a:srgbClr val="C4B5FD"/>
                </a:solidFill>
                <a:latin typeface="Segoe UI"/>
              </a:rPr>
              <a:t>GeoIP</a:t>
            </a:r>
            <a:r>
              <a:rPr lang="es-CL" sz="800" noProof="0" dirty="0">
                <a:solidFill>
                  <a:srgbClr val="C4B5FD"/>
                </a:solidFill>
                <a:latin typeface="Segoe UI"/>
              </a:rPr>
              <a:t> y diseño de matrices QA.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Evidencias Comprometidas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909491" cy="1802058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909491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EVIDENCIAS DE AVANCE (FASE 1 Y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3660188" cy="1313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sz="900" noProof="0" dirty="0"/>
              <a:t>• [F1] Informe de Definición y Topología: Diseño L2/L3, direccionamiento IP y fundamentación.</a:t>
            </a:r>
            <a:br>
              <a:rPr lang="es-CL" sz="900" noProof="0" dirty="0"/>
            </a:br>
            <a:r>
              <a:rPr lang="es-CL" sz="900" noProof="0" dirty="0">
                <a:solidFill>
                  <a:schemeClr val="bg1">
                    <a:lumMod val="95000"/>
                  </a:schemeClr>
                </a:solidFill>
              </a:rPr>
              <a:t>• [F2] Repositorio Git e </a:t>
            </a:r>
            <a:r>
              <a:rPr lang="es-CL" sz="900" noProof="0" dirty="0" err="1">
                <a:solidFill>
                  <a:schemeClr val="bg1">
                    <a:lumMod val="95000"/>
                  </a:schemeClr>
                </a:solidFill>
              </a:rPr>
              <a:t>IaC</a:t>
            </a:r>
            <a:r>
              <a:rPr lang="es-CL" sz="900" noProof="0" dirty="0">
                <a:solidFill>
                  <a:schemeClr val="bg1">
                    <a:lumMod val="95000"/>
                  </a:schemeClr>
                </a:solidFill>
              </a:rPr>
              <a:t>: Código Python KRONOS, </a:t>
            </a:r>
            <a:r>
              <a:rPr lang="es-CL" sz="900" noProof="0" dirty="0" err="1">
                <a:solidFill>
                  <a:schemeClr val="bg1">
                    <a:lumMod val="95000"/>
                  </a:schemeClr>
                </a:solidFill>
              </a:rPr>
              <a:t>Dockerfiles</a:t>
            </a:r>
            <a:r>
              <a:rPr lang="es-CL" sz="900" noProof="0" dirty="0">
                <a:solidFill>
                  <a:schemeClr val="bg1">
                    <a:lumMod val="95000"/>
                  </a:schemeClr>
                </a:solidFill>
              </a:rPr>
              <a:t> de Asterisk/DVWA y XML </a:t>
            </a:r>
            <a:r>
              <a:rPr lang="es-CL" sz="900" noProof="0" dirty="0" err="1">
                <a:solidFill>
                  <a:schemeClr val="bg1">
                    <a:lumMod val="95000"/>
                  </a:schemeClr>
                </a:solidFill>
              </a:rPr>
              <a:t>pfSense</a:t>
            </a:r>
            <a:r>
              <a:rPr lang="es-CL" sz="900" noProof="0" dirty="0">
                <a:solidFill>
                  <a:schemeClr val="bg1">
                    <a:lumMod val="95000"/>
                  </a:schemeClr>
                </a:solidFill>
              </a:rPr>
              <a:t>.</a:t>
            </a:r>
            <a:br>
              <a:rPr lang="es-CL" sz="900" noProof="0" dirty="0"/>
            </a:br>
            <a:r>
              <a:rPr lang="es-CL" sz="900" noProof="0" dirty="0"/>
              <a:t>• [F2] Manuales Técnicos PDF: Manual </a:t>
            </a:r>
            <a:r>
              <a:rPr lang="es-CL" sz="900" noProof="0" dirty="0" err="1"/>
              <a:t>pfSense</a:t>
            </a:r>
            <a:r>
              <a:rPr lang="es-CL" sz="900" noProof="0" dirty="0"/>
              <a:t> 2.9.0 y Tutorial Paso a Paso con </a:t>
            </a:r>
            <a:r>
              <a:rPr lang="es-CL" sz="900" noProof="0" dirty="0" err="1"/>
              <a:t>WebGUI</a:t>
            </a:r>
            <a:r>
              <a:rPr lang="es-CL" sz="900" noProof="0" dirty="0"/>
              <a:t> mockups.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89774"/>
            <a:ext cx="3909491" cy="1408866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3189774"/>
            <a:ext cx="3909491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EVIDENCIAS FINALES Y DEMO EN VIVO (FASE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01254"/>
            <a:ext cx="3660188" cy="89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sz="900" noProof="0" dirty="0"/>
              <a:t>• [F3] Demostración en Vivo SOAR: Inyección SQL en DVWA ➔ Bloqueo </a:t>
            </a:r>
            <a:r>
              <a:rPr lang="es-CL" sz="900" noProof="0" dirty="0" err="1"/>
              <a:t>Netmap</a:t>
            </a:r>
            <a:r>
              <a:rPr lang="es-CL" sz="900" noProof="0" dirty="0"/>
              <a:t> ➔ </a:t>
            </a:r>
            <a:r>
              <a:rPr lang="es-CL" sz="900" noProof="0" dirty="0" err="1"/>
              <a:t>pfctl</a:t>
            </a:r>
            <a:r>
              <a:rPr lang="es-CL" sz="900" noProof="0" dirty="0"/>
              <a:t> Kill States ➔ Llamada Gemini Live al CISO.</a:t>
            </a:r>
            <a:br>
              <a:rPr lang="es-CL" sz="900" noProof="0" dirty="0"/>
            </a:br>
            <a:r>
              <a:rPr lang="es-CL" sz="900" noProof="0" dirty="0"/>
              <a:t>• [F3] Matrices QA y Logs: EVE JSON, tablas snort2c y latencia &lt;1.5s.</a:t>
            </a:r>
            <a:br>
              <a:rPr lang="es-CL" sz="900" noProof="0" dirty="0"/>
            </a:br>
            <a:r>
              <a:rPr lang="es-CL" sz="900" noProof="0" dirty="0"/>
              <a:t>• [F3] Informe Final Consolidado y Defensa ante Comisión.</a:t>
            </a:r>
          </a:p>
        </p:txBody>
      </p:sp>
      <p:pic>
        <p:nvPicPr>
          <p:cNvPr id="12" name="Picture 11" descr="voice_soa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000" y="1581912"/>
            <a:ext cx="6430320" cy="4224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4751917"/>
            <a:ext cx="3909491" cy="1575731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4751917"/>
            <a:ext cx="3909491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TELEMETRÍA Y RESPUESTA EN TIEMPO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17677"/>
            <a:ext cx="3772331" cy="1105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30">
                <a:solidFill>
                  <a:srgbClr val="EDE9FE"/>
                </a:solidFill>
                <a:latin typeface="Segoe UI"/>
              </a:defRPr>
            </a:pPr>
            <a:r>
              <a:rPr lang="es-CL" sz="900" noProof="0" dirty="0"/>
              <a:t>• Protocolo de Voz: Streaming PCM 24kHz dúplex directo con Google Gemini Live.</a:t>
            </a:r>
            <a:br>
              <a:rPr lang="es-CL" sz="900" noProof="0" dirty="0"/>
            </a:br>
            <a:r>
              <a:rPr lang="es-CL" sz="900" noProof="0" dirty="0"/>
              <a:t>• Interacción Táctica: El CISO escucha el vector mitigado y puede autorizar acciones de respuesta adicionales por voz en lenguaje natural.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Plan de Trabajo y Carta Gantt (18 Semanas)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6" name="Picture 5" descr="gantt_fase1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728655" cy="3199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0153" y="4663440"/>
            <a:ext cx="2542032" cy="105941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750153" y="4663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1 (S1-S4)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881" y="5074920"/>
            <a:ext cx="2322576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 err="1"/>
              <a:t>Setup</a:t>
            </a:r>
            <a:r>
              <a:rPr lang="es-CL" sz="1000" noProof="0" dirty="0"/>
              <a:t> </a:t>
            </a:r>
            <a:r>
              <a:rPr lang="es-CL" sz="1000" noProof="0" dirty="0" err="1"/>
              <a:t>pfSense</a:t>
            </a:r>
            <a:r>
              <a:rPr lang="es-CL" sz="1000" noProof="0" dirty="0"/>
              <a:t> &amp; </a:t>
            </a:r>
            <a:r>
              <a:rPr lang="es-CL" sz="1000" noProof="0" dirty="0" err="1"/>
              <a:t>VLANs</a:t>
            </a:r>
            <a:r>
              <a:rPr lang="es-CL" sz="1000" noProof="0" dirty="0"/>
              <a:t> 802.1Q (Corp 10, DMZ 20, VoIP 30). Informe EA1.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5065" y="4663440"/>
            <a:ext cx="2542032" cy="105941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3475065" y="4663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2A (S5-S10)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793" y="5074920"/>
            <a:ext cx="2322576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Suricata </a:t>
            </a:r>
            <a:r>
              <a:rPr lang="es-CL" sz="1000" noProof="0" dirty="0" err="1"/>
              <a:t>Netmap</a:t>
            </a:r>
            <a:r>
              <a:rPr lang="es-CL" sz="1000" noProof="0" dirty="0"/>
              <a:t> IPS, </a:t>
            </a:r>
            <a:r>
              <a:rPr lang="es-CL" sz="1000" noProof="0" dirty="0" err="1"/>
              <a:t>GeoIP</a:t>
            </a:r>
            <a:r>
              <a:rPr lang="es-CL" sz="1000" noProof="0" dirty="0"/>
              <a:t> </a:t>
            </a:r>
            <a:r>
              <a:rPr lang="es-CL" sz="1000" noProof="0" dirty="0" err="1"/>
              <a:t>pfBlockerNG</a:t>
            </a:r>
            <a:r>
              <a:rPr lang="es-CL" sz="1000" noProof="0" dirty="0"/>
              <a:t> y </a:t>
            </a:r>
            <a:r>
              <a:rPr lang="es-CL" sz="1000" noProof="0" dirty="0" err="1"/>
              <a:t>HAProxy</a:t>
            </a:r>
            <a:r>
              <a:rPr lang="es-CL" sz="1000" noProof="0" dirty="0"/>
              <a:t> SSL DMZ.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977" y="4663440"/>
            <a:ext cx="2542032" cy="105941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199977" y="4663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2B (S11-S15)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705" y="5074920"/>
            <a:ext cx="2322576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Motor KRONOS AST, Asterisk PBX, Gemini Live Voice y </a:t>
            </a:r>
            <a:r>
              <a:rPr lang="es-CL" sz="1000" noProof="0" dirty="0" err="1"/>
              <a:t>Tailscale</a:t>
            </a:r>
            <a:r>
              <a:rPr lang="es-CL" sz="1000" noProof="0"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889" y="4663440"/>
            <a:ext cx="2542032" cy="105941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8924889" y="4663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FASE 3 (S16-S18)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617" y="5074920"/>
            <a:ext cx="2322576" cy="52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85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Pruebas QA &lt;1.5s, Manuales PDF y Defensa Portafolio APT122.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rPr lang="es-CL" noProof="0" dirty="0"/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Cierre, Próximos Pasos (Fase 2) y Preguntas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3668901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PRÓXIMOS PASOS HACIA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2833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919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1. Despliegue de Suricata </a:t>
            </a:r>
            <a:r>
              <a:rPr lang="es-CL" sz="1000" noProof="0" dirty="0" err="1"/>
              <a:t>Inline</a:t>
            </a:r>
            <a:r>
              <a:rPr lang="es-CL" sz="1000" noProof="0" dirty="0"/>
              <a:t> </a:t>
            </a:r>
            <a:r>
              <a:rPr lang="es-CL" sz="1000" noProof="0" dirty="0" err="1"/>
              <a:t>Netmap</a:t>
            </a:r>
            <a:r>
              <a:rPr lang="es-CL" sz="1000" noProof="0" dirty="0"/>
              <a:t>:</a:t>
            </a:r>
            <a:br>
              <a:rPr lang="es-CL" sz="1000" noProof="0" dirty="0"/>
            </a:br>
            <a:r>
              <a:rPr lang="es-CL" sz="1000" noProof="0" dirty="0"/>
              <a:t>• Configurar </a:t>
            </a:r>
            <a:r>
              <a:rPr lang="es-CL" sz="1000" noProof="0" dirty="0" err="1"/>
              <a:t>dropsid.conf</a:t>
            </a:r>
            <a:r>
              <a:rPr lang="es-CL" sz="1000" noProof="0" dirty="0"/>
              <a:t> para conversión automática de alertas a </a:t>
            </a:r>
            <a:r>
              <a:rPr lang="es-CL" sz="1000" noProof="0" dirty="0" err="1"/>
              <a:t>drops</a:t>
            </a:r>
            <a:r>
              <a:rPr lang="es-CL" sz="1000" noProof="0" dirty="0"/>
              <a:t> en hardware ring-buffer.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2. </a:t>
            </a:r>
            <a:r>
              <a:rPr lang="es-CL" sz="1000" noProof="0" dirty="0" err="1"/>
              <a:t>Hardening</a:t>
            </a:r>
            <a:r>
              <a:rPr lang="es-CL" sz="1000" noProof="0" dirty="0"/>
              <a:t> de </a:t>
            </a:r>
            <a:r>
              <a:rPr lang="es-CL" sz="1000" noProof="0" dirty="0" err="1"/>
              <a:t>HAProxy</a:t>
            </a:r>
            <a:r>
              <a:rPr lang="es-CL" sz="1000" noProof="0" dirty="0"/>
              <a:t> en DMZ:</a:t>
            </a:r>
            <a:br>
              <a:rPr lang="es-CL" sz="1000" noProof="0" dirty="0"/>
            </a:br>
            <a:r>
              <a:rPr lang="es-CL" sz="1000" noProof="0" dirty="0"/>
              <a:t>• Parametrizar Stick-Tables para </a:t>
            </a:r>
            <a:r>
              <a:rPr lang="es-CL" sz="1000" noProof="0" dirty="0" err="1"/>
              <a:t>rate-limiting</a:t>
            </a:r>
            <a:r>
              <a:rPr lang="es-CL" sz="1000" noProof="0" dirty="0"/>
              <a:t> dinámico </a:t>
            </a:r>
            <a:r>
              <a:rPr lang="es-CL" sz="1000" noProof="0" dirty="0" err="1"/>
              <a:t>anti-fuzzing</a:t>
            </a:r>
            <a:r>
              <a:rPr lang="es-CL" sz="1000" noProof="0" dirty="0"/>
              <a:t> L7.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3. Desarrollo del Motor KRONOS (Python 3.12):</a:t>
            </a:r>
            <a:br>
              <a:rPr lang="es-CL" sz="1000" noProof="0" dirty="0"/>
            </a:br>
            <a:r>
              <a:rPr lang="es-CL" sz="1000" noProof="0" dirty="0"/>
              <a:t>• Implementar AST </a:t>
            </a:r>
            <a:r>
              <a:rPr lang="es-CL" sz="1000" noProof="0" dirty="0" err="1"/>
              <a:t>parser</a:t>
            </a:r>
            <a:r>
              <a:rPr lang="es-CL" sz="1000" noProof="0" dirty="0"/>
              <a:t> heurístico y llamadas </a:t>
            </a:r>
            <a:r>
              <a:rPr lang="es-CL" sz="1000" noProof="0" dirty="0" err="1"/>
              <a:t>subprocess</a:t>
            </a:r>
            <a:r>
              <a:rPr lang="es-CL" sz="1000" noProof="0" dirty="0"/>
              <a:t> a </a:t>
            </a:r>
            <a:r>
              <a:rPr lang="es-CL" sz="1000" noProof="0" dirty="0" err="1"/>
              <a:t>pfctl</a:t>
            </a:r>
            <a:r>
              <a:rPr lang="es-CL" sz="1000" noProof="0" dirty="0"/>
              <a:t> -k.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4. Pruebas de Integración Asterisk &amp; Gemini Live:</a:t>
            </a:r>
            <a:br>
              <a:rPr lang="es-CL" sz="1000" noProof="0" dirty="0"/>
            </a:br>
            <a:r>
              <a:rPr lang="es-CL" sz="1000" noProof="0" dirty="0"/>
              <a:t>• Validar streaming de audio bidireccional PCM 24kHz y timbrado a PJSIP/1001.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34440"/>
            <a:ext cx="5212080" cy="3668901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6248095" y="123444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rPr lang="es-CL" noProof="0" dirty="0"/>
              <a:t>ESPACIO DE PREGUNTAS Y CONSULTAS</a:t>
            </a:r>
          </a:p>
        </p:txBody>
      </p:sp>
      <p:pic>
        <p:nvPicPr>
          <p:cNvPr id="11" name="Picture 10" descr="sentinel_shiel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657" y="196596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30975" y="1764792"/>
            <a:ext cx="3661931" cy="2110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lang="es-CL" noProof="0" dirty="0"/>
              <a:t>KRONOS SENTINEL</a:t>
            </a:r>
            <a:br>
              <a:rPr lang="es-CL" noProof="0" dirty="0"/>
            </a:br>
            <a:endParaRPr lang="es-CL" noProof="0" dirty="0"/>
          </a:p>
          <a:p>
            <a:pPr>
              <a:lnSpc>
                <a:spcPct val="150000"/>
              </a:lnSpc>
              <a:defRPr sz="900">
                <a:solidFill>
                  <a:srgbClr val="EDE9FE"/>
                </a:solidFill>
                <a:latin typeface="Segoe UI"/>
              </a:defRPr>
            </a:pPr>
            <a:r>
              <a:rPr lang="es-CL" sz="1000" noProof="0" dirty="0"/>
              <a:t>“Innovación en Ciberdefensa: Desacoplando la contención atómica en </a:t>
            </a:r>
            <a:r>
              <a:rPr lang="es-CL" sz="1000" noProof="0" dirty="0" err="1"/>
              <a:t>kernel</a:t>
            </a:r>
            <a:r>
              <a:rPr lang="es-CL" sz="1000" noProof="0" dirty="0"/>
              <a:t> de la comunicación estratégica de voz en tiempo real.”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¡Muchas gracias por su atención!</a:t>
            </a:r>
            <a:br>
              <a:rPr lang="es-CL" sz="1000" noProof="0" dirty="0"/>
            </a:br>
            <a:r>
              <a:rPr lang="es-CL" sz="1000" noProof="0" dirty="0"/>
              <a:t>Quedamos a disposición de la Comisión Evaluadora de Duoc UC.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107286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rPr lang="es-CL" noProof="0" dirty="0">
                <a:solidFill>
                  <a:schemeClr val="bg1"/>
                </a:solidFill>
              </a:rPr>
              <a:t>DUOC UC SAN JOAQUÍN • ESCUELA DE INFORMÁTICA Y TELECOMUNICACIONES  |  KRONOS SENTINEL  |  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2606</Words>
  <Application>Microsoft Office PowerPoint</Application>
  <PresentationFormat>Panorámica</PresentationFormat>
  <Paragraphs>158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Kay Sandia</dc:creator>
  <cp:keywords/>
  <dc:description>generated using python-pptx</dc:description>
  <cp:lastModifiedBy>Kay Sandia</cp:lastModifiedBy>
  <cp:revision>3</cp:revision>
  <dcterms:created xsi:type="dcterms:W3CDTF">2013-01-27T09:14:16Z</dcterms:created>
  <dcterms:modified xsi:type="dcterms:W3CDTF">2026-09-05T05:21:39Z</dcterms:modified>
  <cp:category/>
</cp:coreProperties>
</file>